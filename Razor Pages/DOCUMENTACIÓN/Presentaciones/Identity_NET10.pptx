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47"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Identity como un subsistema completo de cuentas de usuario, no como una simple pantalla de login. Pregunta al grupo qué problemas habría que resolver si lo programáramos todo desde cero.</a:t>
            </a:r>
          </a:p>
          <a:p>
            <a:endParaRPr/>
          </a:p>
          <a:p>
            <a:r>
              <a:t>[Sources]</a:t>
            </a:r>
          </a:p>
          <a:p>
            <a:r>
              <a:t>- https://learn.microsoft.com/en-us/aspnet/core/security/authentication/identity?view=aspnetcore-10.0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Insiste en que Identity ofrece APIs y una interfaz predeterminada. La aplicación sigue siendo responsable de decidir qué recursos puede usar cada persona.</a:t>
            </a:r>
          </a:p>
          <a:p>
            <a:endParaRPr/>
          </a:p>
          <a:p>
            <a:r>
              <a:t>[Sources]</a:t>
            </a:r>
          </a:p>
          <a:p>
            <a:r>
              <a:t>- https://learn.microsoft.com/en-us/aspnet/core/security/authentication/identity?view=aspnetcore-10.0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 el ejemplo de una plataforma de películas: iniciar sesión demuestra quién es Fernando; la autorización decide si puede editar solo sus favoritas o administrar las de todos.</a:t>
            </a:r>
          </a:p>
          <a:p>
            <a:endParaRPr/>
          </a:p>
          <a:p>
            <a:r>
              <a:t>[Sources]</a:t>
            </a:r>
          </a:p>
          <a:p>
            <a:r>
              <a:t>- https://learn.microsoft.com/en-us/aspnet/core/security/authentication/identity?view=aspnetcore-10.0</a:t>
            </a:r>
          </a:p>
          <a:p>
            <a:r>
              <a:t>- https://learn.microsoft.com/en-us/aspnet/core/security/authorization/policies?view=aspnetcore-10.0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 el flujo de izquierda a derecha. Señala que confirmación y 2FA pueden ser opcionales según el nivel de riesgo de la aplicación.</a:t>
            </a:r>
          </a:p>
          <a:p>
            <a:endParaRPr/>
          </a:p>
          <a:p>
            <a:r>
              <a:t>[Sources]</a:t>
            </a:r>
          </a:p>
          <a:p>
            <a:r>
              <a:t>- https://learn.microsoft.com/en-us/aspnet/core/security/authentication/identity?view=aspnetcore-10.0</a:t>
            </a:r>
          </a:p>
          <a:p>
            <a:r>
              <a:t>- https://learn.microsoft.com/en-us/aspnet/core/security/authentication/accconfirm?view=aspnetcore-10.0</a:t>
            </a:r>
          </a:p>
          <a:p>
            <a:r>
              <a:t>- https://learn.microsoft.com/en-us/aspnet/core/security/authentication/identity-enable-qrcodes?view=aspnetcore-10.0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 la arquitectura por capas. Identity no obliga a que las páginas conozcan SQL: los managers usan stores y el store de EF Core traduce las operaciones al proveedor de base de datos.</a:t>
            </a:r>
          </a:p>
          <a:p>
            <a:endParaRPr/>
          </a:p>
          <a:p>
            <a:r>
              <a:t>[Sources]</a:t>
            </a:r>
          </a:p>
          <a:p>
            <a:r>
              <a:t>- https://learn.microsoft.com/en-us/aspnet/core/security/authentication/identity?view=aspnetcore-10.0</a:t>
            </a:r>
          </a:p>
          <a:p>
            <a:r>
              <a:t>- https://learn.microsoft.com/en-us/aspnet/core/security/authentication/customize-identity-model?view=aspnetcore-10.0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Aclara que ApplicationUser es una entidad; UserManager, SignInManager y RoleManager son servicios inyectables. El DbContext es el puente de EF Core.</a:t>
            </a:r>
          </a:p>
          <a:p>
            <a:endParaRPr/>
          </a:p>
          <a:p>
            <a:r>
              <a:t>[Sources]</a:t>
            </a:r>
          </a:p>
          <a:p>
            <a:r>
              <a:t>- https://learn.microsoft.com/en-us/aspnet/core/security/authentication/identity?view=aspnetcore-10.0</a:t>
            </a:r>
          </a:p>
          <a:p>
            <a:r>
              <a:t>- https://learn.microsoft.com/en-us/aspnet/core/security/authentication/customize-identity-model?view=aspnetcore-10.0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Muestra primero la opción de Visual Studio y después la CLI. La autenticación Individual añade Identity al crear el proyecto.</a:t>
            </a:r>
          </a:p>
          <a:p>
            <a:endParaRPr/>
          </a:p>
          <a:p>
            <a:r>
              <a:t>[Sources]</a:t>
            </a:r>
          </a:p>
          <a:p>
            <a:r>
              <a:t>- https://learn.microsoft.com/en-us/aspnet/core/security/authentication/add-user-data?view=aspnetcore-10.0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Pide al alumnado que localice cada elemento en un proyecto real. Señala que muchas páginas de Identity pueden provenir de una Razor Class Library y no verse aún en el árbol de archivos.</a:t>
            </a:r>
          </a:p>
          <a:p>
            <a:endParaRPr/>
          </a:p>
          <a:p>
            <a:r>
              <a:t>[Sources]</a:t>
            </a:r>
          </a:p>
          <a:p>
            <a:r>
              <a:t>- https://learn.microsoft.com/en-us/aspnet/core/security/authentication/identity?view=aspnetcore-10.0</a:t>
            </a:r>
          </a:p>
          <a:p>
            <a:r>
              <a:t>- https://learn.microsoft.com/en-us/aspnet/core/security/authentication/scaffold-identity?view=aspnetcore-10.0</a:t>
            </a:r>
          </a:p>
          <a:p>
            <a:r>
              <a:t>- https://learn.microsoft.com/en-us/aspnet/core/security/authentication/customize-identity-model?view=aspnetcore-10.0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Lee el código en orden: conexión, DbContext, Identity con opciones, store de EF Core y Razor Pages. RequireConfirmedAccount=false permite iniciar sesión sin confirmar el correo.</a:t>
            </a:r>
          </a:p>
          <a:p>
            <a:endParaRPr/>
          </a:p>
          <a:p>
            <a:r>
              <a:t>[Sources]</a:t>
            </a:r>
          </a:p>
          <a:p>
            <a:r>
              <a:t>- https://learn.microsoft.com/en-us/aspnet/core/security/authentication/identity?view=aspnetcore-10.0</a:t>
            </a:r>
          </a:p>
          <a:p>
            <a:r>
              <a:t>- https://learn.microsoft.com/en-us/aspnet/core/security/authentication/identity-configuration?view=aspnetcore-10.0</a:t>
            </a:r>
          </a:p>
          <a:p>
            <a:r>
              <a:t>- https://learn.microsoft.com/en-us/aspnet/core/security/authentication/customize-identity-model?view=aspnetcore-10.0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 que UseAuthentication intenta autenticar y asigna HttpContext.User; UseAuthorization aplica las reglas. En una canalización explícita, autenticación debe ejecutarse antes de autorización.</a:t>
            </a:r>
          </a:p>
          <a:p>
            <a:endParaRPr/>
          </a:p>
          <a:p>
            <a:r>
              <a:t>[Sources]</a:t>
            </a:r>
          </a:p>
          <a:p>
            <a:r>
              <a:t>- https://learn.microsoft.com/en-us/aspnet/core/security/authentication/identity?view=aspnetcore-10.0</a:t>
            </a:r>
          </a:p>
          <a:p>
            <a:r>
              <a:t>- https://learn.microsoft.com/en-us/aspnet/core/security/authentication/identity-configuration?view=aspnetcore-10.0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es necesario memorizar las tablas. Lo importante es reconocer AspNetUsers como tabla principal y comprender que roles, claims, logins y tokens se relacionan por el identificador del usuario.</a:t>
            </a:r>
          </a:p>
          <a:p>
            <a:endParaRPr/>
          </a:p>
          <a:p>
            <a:r>
              <a:t>[Sources]</a:t>
            </a:r>
          </a:p>
          <a:p>
            <a:r>
              <a:t>- https://learn.microsoft.com/en-us/aspnet/core/security/authentication/customize-identity-model?view=aspnetcore-10.0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Diferencia validación del formulario, validadores de Identity y resultado final. IdentityResult puede contener varios errores que conviene añadir a ModelState.</a:t>
            </a:r>
          </a:p>
          <a:p>
            <a:endParaRPr/>
          </a:p>
          <a:p>
            <a:r>
              <a:t>[Sources]</a:t>
            </a:r>
          </a:p>
          <a:p>
            <a:r>
              <a:t>- https://learn.microsoft.com/en-us/aspnet/core/security/authentication/identity?view=aspnetcore-10.0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Relaciona cada línea con el flujo anterior. CreateAsync recibe la contraseña en memoria, la valida y almacena su hash. SignInAsync genera la sesión si no se requiere confirmación.</a:t>
            </a:r>
          </a:p>
          <a:p>
            <a:endParaRPr/>
          </a:p>
          <a:p>
            <a:r>
              <a:t>[Sources]</a:t>
            </a:r>
          </a:p>
          <a:p>
            <a:r>
              <a:t>- https://learn.microsoft.com/en-us/aspnet/core/security/authentication/identity?view=aspnetcore-10.0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Evita describir un hash como cifrado reversible. Identity almacena un hash de contraseña con salt y parámetros de trabajo; al iniciar sesión vuelve a calcular y comparar.</a:t>
            </a:r>
          </a:p>
          <a:p>
            <a:endParaRPr/>
          </a:p>
          <a:p>
            <a:r>
              <a:t>[Sources]</a:t>
            </a:r>
          </a:p>
          <a:p>
            <a:r>
              <a:t>- https://learn.microsoft.com/en-us/aspnet/core/security/authentication/identity?view=aspnetcore-10.0</a:t>
            </a:r>
          </a:p>
          <a:p>
            <a:r>
              <a:t>- https://learn.microsoft.com/en-us/aspnet/core/security/authentication/identity-configuration?view=aspnetcore-10.0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 que PasswordSignInAsync concentra varias reglas. No conviene comparar contraseñas desde la página ni crear cookies manualmente.</a:t>
            </a:r>
          </a:p>
          <a:p>
            <a:endParaRPr/>
          </a:p>
          <a:p>
            <a:r>
              <a:t>[Sources]</a:t>
            </a:r>
          </a:p>
          <a:p>
            <a:r>
              <a:t>- https://learn.microsoft.com/en-us/aspnet/core/security/authentication/identity?view=aspnetcore-10.0</a:t>
            </a:r>
          </a:p>
          <a:p>
            <a:r>
              <a:t>- https://learn.microsoft.com/en-us/aspnet/core/security/authentication/identity-configuration?view=aspnetcore-10.0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Señala lockoutOnFailure=true como forma de contabilizar fallos para el bloqueo. isPersistent controla si la cookie debe persistir al cerrar el navegador.</a:t>
            </a:r>
          </a:p>
          <a:p>
            <a:endParaRPr/>
          </a:p>
          <a:p>
            <a:r>
              <a:t>[Sources]</a:t>
            </a:r>
          </a:p>
          <a:p>
            <a:r>
              <a:t>- https://learn.microsoft.com/en-us/aspnet/core/security/authentication/identity?view=aspnetcore-10.0</a:t>
            </a:r>
          </a:p>
          <a:p>
            <a:r>
              <a:t>- https://learn.microsoft.com/en-us/aspnet/core/security/authentication/identity-configuration?view=aspnetcore-10.0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Aclara que la cookie no contiene la contraseña. El navegador la envía automáticamente y el middleware la valida para reconstruir ClaimsPrincipal.</a:t>
            </a:r>
          </a:p>
          <a:p>
            <a:endParaRPr/>
          </a:p>
          <a:p>
            <a:r>
              <a:t>[Sources]</a:t>
            </a:r>
          </a:p>
          <a:p>
            <a:r>
              <a:t>- https://learn.microsoft.com/en-us/aspnet/core/security/authentication/identity?view=aspnetcore-10.0</a:t>
            </a:r>
          </a:p>
          <a:p>
            <a:r>
              <a:t>- https://learn.microsoft.com/en-us/aspnet/core/security/authentication/identity-api-authorization?view=aspnetcore-10.0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Comenta que el logout debe realizarse mediante POST para evitar acciones provocadas por enlaces externos. Los formularios Razor incluyen protección antiforgery de forma integrada.</a:t>
            </a:r>
          </a:p>
          <a:p>
            <a:endParaRPr/>
          </a:p>
          <a:p>
            <a:r>
              <a:t>[Sources]</a:t>
            </a:r>
          </a:p>
          <a:p>
            <a:r>
              <a:t>- https://learn.microsoft.com/en-us/aspnet/core/security/authentication/identity?view=aspnetcore-10.0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Distingue la protección de una página completa de ocultar un enlace. Ocultar un botón mejora la interfaz, pero no sustituye la autorización en el servidor.</a:t>
            </a:r>
          </a:p>
          <a:p>
            <a:endParaRPr/>
          </a:p>
          <a:p>
            <a:r>
              <a:t>[Sources]</a:t>
            </a:r>
          </a:p>
          <a:p>
            <a:r>
              <a:t>- https://learn.microsoft.com/en-us/aspnet/core/security/authorization/policies?view=aspnetcore-10.0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 el rol para grupos amplios, claims para datos sobre la identidad y políticas para reglas nombradas y combinables.</a:t>
            </a:r>
          </a:p>
          <a:p>
            <a:endParaRPr/>
          </a:p>
          <a:p>
            <a:r>
              <a:t>[Sources]</a:t>
            </a:r>
          </a:p>
          <a:p>
            <a:r>
              <a:t>- https://learn.microsoft.com/en-us/aspnet/core/security/authorization/roles?view=aspnetcore-10.0</a:t>
            </a:r>
          </a:p>
          <a:p>
            <a:r>
              <a:t>- https://learn.microsoft.com/en-us/aspnet/core/security/authorization/claims?view=aspnetcore-10.0</a:t>
            </a:r>
          </a:p>
          <a:p>
            <a:r>
              <a:t>- https://learn.microsoft.com/en-us/aspnet/core/security/authorization/policies?view=aspnetcore-10.0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 que AddDefaultIdentity no añade roles automáticamente en todos los casos: se incorpora AddRoles. La asignación suele hacerse en inicialización o administración, no al registrarse cualquier usuario.</a:t>
            </a:r>
          </a:p>
          <a:p>
            <a:endParaRPr/>
          </a:p>
          <a:p>
            <a:r>
              <a:t>[Sources]</a:t>
            </a:r>
          </a:p>
          <a:p>
            <a:r>
              <a:t>- https://learn.microsoft.com/en-us/aspnet/core/security/authorization/roles?view=aspnetcore-10.0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Diferencia el claim (dato) de la política (regla). Una identidad puede tener varios claims del mismo tipo y la política decide cuáles son suficientes.</a:t>
            </a:r>
          </a:p>
          <a:p>
            <a:endParaRPr/>
          </a:p>
          <a:p>
            <a:r>
              <a:t>[Sources]</a:t>
            </a:r>
          </a:p>
          <a:p>
            <a:r>
              <a:t>- https://learn.microsoft.com/en-us/aspnet/core/security/authorization/claims?view=aspnetcore-10.0</a:t>
            </a:r>
          </a:p>
          <a:p>
            <a:r>
              <a:t>- https://learn.microsoft.com/en-us/aspnet/core/security/authorization/policies?view=aspnetcore-10.0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Conecta el ejemplo con una aplicación de películas. Cada favorito pertenece a un usuario de Identity. Al consultar, se filtra por UserId; nunca se confía en un UserId enviado por el navegador.</a:t>
            </a:r>
          </a:p>
          <a:p>
            <a:endParaRPr/>
          </a:p>
          <a:p>
            <a:r>
              <a:t>[Sources]</a:t>
            </a:r>
          </a:p>
          <a:p>
            <a:r>
              <a:t>- https://learn.microsoft.com/en-us/aspnet/core/security/authorization/secure-data?view=aspnetcore-10.0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 que se hereda de IdentityUser, se actualiza el DbContext genérico y se crea una migración. [PersonalData] permite incluir la propiedad en descarga y eliminación de datos personales.</a:t>
            </a:r>
          </a:p>
          <a:p>
            <a:endParaRPr/>
          </a:p>
          <a:p>
            <a:r>
              <a:t>[Sources]</a:t>
            </a:r>
          </a:p>
          <a:p>
            <a:r>
              <a:t>- https://learn.microsoft.com/en-us/aspnet/core/security/authentication/customize-identity-model?view=aspnetcore-10.0</a:t>
            </a:r>
          </a:p>
          <a:p>
            <a:r>
              <a:t>- https://learn.microsoft.com/en-us/aspnet/core/security/authentication/add-user-data?view=aspnetcore-10.0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 la migración como historial reproducible del esquema. En producción es preferible revisar y desplegar scripts de manera controlada.</a:t>
            </a:r>
          </a:p>
          <a:p>
            <a:endParaRPr/>
          </a:p>
          <a:p>
            <a:r>
              <a:t>[Sources]</a:t>
            </a:r>
          </a:p>
          <a:p>
            <a:r>
              <a:t>- https://learn.microsoft.com/en-us/aspnet/core/security/authentication/customize-identity-model?view=aspnetcore-10.0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Avisa de que relajar contraseñas para una práctica no es una recomendación para producción. Configura opciones después de registrar Identity.</a:t>
            </a:r>
          </a:p>
          <a:p>
            <a:endParaRPr/>
          </a:p>
          <a:p>
            <a:r>
              <a:t>[Sources]</a:t>
            </a:r>
          </a:p>
          <a:p>
            <a:r>
              <a:t>- https://learn.microsoft.com/en-us/aspnet/core/security/authentication/identity-configuration?view=aspnetcore-10.0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Responde a la duda habitual: sí, se puede permitir el acceso sin confirmar. Explica el coste: más facilidad de uso, pero menos garantía de que el correo pertenece al usuario.</a:t>
            </a:r>
          </a:p>
          <a:p>
            <a:endParaRPr/>
          </a:p>
          <a:p>
            <a:r>
              <a:t>[Sources]</a:t>
            </a:r>
          </a:p>
          <a:p>
            <a:r>
              <a:t>- https://learn.microsoft.com/en-us/aspnet/core/security/authentication/identity-configuration?view=aspnetcore-10.0</a:t>
            </a:r>
          </a:p>
          <a:p>
            <a:r>
              <a:t>- https://learn.microsoft.com/en-us/aspnet/core/security/authentication/accconfirm?view=aspnetcore-10.0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Señala que el enlace contiene un token sensible y limitado. El correo no debe incluir contraseñas. Después de validar el token, UserManager realiza la operación.</a:t>
            </a:r>
          </a:p>
          <a:p>
            <a:endParaRPr/>
          </a:p>
          <a:p>
            <a:r>
              <a:t>[Sources]</a:t>
            </a:r>
          </a:p>
          <a:p>
            <a:r>
              <a:t>- https://learn.microsoft.com/en-us/aspnet/core/security/authentication/accconfirm?view=aspnetcore-10.0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Diferencia segundo factor local de login externo. Un proveedor externo autentica la cuenta en su sistema; la aplicación mantiene un vínculo en AspNetUserLogins.</a:t>
            </a:r>
          </a:p>
          <a:p>
            <a:endParaRPr/>
          </a:p>
          <a:p>
            <a:r>
              <a:t>[Sources]</a:t>
            </a:r>
          </a:p>
          <a:p>
            <a:r>
              <a:t>- https://learn.microsoft.com/en-us/aspnet/core/security/authentication/identity?view=aspnetcore-10.0</a:t>
            </a:r>
          </a:p>
          <a:p>
            <a:r>
              <a:t>- https://learn.microsoft.com/en-us/aspnet/core/security/authentication/identity-enable-qrcodes?view=aspnetcore-10.0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punto suele confundir al alumnado: las rutas funcionan aunque no vean todos los .cshtml. El scaffolding copia selectivamente páginas al proyecto; esas copias prevalecen sobre la RCL.</a:t>
            </a:r>
          </a:p>
          <a:p>
            <a:endParaRPr/>
          </a:p>
          <a:p>
            <a:r>
              <a:t>[Sources]</a:t>
            </a:r>
          </a:p>
          <a:p>
            <a:r>
              <a:t>- https://learn.microsoft.com/en-us/aspnet/core/security/authentication/scaffold-identity?view=aspnetcore-10.0</a:t>
            </a:r>
          </a:p>
          <a:p>
            <a:r>
              <a:t>- https://learn.microsoft.com/en-us/aspnet/core/security/authentication/add-user-data?view=aspnetcore-10.0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Incluye el caso SignInResult porque MVC y Identity declaran tipos con el mismo nombre. Recomienda leer el namespace del error y corregir la referencia, no añadir usings al azar.</a:t>
            </a:r>
          </a:p>
          <a:p>
            <a:endParaRPr/>
          </a:p>
          <a:p>
            <a:r>
              <a:t>[Sources]</a:t>
            </a:r>
          </a:p>
          <a:p>
            <a:r>
              <a:t>- https://learn.microsoft.com/en-us/aspnet/core/security/authentication/identity?view=aspnetcore-10.0</a:t>
            </a:r>
          </a:p>
          <a:p>
            <a:r>
              <a:t>- https://learn.microsoft.com/en-us/aspnet/core/security/authentication/scaffold-identity?view=aspnetcore-10.0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Convierte esta diapositiva en checklist de revisión antes de publicar. Identity reduce errores, pero no protege automáticamente la lógica de negocio.</a:t>
            </a:r>
          </a:p>
          <a:p>
            <a:endParaRPr/>
          </a:p>
          <a:p>
            <a:r>
              <a:t>[Sources]</a:t>
            </a:r>
          </a:p>
          <a:p>
            <a:r>
              <a:t>- https://learn.microsoft.com/en-us/aspnet/core/security/authentication/identity-configuration?view=aspnetcore-10.0</a:t>
            </a:r>
          </a:p>
          <a:p>
            <a:r>
              <a:t>- https://learn.microsoft.com/en-us/aspnet/core/security/authentication/accconfirm?view=aspnetcore-10.0</a:t>
            </a:r>
          </a:p>
          <a:p>
            <a:r>
              <a:t>- https://learn.microsoft.com/en-us/aspnet/core/security/authentication/identity-enable-qrcodes?view=aspnetcore-10.0</a:t>
            </a:r>
          </a:p>
          <a:p>
            <a:r>
              <a:t>- https://learn.microsoft.com/en-us/aspnet/core/security/authorization/secure-data?view=aspnetcore-10.0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Propón la actividad como integración. El alumnado puede comenzar con confirmación desactivada y añadir roles o confirmación como ampliación.</a:t>
            </a:r>
          </a:p>
          <a:p>
            <a:endParaRPr/>
          </a:p>
          <a:p>
            <a:r>
              <a:t>[Sources]</a:t>
            </a:r>
          </a:p>
          <a:p>
            <a:r>
              <a:t>- https://learn.microsoft.com/en-us/aspnet/core/security/authentication/add-user-data?view=aspnetcore-10.0</a:t>
            </a:r>
          </a:p>
          <a:p>
            <a:r>
              <a:t>- https://learn.microsoft.com/en-us/aspnet/core/security/authorization/secure-data?view=aspnetcore-10.0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Respuestas: 1) autenticación; 2) SignInManager; 3) no, se guarda hash; 4) con el Id del usuario autenticado; 5) hace visible y editable una copia de las páginas de la RCL.</a:t>
            </a:r>
          </a:p>
          <a:p>
            <a:endParaRPr/>
          </a:p>
          <a:p>
            <a:r>
              <a:t>[Sources]</a:t>
            </a:r>
          </a:p>
          <a:p>
            <a:r>
              <a:t>- https://learn.microsoft.com/en-us/aspnet/core/security/authentication/identity?view=aspnetcore-10.0</a:t>
            </a:r>
          </a:p>
          <a:p>
            <a:r>
              <a:t>- https://learn.microsoft.com/en-us/aspnet/core/security/authentication/scaffold-identity?view=aspnetcore-10.0</a:t>
            </a:r>
          </a:p>
          <a:p>
            <a:r>
              <a:t>- https://learn.microsoft.com/en-us/aspnet/core/security/authorization/secure-data?view=aspnetcore-10.0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Cierra retomando la idea de la portada: Identity resuelve infraestructura repetitiva y delicada; el desarrollador sigue siendo responsable de autorizar correctamente cada operación y cada dato.</a:t>
            </a:r>
          </a:p>
          <a:p>
            <a:endParaRPr/>
          </a:p>
          <a:p>
            <a:r>
              <a:t>[Sources]</a:t>
            </a:r>
          </a:p>
          <a:p>
            <a:r>
              <a:t>- https://learn.microsoft.com/en-us/aspnet/core/security/authentication/identity?view=aspnetcore-10.0</a:t>
            </a:r>
          </a:p>
          <a:p>
            <a:r>
              <a:t>- https://learn.microsoft.com/en-us/aspnet/core/security/authorization/policies?view=aspnetcore-10.0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AFF25ECA-2E03-437E-9B0C-3E0B39FE1DF0}"/>
              </a:ext>
            </a:extLst>
          </p:cNvPr>
          <p:cNvSpPr>
            <a:spLocks noGrp="1"/>
          </p:cNvSpPr>
          <p:nvPr/>
        </p:nvSpPr>
        <p:spPr>
          <a:xfrm>
            <a:off x="400050" y="361950"/>
            <a:ext cx="7239000" cy="285750"/>
          </a:xfrm>
          <a:prstGeom prst="rect">
            <a:avLst/>
          </a:prstGeom>
          <a:noFill/>
          <a:ln w="0">
            <a:noFill/>
            <a:prstDash val="solid"/>
          </a:ln>
        </p:spPr>
        <p:txBody>
          <a:bodyPr wrap="square" lIns="0" tIns="0" rIns="0" bIns="0" anchor="t">
            <a:no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SEGURIDAD EN ASP.NET CORE · .NET 10</a:t>
            </a:r>
          </a:p>
        </p:txBody>
      </p:sp>
      <p:sp>
        <p:nvSpPr>
          <p:cNvPr id="2" name="Rectángulo 1">
            <a:extLst>
              <a:ext uri="{FF2B5EF4-FFF2-40B4-BE49-F238E27FC236}">
                <a16:creationId xmlns:a16="http://schemas.microsoft.com/office/drawing/2014/main" id="{CCD82A55-79AF-4AA3-B26E-382F8B5FB4C9}"/>
              </a:ext>
            </a:extLst>
          </p:cNvPr>
          <p:cNvSpPr>
            <a:spLocks noGrp="1"/>
          </p:cNvSpPr>
          <p:nvPr/>
        </p:nvSpPr>
        <p:spPr>
          <a:xfrm>
            <a:off x="400050" y="1790700"/>
            <a:ext cx="9620250" cy="1009650"/>
          </a:xfrm>
          <a:prstGeom prst="rect">
            <a:avLst/>
          </a:prstGeom>
          <a:noFill/>
          <a:ln w="0">
            <a:noFill/>
            <a:prstDash val="solid"/>
          </a:ln>
        </p:spPr>
        <p:txBody>
          <a:bodyPr wrap="square" lIns="0" tIns="0" rIns="0" bIns="0" anchor="t">
            <a:noAutofit/>
          </a:bodyPr>
          <a:lstStyle/>
          <a:p>
            <a:pPr algn="l">
              <a:defRPr sz="5700" b="1">
                <a:solidFill>
                  <a:srgbClr val="000000"/>
                </a:solidFill>
                <a:latin typeface="Arial"/>
                <a:ea typeface="Arial"/>
                <a:cs typeface="Arial"/>
              </a:defRPr>
            </a:pPr>
            <a:r>
              <a:rPr sz="5700" b="1">
                <a:solidFill>
                  <a:srgbClr val="000000"/>
                </a:solidFill>
                <a:latin typeface="Arial"/>
                <a:ea typeface="Arial"/>
                <a:cs typeface="Arial"/>
              </a:rPr>
              <a:t>Identity en .NET 10</a:t>
            </a:r>
          </a:p>
        </p:txBody>
      </p:sp>
      <p:sp>
        <p:nvSpPr>
          <p:cNvPr id="3" name="Rectángulo 2">
            <a:extLst>
              <a:ext uri="{FF2B5EF4-FFF2-40B4-BE49-F238E27FC236}">
                <a16:creationId xmlns:a16="http://schemas.microsoft.com/office/drawing/2014/main" id="{5830DCB0-D544-4786-8184-E005A5596B5A}"/>
              </a:ext>
            </a:extLst>
          </p:cNvPr>
          <p:cNvSpPr>
            <a:spLocks noGrp="1"/>
          </p:cNvSpPr>
          <p:nvPr/>
        </p:nvSpPr>
        <p:spPr>
          <a:xfrm>
            <a:off x="400050" y="3086100"/>
            <a:ext cx="8191500" cy="857250"/>
          </a:xfrm>
          <a:prstGeom prst="rect">
            <a:avLst/>
          </a:prstGeom>
          <a:noFill/>
          <a:ln w="0">
            <a:noFill/>
            <a:prstDash val="solid"/>
          </a:ln>
        </p:spPr>
        <p:txBody>
          <a:bodyPr wrap="square" lIns="0" tIns="0" rIns="0" bIns="0" anchor="t">
            <a:normAutofit/>
          </a:bodyPr>
          <a:lstStyle/>
          <a:p>
            <a:pPr algn="l">
              <a:defRPr sz="2250" b="0">
                <a:solidFill>
                  <a:srgbClr val="565E6B"/>
                </a:solidFill>
                <a:latin typeface="Arial"/>
                <a:ea typeface="Arial"/>
                <a:cs typeface="Arial"/>
              </a:defRPr>
            </a:pPr>
            <a:r>
              <a:rPr sz="2250" b="0">
                <a:solidFill>
                  <a:srgbClr val="565E6B"/>
                </a:solidFill>
                <a:latin typeface="Arial"/>
                <a:ea typeface="Arial"/>
                <a:cs typeface="Arial"/>
              </a:rPr>
              <a:t>Qué es, cómo funciona y cómo usarlo en aplicaciones Razor Pages</a:t>
            </a:r>
          </a:p>
        </p:txBody>
      </p:sp>
      <p:sp>
        <p:nvSpPr>
          <p:cNvPr id="4" name="Rectángulo: esquinas redondeadas 3">
            <a:extLst>
              <a:ext uri="{FF2B5EF4-FFF2-40B4-BE49-F238E27FC236}">
                <a16:creationId xmlns:a16="http://schemas.microsoft.com/office/drawing/2014/main" id="{BAA696EE-7B74-4072-99AD-B8CBA1942275}"/>
              </a:ext>
            </a:extLst>
          </p:cNvPr>
          <p:cNvSpPr>
            <a:spLocks noGrp="1"/>
          </p:cNvSpPr>
          <p:nvPr/>
        </p:nvSpPr>
        <p:spPr>
          <a:xfrm>
            <a:off x="8953500" y="1524000"/>
            <a:ext cx="2838450" cy="3143250"/>
          </a:xfrm>
          <a:prstGeom prst="roundRect">
            <a:avLst>
              <a:gd name="adj" fmla="val 4027"/>
            </a:avLst>
          </a:prstGeom>
          <a:solidFill>
            <a:srgbClr val="F6F7F8"/>
          </a:solidFill>
          <a:ln w="0">
            <a:noFill/>
            <a:prstDash val="solid"/>
          </a:ln>
        </p:spPr>
        <p:txBody>
          <a:bodyPr/>
          <a:lstStyle/>
          <a:p>
            <a:endParaRPr lang="es-ES"/>
          </a:p>
        </p:txBody>
      </p:sp>
      <p:sp>
        <p:nvSpPr>
          <p:cNvPr id="5" name="Rectángulo 4">
            <a:extLst>
              <a:ext uri="{FF2B5EF4-FFF2-40B4-BE49-F238E27FC236}">
                <a16:creationId xmlns:a16="http://schemas.microsoft.com/office/drawing/2014/main" id="{4AF787A3-B1E0-4EBB-92CA-C17FEFC7E11F}"/>
              </a:ext>
            </a:extLst>
          </p:cNvPr>
          <p:cNvSpPr>
            <a:spLocks noGrp="1"/>
          </p:cNvSpPr>
          <p:nvPr/>
        </p:nvSpPr>
        <p:spPr>
          <a:xfrm>
            <a:off x="9353550" y="2009775"/>
            <a:ext cx="2038350" cy="304800"/>
          </a:xfrm>
          <a:prstGeom prst="rect">
            <a:avLst/>
          </a:prstGeom>
          <a:noFill/>
          <a:ln w="0">
            <a:noFill/>
            <a:prstDash val="solid"/>
          </a:ln>
        </p:spPr>
        <p:txBody>
          <a:bodyPr wrap="square" lIns="0" tIns="0" rIns="0" bIns="0" anchor="t">
            <a:noAutofit/>
          </a:bodyPr>
          <a:lstStyle/>
          <a:p>
            <a:pPr algn="ctr">
              <a:defRPr sz="1125" b="1">
                <a:solidFill>
                  <a:srgbClr val="3D8DFF"/>
                </a:solidFill>
                <a:latin typeface="Arial"/>
                <a:ea typeface="Arial"/>
                <a:cs typeface="Arial"/>
              </a:defRPr>
            </a:pPr>
            <a:r>
              <a:rPr sz="1125" b="1">
                <a:solidFill>
                  <a:srgbClr val="3D8DFF"/>
                </a:solidFill>
                <a:latin typeface="Arial"/>
                <a:ea typeface="Arial"/>
                <a:cs typeface="Arial"/>
              </a:rPr>
              <a:t>USUARIO</a:t>
            </a:r>
          </a:p>
        </p:txBody>
      </p:sp>
      <p:sp>
        <p:nvSpPr>
          <p:cNvPr id="6" name="Rectángulo: esquinas redondeadas 5">
            <a:extLst>
              <a:ext uri="{FF2B5EF4-FFF2-40B4-BE49-F238E27FC236}">
                <a16:creationId xmlns:a16="http://schemas.microsoft.com/office/drawing/2014/main" id="{B6EDDCB0-CE9C-4DF7-9BB0-FD6CD1F91134}"/>
              </a:ext>
            </a:extLst>
          </p:cNvPr>
          <p:cNvSpPr>
            <a:spLocks noGrp="1"/>
          </p:cNvSpPr>
          <p:nvPr/>
        </p:nvSpPr>
        <p:spPr>
          <a:xfrm>
            <a:off x="9658350" y="2571750"/>
            <a:ext cx="1428750" cy="971550"/>
          </a:xfrm>
          <a:prstGeom prst="roundRect">
            <a:avLst>
              <a:gd name="adj" fmla="val 11765"/>
            </a:avLst>
          </a:prstGeom>
          <a:solidFill>
            <a:srgbClr val="FFFFFF"/>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AE40E656-69E6-4B7B-A880-9C4FB8A2BFF5}"/>
              </a:ext>
            </a:extLst>
          </p:cNvPr>
          <p:cNvSpPr>
            <a:spLocks noGrp="1"/>
          </p:cNvSpPr>
          <p:nvPr/>
        </p:nvSpPr>
        <p:spPr>
          <a:xfrm>
            <a:off x="9848850" y="2838450"/>
            <a:ext cx="1047750" cy="323850"/>
          </a:xfrm>
          <a:prstGeom prst="rect">
            <a:avLst/>
          </a:prstGeom>
          <a:noFill/>
          <a:ln w="0">
            <a:noFill/>
            <a:prstDash val="solid"/>
          </a:ln>
        </p:spPr>
        <p:txBody>
          <a:bodyPr wrap="square" lIns="0" tIns="0" rIns="0" bIns="0" anchor="t">
            <a:noAutofit/>
          </a:bodyPr>
          <a:lstStyle/>
          <a:p>
            <a:pPr algn="ctr">
              <a:defRPr sz="2100" b="1">
                <a:solidFill>
                  <a:srgbClr val="000000"/>
                </a:solidFill>
                <a:latin typeface="Arial"/>
                <a:ea typeface="Arial"/>
                <a:cs typeface="Arial"/>
              </a:defRPr>
            </a:pPr>
            <a:r>
              <a:rPr sz="2100" b="1">
                <a:solidFill>
                  <a:srgbClr val="000000"/>
                </a:solidFill>
                <a:latin typeface="Arial"/>
                <a:ea typeface="Arial"/>
                <a:cs typeface="Arial"/>
              </a:rPr>
              <a:t>••••••••</a:t>
            </a:r>
          </a:p>
        </p:txBody>
      </p:sp>
      <p:sp>
        <p:nvSpPr>
          <p:cNvPr id="8" name="Rectángulo 7">
            <a:extLst>
              <a:ext uri="{FF2B5EF4-FFF2-40B4-BE49-F238E27FC236}">
                <a16:creationId xmlns:a16="http://schemas.microsoft.com/office/drawing/2014/main" id="{D7B356FA-CBB2-49F1-8A5F-A7898D9CDC86}"/>
              </a:ext>
            </a:extLst>
          </p:cNvPr>
          <p:cNvSpPr>
            <a:spLocks noGrp="1"/>
          </p:cNvSpPr>
          <p:nvPr/>
        </p:nvSpPr>
        <p:spPr>
          <a:xfrm>
            <a:off x="400050" y="5429250"/>
            <a:ext cx="6858000" cy="400050"/>
          </a:xfrm>
          <a:prstGeom prst="rect">
            <a:avLst/>
          </a:prstGeom>
          <a:noFill/>
          <a:ln w="0">
            <a:noFill/>
            <a:prstDash val="solid"/>
          </a:ln>
        </p:spPr>
        <p:txBody>
          <a:bodyPr wrap="square" lIns="0" tIns="0" rIns="0" bIns="0" anchor="t">
            <a:normAutofit/>
          </a:bodyPr>
          <a:lstStyle/>
          <a:p>
            <a:pPr algn="l">
              <a:defRPr sz="1725" b="1">
                <a:solidFill>
                  <a:srgbClr val="000000"/>
                </a:solidFill>
                <a:latin typeface="Arial"/>
                <a:ea typeface="Arial"/>
                <a:cs typeface="Arial"/>
              </a:defRPr>
            </a:pPr>
            <a:r>
              <a:rPr sz="1725" b="1">
                <a:solidFill>
                  <a:srgbClr val="000000"/>
                </a:solidFill>
                <a:latin typeface="Arial"/>
                <a:ea typeface="Arial"/>
                <a:cs typeface="Arial"/>
              </a:rPr>
              <a:t>Cuenta  ·  Cookie  ·  Permisos</a:t>
            </a:r>
          </a:p>
        </p:txBody>
      </p:sp>
      <p:sp>
        <p:nvSpPr>
          <p:cNvPr id="9" name="Rectángulo 8">
            <a:extLst>
              <a:ext uri="{FF2B5EF4-FFF2-40B4-BE49-F238E27FC236}">
                <a16:creationId xmlns:a16="http://schemas.microsoft.com/office/drawing/2014/main" id="{290E4F83-5D7C-44BC-89BA-450E99B7D233}"/>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10" name="Rectángulo 9">
            <a:extLst>
              <a:ext uri="{FF2B5EF4-FFF2-40B4-BE49-F238E27FC236}">
                <a16:creationId xmlns:a16="http://schemas.microsoft.com/office/drawing/2014/main" id="{1D8C33FE-1643-4FC9-8A5A-4E0DC3ED8CE7}"/>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a:t>
            </a:r>
          </a:p>
        </p:txBody>
      </p:sp>
    </p:spTree>
    <p:extLst>
      <p:ext uri="{BB962C8B-B14F-4D97-AF65-F5344CB8AC3E}">
        <p14:creationId xmlns:p14="http://schemas.microsoft.com/office/powerpoint/2010/main" val="1924242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630761AB-5671-4568-8275-73B775CD2A05}"/>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3">
            <a:extLst>
              <a:ext uri="{FF2B5EF4-FFF2-40B4-BE49-F238E27FC236}">
                <a16:creationId xmlns:a16="http://schemas.microsoft.com/office/drawing/2014/main" id="{289A3554-BBB2-4AE7-9083-57E6A9141176}"/>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Identity gestiona el ciclo de vida de las cuentas</a:t>
            </a:r>
          </a:p>
        </p:txBody>
      </p:sp>
      <p:cxnSp>
        <p:nvCxnSpPr>
          <p:cNvPr id="12" name="Conector recto de flecha 11"/>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AB1B93AB-874B-4595-BD0C-BC39872111CC}"/>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BDABBE2B-FC53-4EB5-A2BC-1B48496DA403}"/>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a:t>
            </a:r>
          </a:p>
        </p:txBody>
      </p:sp>
      <p:sp>
        <p:nvSpPr>
          <p:cNvPr id="6" name="Rectángulo 5">
            <a:extLst>
              <a:ext uri="{FF2B5EF4-FFF2-40B4-BE49-F238E27FC236}">
                <a16:creationId xmlns:a16="http://schemas.microsoft.com/office/drawing/2014/main" id="{9E8DA6F0-AFDD-4B75-AC2B-D69209F2778D}"/>
              </a:ext>
            </a:extLst>
          </p:cNvPr>
          <p:cNvSpPr>
            <a:spLocks noGrp="1"/>
          </p:cNvSpPr>
          <p:nvPr/>
        </p:nvSpPr>
        <p:spPr>
          <a:xfrm>
            <a:off x="400050" y="1905000"/>
            <a:ext cx="8382000" cy="590550"/>
          </a:xfrm>
          <a:prstGeom prst="rect">
            <a:avLst/>
          </a:prstGeom>
          <a:noFill/>
          <a:ln w="0">
            <a:noFill/>
            <a:prstDash val="solid"/>
          </a:ln>
        </p:spPr>
        <p:txBody>
          <a:bodyPr wrap="square" lIns="0" tIns="0" rIns="0" bIns="0" anchor="t">
            <a:normAutofit/>
          </a:bodyPr>
          <a:lstStyle/>
          <a:p>
            <a:pPr algn="l">
              <a:defRPr sz="2700" b="1">
                <a:solidFill>
                  <a:srgbClr val="000000"/>
                </a:solidFill>
                <a:latin typeface="Arial"/>
                <a:ea typeface="Arial"/>
                <a:cs typeface="Arial"/>
              </a:defRPr>
            </a:pPr>
            <a:r>
              <a:rPr sz="2700" b="1">
                <a:solidFill>
                  <a:srgbClr val="000000"/>
                </a:solidFill>
                <a:latin typeface="Arial"/>
                <a:ea typeface="Arial"/>
                <a:cs typeface="Arial"/>
              </a:rPr>
              <a:t>Identity no es solo «hacer login».</a:t>
            </a:r>
          </a:p>
        </p:txBody>
      </p:sp>
      <p:sp>
        <p:nvSpPr>
          <p:cNvPr id="7" name="Rectángulo 6">
            <a:extLst>
              <a:ext uri="{FF2B5EF4-FFF2-40B4-BE49-F238E27FC236}">
                <a16:creationId xmlns:a16="http://schemas.microsoft.com/office/drawing/2014/main" id="{EA3697E1-95CC-4FE7-AB6E-A0AB192C1C27}"/>
              </a:ext>
            </a:extLst>
          </p:cNvPr>
          <p:cNvSpPr>
            <a:spLocks noGrp="1"/>
          </p:cNvSpPr>
          <p:nvPr/>
        </p:nvSpPr>
        <p:spPr>
          <a:xfrm>
            <a:off x="400050" y="2724150"/>
            <a:ext cx="10858500" cy="1162050"/>
          </a:xfrm>
          <a:prstGeom prst="rect">
            <a:avLst/>
          </a:prstGeom>
          <a:noFill/>
          <a:ln w="0">
            <a:noFill/>
            <a:prstDash val="solid"/>
          </a:ln>
        </p:spPr>
        <p:txBody>
          <a:bodyPr wrap="square" lIns="0" tIns="0" rIns="0" bIns="0" anchor="t">
            <a:normAutofit/>
          </a:bodyPr>
          <a:lstStyle/>
          <a:p>
            <a:pPr algn="l">
              <a:defRPr sz="1875" b="0">
                <a:solidFill>
                  <a:srgbClr val="565E6B"/>
                </a:solidFill>
                <a:latin typeface="Arial"/>
                <a:ea typeface="Arial"/>
                <a:cs typeface="Arial"/>
              </a:defRPr>
            </a:pPr>
            <a:r>
              <a:rPr sz="1875" b="0">
                <a:solidFill>
                  <a:srgbClr val="565E6B"/>
                </a:solidFill>
                <a:latin typeface="Arial"/>
                <a:ea typeface="Arial"/>
                <a:cs typeface="Arial"/>
              </a:rPr>
              <a:t>Gestiona usuarios, contraseñas, perfiles, roles, claims, tokens, confirmación de correo, recuperación de contraseña, autenticación en dos pasos e inicios de sesión externos.</a:t>
            </a:r>
          </a:p>
        </p:txBody>
      </p:sp>
      <p:sp>
        <p:nvSpPr>
          <p:cNvPr id="8" name="Rectángulo: esquinas redondeadas 7">
            <a:extLst>
              <a:ext uri="{FF2B5EF4-FFF2-40B4-BE49-F238E27FC236}">
                <a16:creationId xmlns:a16="http://schemas.microsoft.com/office/drawing/2014/main" id="{719DCEA5-432C-40B2-9DE1-D2B95A956786}"/>
              </a:ext>
            </a:extLst>
          </p:cNvPr>
          <p:cNvSpPr>
            <a:spLocks noGrp="1"/>
          </p:cNvSpPr>
          <p:nvPr/>
        </p:nvSpPr>
        <p:spPr>
          <a:xfrm>
            <a:off x="400050" y="4324350"/>
            <a:ext cx="11391900" cy="1162050"/>
          </a:xfrm>
          <a:prstGeom prst="roundRect">
            <a:avLst>
              <a:gd name="adj" fmla="val 9836"/>
            </a:avLst>
          </a:prstGeom>
          <a:solidFill>
            <a:srgbClr val="DCEEFF"/>
          </a:solidFill>
          <a:ln w="0">
            <a:noFill/>
            <a:prstDash val="solid"/>
          </a:ln>
        </p:spPr>
        <p:txBody>
          <a:bodyPr/>
          <a:lstStyle/>
          <a:p>
            <a:endParaRPr lang="es-ES"/>
          </a:p>
        </p:txBody>
      </p:sp>
      <p:sp>
        <p:nvSpPr>
          <p:cNvPr id="9" name="Rectángulo 8">
            <a:extLst>
              <a:ext uri="{FF2B5EF4-FFF2-40B4-BE49-F238E27FC236}">
                <a16:creationId xmlns:a16="http://schemas.microsoft.com/office/drawing/2014/main" id="{66227E1B-A216-4C5F-9CC4-DC6369735FBE}"/>
              </a:ext>
            </a:extLst>
          </p:cNvPr>
          <p:cNvSpPr>
            <a:spLocks noGrp="1"/>
          </p:cNvSpPr>
          <p:nvPr/>
        </p:nvSpPr>
        <p:spPr>
          <a:xfrm>
            <a:off x="685800" y="4610100"/>
            <a:ext cx="10820400" cy="609600"/>
          </a:xfrm>
          <a:prstGeom prst="rect">
            <a:avLst/>
          </a:prstGeom>
          <a:noFill/>
          <a:ln w="0">
            <a:noFill/>
            <a:prstDash val="solid"/>
          </a:ln>
        </p:spPr>
        <p:txBody>
          <a:bodyPr wrap="square" lIns="0" tIns="0" rIns="0" bIns="0" anchor="t">
            <a:normAutofit fontScale="98765"/>
          </a:bodyPr>
          <a:lstStyle/>
          <a:p>
            <a:pPr algn="ctr">
              <a:defRPr sz="2025" b="1">
                <a:solidFill>
                  <a:srgbClr val="000000"/>
                </a:solidFill>
                <a:latin typeface="Arial"/>
                <a:ea typeface="Arial"/>
                <a:cs typeface="Arial"/>
              </a:defRPr>
            </a:pPr>
            <a:r>
              <a:rPr sz="2025" b="1">
                <a:solidFill>
                  <a:srgbClr val="000000"/>
                </a:solidFill>
                <a:latin typeface="Arial"/>
                <a:ea typeface="Arial"/>
                <a:cs typeface="Arial"/>
              </a:rPr>
              <a:t>Idea clave: usamos componentes probados y configurables en lugar de reinventar seguridad crítica.</a:t>
            </a:r>
          </a:p>
        </p:txBody>
      </p:sp>
    </p:spTree>
    <p:extLst>
      <p:ext uri="{BB962C8B-B14F-4D97-AF65-F5344CB8AC3E}">
        <p14:creationId xmlns:p14="http://schemas.microsoft.com/office/powerpoint/2010/main" val="948068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3E572AF2-E346-4906-B52E-598E6F251B60}"/>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4">
            <a:extLst>
              <a:ext uri="{FF2B5EF4-FFF2-40B4-BE49-F238E27FC236}">
                <a16:creationId xmlns:a16="http://schemas.microsoft.com/office/drawing/2014/main" id="{EF9B6ED8-9EB9-4970-BA7D-952A81880F79}"/>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Autenticación y autorización responden preguntas distintas</a:t>
            </a:r>
          </a:p>
        </p:txBody>
      </p:sp>
      <p:cxnSp>
        <p:nvCxnSpPr>
          <p:cNvPr id="17" name="Conector recto de flecha 16"/>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E74DBA61-8E16-48E5-A7E0-877F22EE5CAD}"/>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D6222E68-71C4-485C-BB57-58B265515ABE}"/>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4</a:t>
            </a:r>
          </a:p>
        </p:txBody>
      </p:sp>
      <p:sp>
        <p:nvSpPr>
          <p:cNvPr id="6" name="Rectángulo 5">
            <a:extLst>
              <a:ext uri="{FF2B5EF4-FFF2-40B4-BE49-F238E27FC236}">
                <a16:creationId xmlns:a16="http://schemas.microsoft.com/office/drawing/2014/main" id="{F81BE760-5910-4911-B899-426396B6E0CF}"/>
              </a:ext>
            </a:extLst>
          </p:cNvPr>
          <p:cNvSpPr>
            <a:spLocks noGrp="1"/>
          </p:cNvSpPr>
          <p:nvPr/>
        </p:nvSpPr>
        <p:spPr>
          <a:xfrm>
            <a:off x="400050" y="21145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¿QUIÉN ERES?</a:t>
            </a:r>
          </a:p>
        </p:txBody>
      </p:sp>
      <p:sp>
        <p:nvSpPr>
          <p:cNvPr id="7" name="Rectángulo 6">
            <a:extLst>
              <a:ext uri="{FF2B5EF4-FFF2-40B4-BE49-F238E27FC236}">
                <a16:creationId xmlns:a16="http://schemas.microsoft.com/office/drawing/2014/main" id="{769765FE-F470-4F94-B184-2A3C4EC717A3}"/>
              </a:ext>
            </a:extLst>
          </p:cNvPr>
          <p:cNvSpPr>
            <a:spLocks noGrp="1"/>
          </p:cNvSpPr>
          <p:nvPr/>
        </p:nvSpPr>
        <p:spPr>
          <a:xfrm>
            <a:off x="400050" y="25146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Autenticación</a:t>
            </a:r>
          </a:p>
        </p:txBody>
      </p:sp>
      <p:sp>
        <p:nvSpPr>
          <p:cNvPr id="8" name="Rectángulo 7">
            <a:extLst>
              <a:ext uri="{FF2B5EF4-FFF2-40B4-BE49-F238E27FC236}">
                <a16:creationId xmlns:a16="http://schemas.microsoft.com/office/drawing/2014/main" id="{1817B852-DE1E-47E9-A442-1AAEC66E9B23}"/>
              </a:ext>
            </a:extLst>
          </p:cNvPr>
          <p:cNvSpPr>
            <a:spLocks noGrp="1"/>
          </p:cNvSpPr>
          <p:nvPr/>
        </p:nvSpPr>
        <p:spPr>
          <a:xfrm>
            <a:off x="400050" y="3219450"/>
            <a:ext cx="3568700" cy="21526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Comprueba la identidad y crea un ClaimsPrincipal para la petición.</a:t>
            </a:r>
          </a:p>
        </p:txBody>
      </p:sp>
      <p:sp>
        <p:nvSpPr>
          <p:cNvPr id="9" name="Rectángulo 8">
            <a:extLst>
              <a:ext uri="{FF2B5EF4-FFF2-40B4-BE49-F238E27FC236}">
                <a16:creationId xmlns:a16="http://schemas.microsoft.com/office/drawing/2014/main" id="{874F6C32-0CBB-4631-A7EB-76FE5FE58DAC}"/>
              </a:ext>
            </a:extLst>
          </p:cNvPr>
          <p:cNvSpPr>
            <a:spLocks noGrp="1"/>
          </p:cNvSpPr>
          <p:nvPr/>
        </p:nvSpPr>
        <p:spPr>
          <a:xfrm>
            <a:off x="4311650" y="21145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¿QUÉ PUEDES HACER?</a:t>
            </a:r>
          </a:p>
        </p:txBody>
      </p:sp>
      <p:sp>
        <p:nvSpPr>
          <p:cNvPr id="10" name="Rectángulo 9">
            <a:extLst>
              <a:ext uri="{FF2B5EF4-FFF2-40B4-BE49-F238E27FC236}">
                <a16:creationId xmlns:a16="http://schemas.microsoft.com/office/drawing/2014/main" id="{A7B65D85-6A46-4E08-B612-ADB0CF8EB3B4}"/>
              </a:ext>
            </a:extLst>
          </p:cNvPr>
          <p:cNvSpPr>
            <a:spLocks noGrp="1"/>
          </p:cNvSpPr>
          <p:nvPr/>
        </p:nvSpPr>
        <p:spPr>
          <a:xfrm>
            <a:off x="4311650" y="25146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Autorización</a:t>
            </a:r>
          </a:p>
        </p:txBody>
      </p:sp>
      <p:sp>
        <p:nvSpPr>
          <p:cNvPr id="11" name="Rectángulo 10">
            <a:extLst>
              <a:ext uri="{FF2B5EF4-FFF2-40B4-BE49-F238E27FC236}">
                <a16:creationId xmlns:a16="http://schemas.microsoft.com/office/drawing/2014/main" id="{CC598CDD-C5CB-49BE-8492-D9F7E2D55056}"/>
              </a:ext>
            </a:extLst>
          </p:cNvPr>
          <p:cNvSpPr>
            <a:spLocks noGrp="1"/>
          </p:cNvSpPr>
          <p:nvPr/>
        </p:nvSpPr>
        <p:spPr>
          <a:xfrm>
            <a:off x="4311650" y="3219450"/>
            <a:ext cx="3568700" cy="21526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Evalúa usuario autenticado, roles, claims, políticas o el recurso concreto.</a:t>
            </a:r>
          </a:p>
        </p:txBody>
      </p:sp>
      <p:sp>
        <p:nvSpPr>
          <p:cNvPr id="12" name="Rectángulo 11">
            <a:extLst>
              <a:ext uri="{FF2B5EF4-FFF2-40B4-BE49-F238E27FC236}">
                <a16:creationId xmlns:a16="http://schemas.microsoft.com/office/drawing/2014/main" id="{7EF2F3A0-5904-4BBD-9D77-A8BCA2A5120F}"/>
              </a:ext>
            </a:extLst>
          </p:cNvPr>
          <p:cNvSpPr>
            <a:spLocks noGrp="1"/>
          </p:cNvSpPr>
          <p:nvPr/>
        </p:nvSpPr>
        <p:spPr>
          <a:xfrm>
            <a:off x="8223250" y="21145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¿CÓMO SE GESTIONA?</a:t>
            </a:r>
          </a:p>
        </p:txBody>
      </p:sp>
      <p:sp>
        <p:nvSpPr>
          <p:cNvPr id="13" name="Rectángulo 12">
            <a:extLst>
              <a:ext uri="{FF2B5EF4-FFF2-40B4-BE49-F238E27FC236}">
                <a16:creationId xmlns:a16="http://schemas.microsoft.com/office/drawing/2014/main" id="{846EBA85-9269-4844-AD3C-B5FEF62A1C3B}"/>
              </a:ext>
            </a:extLst>
          </p:cNvPr>
          <p:cNvSpPr>
            <a:spLocks noGrp="1"/>
          </p:cNvSpPr>
          <p:nvPr/>
        </p:nvSpPr>
        <p:spPr>
          <a:xfrm>
            <a:off x="8223250" y="25146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Identity</a:t>
            </a:r>
          </a:p>
        </p:txBody>
      </p:sp>
      <p:sp>
        <p:nvSpPr>
          <p:cNvPr id="14" name="Rectángulo 13">
            <a:extLst>
              <a:ext uri="{FF2B5EF4-FFF2-40B4-BE49-F238E27FC236}">
                <a16:creationId xmlns:a16="http://schemas.microsoft.com/office/drawing/2014/main" id="{2EE47341-CCEA-441B-B417-B0925D88DC47}"/>
              </a:ext>
            </a:extLst>
          </p:cNvPr>
          <p:cNvSpPr>
            <a:spLocks noGrp="1"/>
          </p:cNvSpPr>
          <p:nvPr/>
        </p:nvSpPr>
        <p:spPr>
          <a:xfrm>
            <a:off x="8223250" y="3219450"/>
            <a:ext cx="3568700" cy="21526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Proporciona cuentas, credenciales, tokens, UI y almacenes para apoyar ambos procesos.</a:t>
            </a:r>
          </a:p>
        </p:txBody>
      </p:sp>
    </p:spTree>
    <p:extLst>
      <p:ext uri="{BB962C8B-B14F-4D97-AF65-F5344CB8AC3E}">
        <p14:creationId xmlns:p14="http://schemas.microsoft.com/office/powerpoint/2010/main" val="1412018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44733B70-CA31-4118-BB85-EEC61C8580C8}"/>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5">
            <a:extLst>
              <a:ext uri="{FF2B5EF4-FFF2-40B4-BE49-F238E27FC236}">
                <a16:creationId xmlns:a16="http://schemas.microsoft.com/office/drawing/2014/main" id="{A6304DB4-4AFE-4547-84F5-166F5C64E932}"/>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El ciclo de una cuenta tiene más pasos que el login</a:t>
            </a:r>
          </a:p>
        </p:txBody>
      </p:sp>
      <p:cxnSp>
        <p:nvCxnSpPr>
          <p:cNvPr id="32" name="Conector recto de flecha 31"/>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73A67E07-55FB-4BC5-B602-76342F39800A}"/>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8F9927A2-A459-48B2-BDA7-4048018FB5F6}"/>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5</a:t>
            </a:r>
          </a:p>
        </p:txBody>
      </p:sp>
      <p:cxnSp>
        <p:nvCxnSpPr>
          <p:cNvPr id="35" name="Conector recto de flecha 34"/>
          <p:cNvCxnSpPr/>
          <p:nvPr/>
        </p:nvCxnSpPr>
        <p:spPr>
          <a:xfrm>
            <a:off x="2197100" y="3514725"/>
            <a:ext cx="228600" cy="0"/>
          </a:xfrm>
          <a:prstGeom prst="straightConnector1">
            <a:avLst/>
          </a:prstGeom>
          <a:ln w="28575">
            <a:solidFill>
              <a:srgbClr val="3D8DFF"/>
            </a:solidFill>
            <a:prstDash val="solid"/>
          </a:ln>
        </p:spPr>
      </p:cxnSp>
      <p:cxnSp>
        <p:nvCxnSpPr>
          <p:cNvPr id="36" name="Conector recto de flecha 35"/>
          <p:cNvCxnSpPr/>
          <p:nvPr/>
        </p:nvCxnSpPr>
        <p:spPr>
          <a:xfrm>
            <a:off x="4089400" y="3514725"/>
            <a:ext cx="228600" cy="0"/>
          </a:xfrm>
          <a:prstGeom prst="straightConnector1">
            <a:avLst/>
          </a:prstGeom>
          <a:ln w="28575">
            <a:solidFill>
              <a:srgbClr val="3D8DFF"/>
            </a:solidFill>
            <a:prstDash val="solid"/>
          </a:ln>
        </p:spPr>
      </p:cxnSp>
      <p:cxnSp>
        <p:nvCxnSpPr>
          <p:cNvPr id="37" name="Conector recto de flecha 36"/>
          <p:cNvCxnSpPr/>
          <p:nvPr/>
        </p:nvCxnSpPr>
        <p:spPr>
          <a:xfrm>
            <a:off x="5981700" y="3514725"/>
            <a:ext cx="228600" cy="0"/>
          </a:xfrm>
          <a:prstGeom prst="straightConnector1">
            <a:avLst/>
          </a:prstGeom>
          <a:ln w="28575">
            <a:solidFill>
              <a:srgbClr val="3D8DFF"/>
            </a:solidFill>
            <a:prstDash val="solid"/>
          </a:ln>
        </p:spPr>
      </p:cxnSp>
      <p:cxnSp>
        <p:nvCxnSpPr>
          <p:cNvPr id="38" name="Conector recto de flecha 37"/>
          <p:cNvCxnSpPr/>
          <p:nvPr/>
        </p:nvCxnSpPr>
        <p:spPr>
          <a:xfrm>
            <a:off x="7874000" y="3514725"/>
            <a:ext cx="228600" cy="0"/>
          </a:xfrm>
          <a:prstGeom prst="straightConnector1">
            <a:avLst/>
          </a:prstGeom>
          <a:ln w="28575">
            <a:solidFill>
              <a:srgbClr val="3D8DFF"/>
            </a:solidFill>
            <a:prstDash val="solid"/>
          </a:ln>
        </p:spPr>
      </p:cxnSp>
      <p:cxnSp>
        <p:nvCxnSpPr>
          <p:cNvPr id="39" name="Conector recto de flecha 38"/>
          <p:cNvCxnSpPr/>
          <p:nvPr/>
        </p:nvCxnSpPr>
        <p:spPr>
          <a:xfrm>
            <a:off x="9766300" y="3514725"/>
            <a:ext cx="228600" cy="0"/>
          </a:xfrm>
          <a:prstGeom prst="straightConnector1">
            <a:avLst/>
          </a:prstGeom>
          <a:ln w="28575">
            <a:solidFill>
              <a:srgbClr val="3D8DFF"/>
            </a:solidFill>
            <a:prstDash val="solid"/>
          </a:ln>
        </p:spPr>
      </p:cxnSp>
      <p:sp>
        <p:nvSpPr>
          <p:cNvPr id="11" name="Rectángulo: esquinas redondeadas 10">
            <a:extLst>
              <a:ext uri="{FF2B5EF4-FFF2-40B4-BE49-F238E27FC236}">
                <a16:creationId xmlns:a16="http://schemas.microsoft.com/office/drawing/2014/main" id="{AD2E89E9-A00A-4C9A-96B6-397EF09891D0}"/>
              </a:ext>
            </a:extLst>
          </p:cNvPr>
          <p:cNvSpPr>
            <a:spLocks noGrp="1"/>
          </p:cNvSpPr>
          <p:nvPr/>
        </p:nvSpPr>
        <p:spPr>
          <a:xfrm>
            <a:off x="533400" y="2857500"/>
            <a:ext cx="166370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2" name="Rectángulo 11">
            <a:extLst>
              <a:ext uri="{FF2B5EF4-FFF2-40B4-BE49-F238E27FC236}">
                <a16:creationId xmlns:a16="http://schemas.microsoft.com/office/drawing/2014/main" id="{BD964C05-AB36-4AE0-9FB8-E5AA7F6BF35F}"/>
              </a:ext>
            </a:extLst>
          </p:cNvPr>
          <p:cNvSpPr>
            <a:spLocks noGrp="1"/>
          </p:cNvSpPr>
          <p:nvPr/>
        </p:nvSpPr>
        <p:spPr>
          <a:xfrm>
            <a:off x="666750" y="29813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1</a:t>
            </a:r>
          </a:p>
        </p:txBody>
      </p:sp>
      <p:sp>
        <p:nvSpPr>
          <p:cNvPr id="13" name="Rectángulo 12">
            <a:extLst>
              <a:ext uri="{FF2B5EF4-FFF2-40B4-BE49-F238E27FC236}">
                <a16:creationId xmlns:a16="http://schemas.microsoft.com/office/drawing/2014/main" id="{C4C289EF-2444-4312-84C6-305FF2D8879C}"/>
              </a:ext>
            </a:extLst>
          </p:cNvPr>
          <p:cNvSpPr>
            <a:spLocks noGrp="1"/>
          </p:cNvSpPr>
          <p:nvPr/>
        </p:nvSpPr>
        <p:spPr>
          <a:xfrm>
            <a:off x="666750" y="3314700"/>
            <a:ext cx="139700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Registro</a:t>
            </a:r>
          </a:p>
        </p:txBody>
      </p:sp>
      <p:sp>
        <p:nvSpPr>
          <p:cNvPr id="14" name="Rectángulo: esquinas redondeadas 13">
            <a:extLst>
              <a:ext uri="{FF2B5EF4-FFF2-40B4-BE49-F238E27FC236}">
                <a16:creationId xmlns:a16="http://schemas.microsoft.com/office/drawing/2014/main" id="{3E286F2C-1389-42E4-A65F-C654653EDE57}"/>
              </a:ext>
            </a:extLst>
          </p:cNvPr>
          <p:cNvSpPr>
            <a:spLocks noGrp="1"/>
          </p:cNvSpPr>
          <p:nvPr/>
        </p:nvSpPr>
        <p:spPr>
          <a:xfrm>
            <a:off x="2425700" y="2857500"/>
            <a:ext cx="166370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5" name="Rectángulo 14">
            <a:extLst>
              <a:ext uri="{FF2B5EF4-FFF2-40B4-BE49-F238E27FC236}">
                <a16:creationId xmlns:a16="http://schemas.microsoft.com/office/drawing/2014/main" id="{F5B39321-3405-4A3C-B60A-C7DB89EA0E40}"/>
              </a:ext>
            </a:extLst>
          </p:cNvPr>
          <p:cNvSpPr>
            <a:spLocks noGrp="1"/>
          </p:cNvSpPr>
          <p:nvPr/>
        </p:nvSpPr>
        <p:spPr>
          <a:xfrm>
            <a:off x="2559050" y="29813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2</a:t>
            </a:r>
          </a:p>
        </p:txBody>
      </p:sp>
      <p:sp>
        <p:nvSpPr>
          <p:cNvPr id="16" name="Rectángulo 15">
            <a:extLst>
              <a:ext uri="{FF2B5EF4-FFF2-40B4-BE49-F238E27FC236}">
                <a16:creationId xmlns:a16="http://schemas.microsoft.com/office/drawing/2014/main" id="{C974634D-8888-44F4-B18D-57FF5B6C8C18}"/>
              </a:ext>
            </a:extLst>
          </p:cNvPr>
          <p:cNvSpPr>
            <a:spLocks noGrp="1"/>
          </p:cNvSpPr>
          <p:nvPr/>
        </p:nvSpPr>
        <p:spPr>
          <a:xfrm>
            <a:off x="2559050" y="3314700"/>
            <a:ext cx="139700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Confirmación</a:t>
            </a:r>
          </a:p>
        </p:txBody>
      </p:sp>
      <p:sp>
        <p:nvSpPr>
          <p:cNvPr id="17" name="Rectángulo: esquinas redondeadas 16">
            <a:extLst>
              <a:ext uri="{FF2B5EF4-FFF2-40B4-BE49-F238E27FC236}">
                <a16:creationId xmlns:a16="http://schemas.microsoft.com/office/drawing/2014/main" id="{CD0E60DE-BD1C-4EDF-BF27-1D31E728CD54}"/>
              </a:ext>
            </a:extLst>
          </p:cNvPr>
          <p:cNvSpPr>
            <a:spLocks noGrp="1"/>
          </p:cNvSpPr>
          <p:nvPr/>
        </p:nvSpPr>
        <p:spPr>
          <a:xfrm>
            <a:off x="4318000" y="2857500"/>
            <a:ext cx="166370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8" name="Rectángulo 17">
            <a:extLst>
              <a:ext uri="{FF2B5EF4-FFF2-40B4-BE49-F238E27FC236}">
                <a16:creationId xmlns:a16="http://schemas.microsoft.com/office/drawing/2014/main" id="{0DB45FFF-F262-4EA8-864C-9A2D427189CF}"/>
              </a:ext>
            </a:extLst>
          </p:cNvPr>
          <p:cNvSpPr>
            <a:spLocks noGrp="1"/>
          </p:cNvSpPr>
          <p:nvPr/>
        </p:nvSpPr>
        <p:spPr>
          <a:xfrm>
            <a:off x="4451350" y="29813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3</a:t>
            </a:r>
          </a:p>
        </p:txBody>
      </p:sp>
      <p:sp>
        <p:nvSpPr>
          <p:cNvPr id="19" name="Rectángulo 18">
            <a:extLst>
              <a:ext uri="{FF2B5EF4-FFF2-40B4-BE49-F238E27FC236}">
                <a16:creationId xmlns:a16="http://schemas.microsoft.com/office/drawing/2014/main" id="{C868A60A-D3D7-4A6B-BC0F-B3029713EF2E}"/>
              </a:ext>
            </a:extLst>
          </p:cNvPr>
          <p:cNvSpPr>
            <a:spLocks noGrp="1"/>
          </p:cNvSpPr>
          <p:nvPr/>
        </p:nvSpPr>
        <p:spPr>
          <a:xfrm>
            <a:off x="4451350" y="3314700"/>
            <a:ext cx="139700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Inicio de sesión</a:t>
            </a:r>
          </a:p>
        </p:txBody>
      </p:sp>
      <p:sp>
        <p:nvSpPr>
          <p:cNvPr id="20" name="Rectángulo: esquinas redondeadas 19">
            <a:extLst>
              <a:ext uri="{FF2B5EF4-FFF2-40B4-BE49-F238E27FC236}">
                <a16:creationId xmlns:a16="http://schemas.microsoft.com/office/drawing/2014/main" id="{429663F7-98E7-4027-8419-636186932106}"/>
              </a:ext>
            </a:extLst>
          </p:cNvPr>
          <p:cNvSpPr>
            <a:spLocks noGrp="1"/>
          </p:cNvSpPr>
          <p:nvPr/>
        </p:nvSpPr>
        <p:spPr>
          <a:xfrm>
            <a:off x="6210300" y="2857500"/>
            <a:ext cx="166370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21" name="Rectángulo 20">
            <a:extLst>
              <a:ext uri="{FF2B5EF4-FFF2-40B4-BE49-F238E27FC236}">
                <a16:creationId xmlns:a16="http://schemas.microsoft.com/office/drawing/2014/main" id="{1B54C911-13AC-475B-AA16-42D4D32FA21E}"/>
              </a:ext>
            </a:extLst>
          </p:cNvPr>
          <p:cNvSpPr>
            <a:spLocks noGrp="1"/>
          </p:cNvSpPr>
          <p:nvPr/>
        </p:nvSpPr>
        <p:spPr>
          <a:xfrm>
            <a:off x="6343650" y="29813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4</a:t>
            </a:r>
          </a:p>
        </p:txBody>
      </p:sp>
      <p:sp>
        <p:nvSpPr>
          <p:cNvPr id="22" name="Rectángulo 21">
            <a:extLst>
              <a:ext uri="{FF2B5EF4-FFF2-40B4-BE49-F238E27FC236}">
                <a16:creationId xmlns:a16="http://schemas.microsoft.com/office/drawing/2014/main" id="{43B9CFCB-9668-4ABD-A964-350C9770CC55}"/>
              </a:ext>
            </a:extLst>
          </p:cNvPr>
          <p:cNvSpPr>
            <a:spLocks noGrp="1"/>
          </p:cNvSpPr>
          <p:nvPr/>
        </p:nvSpPr>
        <p:spPr>
          <a:xfrm>
            <a:off x="6343650" y="3314700"/>
            <a:ext cx="139700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Cookie</a:t>
            </a:r>
          </a:p>
        </p:txBody>
      </p:sp>
      <p:sp>
        <p:nvSpPr>
          <p:cNvPr id="23" name="Rectángulo: esquinas redondeadas 22">
            <a:extLst>
              <a:ext uri="{FF2B5EF4-FFF2-40B4-BE49-F238E27FC236}">
                <a16:creationId xmlns:a16="http://schemas.microsoft.com/office/drawing/2014/main" id="{5AADBA8E-B7E7-4E95-9477-32FFF5E7D881}"/>
              </a:ext>
            </a:extLst>
          </p:cNvPr>
          <p:cNvSpPr>
            <a:spLocks noGrp="1"/>
          </p:cNvSpPr>
          <p:nvPr/>
        </p:nvSpPr>
        <p:spPr>
          <a:xfrm>
            <a:off x="8102600" y="2857500"/>
            <a:ext cx="166370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24" name="Rectángulo 23">
            <a:extLst>
              <a:ext uri="{FF2B5EF4-FFF2-40B4-BE49-F238E27FC236}">
                <a16:creationId xmlns:a16="http://schemas.microsoft.com/office/drawing/2014/main" id="{EC1615E3-F433-4ED3-8CC4-5E2883164886}"/>
              </a:ext>
            </a:extLst>
          </p:cNvPr>
          <p:cNvSpPr>
            <a:spLocks noGrp="1"/>
          </p:cNvSpPr>
          <p:nvPr/>
        </p:nvSpPr>
        <p:spPr>
          <a:xfrm>
            <a:off x="8235950" y="29813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5</a:t>
            </a:r>
          </a:p>
        </p:txBody>
      </p:sp>
      <p:sp>
        <p:nvSpPr>
          <p:cNvPr id="25" name="Rectángulo 24">
            <a:extLst>
              <a:ext uri="{FF2B5EF4-FFF2-40B4-BE49-F238E27FC236}">
                <a16:creationId xmlns:a16="http://schemas.microsoft.com/office/drawing/2014/main" id="{EBE18572-0E09-479F-B6D5-8158CB3B0BA1}"/>
              </a:ext>
            </a:extLst>
          </p:cNvPr>
          <p:cNvSpPr>
            <a:spLocks noGrp="1"/>
          </p:cNvSpPr>
          <p:nvPr/>
        </p:nvSpPr>
        <p:spPr>
          <a:xfrm>
            <a:off x="8235950" y="3314700"/>
            <a:ext cx="139700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Autorización</a:t>
            </a:r>
          </a:p>
        </p:txBody>
      </p:sp>
      <p:sp>
        <p:nvSpPr>
          <p:cNvPr id="26" name="Rectángulo: esquinas redondeadas 25">
            <a:extLst>
              <a:ext uri="{FF2B5EF4-FFF2-40B4-BE49-F238E27FC236}">
                <a16:creationId xmlns:a16="http://schemas.microsoft.com/office/drawing/2014/main" id="{F9297850-95B2-4E36-89AF-CD36268DD2CF}"/>
              </a:ext>
            </a:extLst>
          </p:cNvPr>
          <p:cNvSpPr>
            <a:spLocks noGrp="1"/>
          </p:cNvSpPr>
          <p:nvPr/>
        </p:nvSpPr>
        <p:spPr>
          <a:xfrm>
            <a:off x="9994900" y="2857500"/>
            <a:ext cx="1663700" cy="1314450"/>
          </a:xfrm>
          <a:prstGeom prst="roundRect">
            <a:avLst>
              <a:gd name="adj" fmla="val 8696"/>
            </a:avLst>
          </a:prstGeom>
          <a:solidFill>
            <a:srgbClr val="DCEEFF"/>
          </a:solidFill>
          <a:ln w="9525">
            <a:solidFill>
              <a:srgbClr val="B8BCC4"/>
            </a:solidFill>
            <a:prstDash val="solid"/>
          </a:ln>
        </p:spPr>
        <p:txBody>
          <a:bodyPr/>
          <a:lstStyle/>
          <a:p>
            <a:endParaRPr lang="es-ES"/>
          </a:p>
        </p:txBody>
      </p:sp>
      <p:sp>
        <p:nvSpPr>
          <p:cNvPr id="27" name="Rectángulo 26">
            <a:extLst>
              <a:ext uri="{FF2B5EF4-FFF2-40B4-BE49-F238E27FC236}">
                <a16:creationId xmlns:a16="http://schemas.microsoft.com/office/drawing/2014/main" id="{B2337414-6E03-495F-A6E7-D13A33851DB8}"/>
              </a:ext>
            </a:extLst>
          </p:cNvPr>
          <p:cNvSpPr>
            <a:spLocks noGrp="1"/>
          </p:cNvSpPr>
          <p:nvPr/>
        </p:nvSpPr>
        <p:spPr>
          <a:xfrm>
            <a:off x="10128250" y="29813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6</a:t>
            </a:r>
          </a:p>
        </p:txBody>
      </p:sp>
      <p:sp>
        <p:nvSpPr>
          <p:cNvPr id="28" name="Rectángulo 27">
            <a:extLst>
              <a:ext uri="{FF2B5EF4-FFF2-40B4-BE49-F238E27FC236}">
                <a16:creationId xmlns:a16="http://schemas.microsoft.com/office/drawing/2014/main" id="{7D15BBF6-3F50-4ABA-A3CB-13B75B7B8A9A}"/>
              </a:ext>
            </a:extLst>
          </p:cNvPr>
          <p:cNvSpPr>
            <a:spLocks noGrp="1"/>
          </p:cNvSpPr>
          <p:nvPr/>
        </p:nvSpPr>
        <p:spPr>
          <a:xfrm>
            <a:off x="10128250" y="3314700"/>
            <a:ext cx="139700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Cierre</a:t>
            </a:r>
          </a:p>
        </p:txBody>
      </p:sp>
      <p:sp>
        <p:nvSpPr>
          <p:cNvPr id="29" name="Rectángulo 28">
            <a:extLst>
              <a:ext uri="{FF2B5EF4-FFF2-40B4-BE49-F238E27FC236}">
                <a16:creationId xmlns:a16="http://schemas.microsoft.com/office/drawing/2014/main" id="{4544DDE7-25FE-4295-AB46-7E6F09E19201}"/>
              </a:ext>
            </a:extLst>
          </p:cNvPr>
          <p:cNvSpPr>
            <a:spLocks noGrp="1"/>
          </p:cNvSpPr>
          <p:nvPr/>
        </p:nvSpPr>
        <p:spPr>
          <a:xfrm>
            <a:off x="857250" y="4572000"/>
            <a:ext cx="10477500" cy="590550"/>
          </a:xfrm>
          <a:prstGeom prst="rect">
            <a:avLst/>
          </a:prstGeom>
          <a:noFill/>
          <a:ln w="0">
            <a:noFill/>
            <a:prstDash val="solid"/>
          </a:ln>
        </p:spPr>
        <p:txBody>
          <a:bodyPr wrap="square" lIns="0" tIns="0" rIns="0" bIns="0" anchor="t">
            <a:normAutofit/>
          </a:bodyPr>
          <a:lstStyle/>
          <a:p>
            <a:pPr algn="ctr">
              <a:defRPr sz="1650" b="0">
                <a:solidFill>
                  <a:srgbClr val="565E6B"/>
                </a:solidFill>
                <a:latin typeface="Arial"/>
                <a:ea typeface="Arial"/>
                <a:cs typeface="Arial"/>
              </a:defRPr>
            </a:pPr>
            <a:r>
              <a:rPr sz="1650" b="0">
                <a:solidFill>
                  <a:srgbClr val="565E6B"/>
                </a:solidFill>
                <a:latin typeface="Arial"/>
                <a:ea typeface="Arial"/>
                <a:cs typeface="Arial"/>
              </a:rPr>
              <a:t>Durante la vida de la cuenta también hay cambios de contraseña, recuperación, bloqueo, datos personales y revocación de sesiones.</a:t>
            </a:r>
          </a:p>
        </p:txBody>
      </p:sp>
    </p:spTree>
    <p:extLst>
      <p:ext uri="{BB962C8B-B14F-4D97-AF65-F5344CB8AC3E}">
        <p14:creationId xmlns:p14="http://schemas.microsoft.com/office/powerpoint/2010/main" val="125189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41C3AFEC-E78B-46B0-B8C3-45DF78E8129A}"/>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6">
            <a:extLst>
              <a:ext uri="{FF2B5EF4-FFF2-40B4-BE49-F238E27FC236}">
                <a16:creationId xmlns:a16="http://schemas.microsoft.com/office/drawing/2014/main" id="{182BB467-1560-48A7-8F8F-65533690DD23}"/>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Identity conecta la petición HTTP con la base de datos</a:t>
            </a:r>
          </a:p>
        </p:txBody>
      </p:sp>
      <p:cxnSp>
        <p:nvCxnSpPr>
          <p:cNvPr id="28" name="Conector recto de flecha 27"/>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31896BB3-8260-4398-8AD4-7FB08EB5FCDF}"/>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DC73D832-1688-4898-B1D3-FD0BF66C0FBB}"/>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6</a:t>
            </a:r>
          </a:p>
        </p:txBody>
      </p:sp>
      <p:cxnSp>
        <p:nvCxnSpPr>
          <p:cNvPr id="31" name="Conector recto de flecha 30"/>
          <p:cNvCxnSpPr/>
          <p:nvPr/>
        </p:nvCxnSpPr>
        <p:spPr>
          <a:xfrm>
            <a:off x="1847850" y="3257550"/>
            <a:ext cx="552450" cy="0"/>
          </a:xfrm>
          <a:prstGeom prst="straightConnector1">
            <a:avLst/>
          </a:prstGeom>
          <a:ln w="28575">
            <a:solidFill>
              <a:srgbClr val="3D8DFF"/>
            </a:solidFill>
            <a:prstDash val="solid"/>
          </a:ln>
        </p:spPr>
      </p:cxnSp>
      <p:cxnSp>
        <p:nvCxnSpPr>
          <p:cNvPr id="32" name="Conector recto de flecha 31"/>
          <p:cNvCxnSpPr/>
          <p:nvPr/>
        </p:nvCxnSpPr>
        <p:spPr>
          <a:xfrm>
            <a:off x="4210050" y="3257550"/>
            <a:ext cx="552450" cy="0"/>
          </a:xfrm>
          <a:prstGeom prst="straightConnector1">
            <a:avLst/>
          </a:prstGeom>
          <a:ln w="28575">
            <a:solidFill>
              <a:srgbClr val="3D8DFF"/>
            </a:solidFill>
            <a:prstDash val="solid"/>
          </a:ln>
        </p:spPr>
      </p:cxnSp>
      <p:cxnSp>
        <p:nvCxnSpPr>
          <p:cNvPr id="33" name="Conector recto de flecha 32"/>
          <p:cNvCxnSpPr/>
          <p:nvPr/>
        </p:nvCxnSpPr>
        <p:spPr>
          <a:xfrm>
            <a:off x="6572250" y="3257550"/>
            <a:ext cx="552450" cy="0"/>
          </a:xfrm>
          <a:prstGeom prst="straightConnector1">
            <a:avLst/>
          </a:prstGeom>
          <a:ln w="28575">
            <a:solidFill>
              <a:srgbClr val="3D8DFF"/>
            </a:solidFill>
            <a:prstDash val="solid"/>
          </a:ln>
        </p:spPr>
      </p:cxnSp>
      <p:cxnSp>
        <p:nvCxnSpPr>
          <p:cNvPr id="34" name="Conector recto de flecha 33"/>
          <p:cNvCxnSpPr/>
          <p:nvPr/>
        </p:nvCxnSpPr>
        <p:spPr>
          <a:xfrm>
            <a:off x="8934450" y="3257550"/>
            <a:ext cx="552450" cy="0"/>
          </a:xfrm>
          <a:prstGeom prst="straightConnector1">
            <a:avLst/>
          </a:prstGeom>
          <a:ln w="28575">
            <a:solidFill>
              <a:srgbClr val="3D8DFF"/>
            </a:solidFill>
            <a:prstDash val="solid"/>
          </a:ln>
        </p:spPr>
      </p:cxnSp>
      <p:sp>
        <p:nvSpPr>
          <p:cNvPr id="10" name="Rectángulo: esquinas redondeadas 9">
            <a:extLst>
              <a:ext uri="{FF2B5EF4-FFF2-40B4-BE49-F238E27FC236}">
                <a16:creationId xmlns:a16="http://schemas.microsoft.com/office/drawing/2014/main" id="{C5EB6884-7F97-45C1-ABC0-2CDCEB06C9DC}"/>
              </a:ext>
            </a:extLst>
          </p:cNvPr>
          <p:cNvSpPr>
            <a:spLocks noGrp="1"/>
          </p:cNvSpPr>
          <p:nvPr/>
        </p:nvSpPr>
        <p:spPr>
          <a:xfrm>
            <a:off x="419100" y="2476500"/>
            <a:ext cx="1428750" cy="1562100"/>
          </a:xfrm>
          <a:prstGeom prst="roundRect">
            <a:avLst>
              <a:gd name="adj" fmla="val 8000"/>
            </a:avLst>
          </a:prstGeom>
          <a:solidFill>
            <a:srgbClr val="F6F7F8"/>
          </a:solidFill>
          <a:ln w="9525">
            <a:solidFill>
              <a:srgbClr val="B8BCC4"/>
            </a:solidFill>
            <a:prstDash val="solid"/>
          </a:ln>
        </p:spPr>
        <p:txBody>
          <a:bodyPr/>
          <a:lstStyle/>
          <a:p>
            <a:endParaRPr lang="es-ES"/>
          </a:p>
        </p:txBody>
      </p:sp>
      <p:sp>
        <p:nvSpPr>
          <p:cNvPr id="11" name="Rectángulo 10">
            <a:extLst>
              <a:ext uri="{FF2B5EF4-FFF2-40B4-BE49-F238E27FC236}">
                <a16:creationId xmlns:a16="http://schemas.microsoft.com/office/drawing/2014/main" id="{F348936E-ED69-4C74-967E-EEB43CDD4A4D}"/>
              </a:ext>
            </a:extLst>
          </p:cNvPr>
          <p:cNvSpPr>
            <a:spLocks noGrp="1"/>
          </p:cNvSpPr>
          <p:nvPr/>
        </p:nvSpPr>
        <p:spPr>
          <a:xfrm>
            <a:off x="561975" y="2743200"/>
            <a:ext cx="1143000" cy="400050"/>
          </a:xfrm>
          <a:prstGeom prst="rect">
            <a:avLst/>
          </a:prstGeom>
          <a:noFill/>
          <a:ln w="0">
            <a:noFill/>
            <a:prstDash val="solid"/>
          </a:ln>
        </p:spPr>
        <p:txBody>
          <a:bodyPr wrap="square" lIns="0" tIns="0" rIns="0" bIns="0" anchor="t">
            <a:norm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Navegador</a:t>
            </a:r>
          </a:p>
        </p:txBody>
      </p:sp>
      <p:sp>
        <p:nvSpPr>
          <p:cNvPr id="12" name="Rectángulo 11">
            <a:extLst>
              <a:ext uri="{FF2B5EF4-FFF2-40B4-BE49-F238E27FC236}">
                <a16:creationId xmlns:a16="http://schemas.microsoft.com/office/drawing/2014/main" id="{7BDC83E4-BE27-4D62-AB1C-E43CA0EE28A8}"/>
              </a:ext>
            </a:extLst>
          </p:cNvPr>
          <p:cNvSpPr>
            <a:spLocks noGrp="1"/>
          </p:cNvSpPr>
          <p:nvPr/>
        </p:nvSpPr>
        <p:spPr>
          <a:xfrm>
            <a:off x="561975" y="3286125"/>
            <a:ext cx="1143000" cy="47625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Formulario y cookie</a:t>
            </a:r>
          </a:p>
        </p:txBody>
      </p:sp>
      <p:sp>
        <p:nvSpPr>
          <p:cNvPr id="13" name="Rectángulo: esquinas redondeadas 12">
            <a:extLst>
              <a:ext uri="{FF2B5EF4-FFF2-40B4-BE49-F238E27FC236}">
                <a16:creationId xmlns:a16="http://schemas.microsoft.com/office/drawing/2014/main" id="{CEA274EE-CFA6-4DB7-A478-D9A7AE1D14C4}"/>
              </a:ext>
            </a:extLst>
          </p:cNvPr>
          <p:cNvSpPr>
            <a:spLocks noGrp="1"/>
          </p:cNvSpPr>
          <p:nvPr/>
        </p:nvSpPr>
        <p:spPr>
          <a:xfrm>
            <a:off x="2781300" y="2476500"/>
            <a:ext cx="1428750" cy="1562100"/>
          </a:xfrm>
          <a:prstGeom prst="roundRect">
            <a:avLst>
              <a:gd name="adj" fmla="val 8000"/>
            </a:avLst>
          </a:prstGeom>
          <a:solidFill>
            <a:srgbClr val="F6F7F8"/>
          </a:solidFill>
          <a:ln w="9525">
            <a:solidFill>
              <a:srgbClr val="B8BCC4"/>
            </a:solidFill>
            <a:prstDash val="solid"/>
          </a:ln>
        </p:spPr>
        <p:txBody>
          <a:bodyPr/>
          <a:lstStyle/>
          <a:p>
            <a:endParaRPr lang="es-ES"/>
          </a:p>
        </p:txBody>
      </p:sp>
      <p:sp>
        <p:nvSpPr>
          <p:cNvPr id="14" name="Rectángulo 13">
            <a:extLst>
              <a:ext uri="{FF2B5EF4-FFF2-40B4-BE49-F238E27FC236}">
                <a16:creationId xmlns:a16="http://schemas.microsoft.com/office/drawing/2014/main" id="{09F47A17-5ECD-4AF6-8024-279E50044AE7}"/>
              </a:ext>
            </a:extLst>
          </p:cNvPr>
          <p:cNvSpPr>
            <a:spLocks noGrp="1"/>
          </p:cNvSpPr>
          <p:nvPr/>
        </p:nvSpPr>
        <p:spPr>
          <a:xfrm>
            <a:off x="2924175" y="2743200"/>
            <a:ext cx="1143000" cy="400050"/>
          </a:xfrm>
          <a:prstGeom prst="rect">
            <a:avLst/>
          </a:prstGeom>
          <a:noFill/>
          <a:ln w="0">
            <a:noFill/>
            <a:prstDash val="solid"/>
          </a:ln>
        </p:spPr>
        <p:txBody>
          <a:bodyPr wrap="square" lIns="0" tIns="0" rIns="0" bIns="0" anchor="t">
            <a:norm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Middleware</a:t>
            </a:r>
          </a:p>
        </p:txBody>
      </p:sp>
      <p:sp>
        <p:nvSpPr>
          <p:cNvPr id="15" name="Rectángulo 14">
            <a:extLst>
              <a:ext uri="{FF2B5EF4-FFF2-40B4-BE49-F238E27FC236}">
                <a16:creationId xmlns:a16="http://schemas.microsoft.com/office/drawing/2014/main" id="{572BBA9B-2B08-493E-A513-C2D4F2237DDF}"/>
              </a:ext>
            </a:extLst>
          </p:cNvPr>
          <p:cNvSpPr>
            <a:spLocks noGrp="1"/>
          </p:cNvSpPr>
          <p:nvPr/>
        </p:nvSpPr>
        <p:spPr>
          <a:xfrm>
            <a:off x="2924175" y="3286125"/>
            <a:ext cx="1143000" cy="47625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Autentica la petición</a:t>
            </a:r>
          </a:p>
        </p:txBody>
      </p:sp>
      <p:sp>
        <p:nvSpPr>
          <p:cNvPr id="16" name="Rectángulo: esquinas redondeadas 15">
            <a:extLst>
              <a:ext uri="{FF2B5EF4-FFF2-40B4-BE49-F238E27FC236}">
                <a16:creationId xmlns:a16="http://schemas.microsoft.com/office/drawing/2014/main" id="{54172B6A-118E-47C3-A084-BABA9A926F43}"/>
              </a:ext>
            </a:extLst>
          </p:cNvPr>
          <p:cNvSpPr>
            <a:spLocks noGrp="1"/>
          </p:cNvSpPr>
          <p:nvPr/>
        </p:nvSpPr>
        <p:spPr>
          <a:xfrm>
            <a:off x="5143500" y="2476500"/>
            <a:ext cx="1428750" cy="1562100"/>
          </a:xfrm>
          <a:prstGeom prst="roundRect">
            <a:avLst>
              <a:gd name="adj" fmla="val 8000"/>
            </a:avLst>
          </a:prstGeom>
          <a:solidFill>
            <a:srgbClr val="DCEEFF"/>
          </a:solidFill>
          <a:ln w="9525">
            <a:solidFill>
              <a:srgbClr val="B8BCC4"/>
            </a:solidFill>
            <a:prstDash val="solid"/>
          </a:ln>
        </p:spPr>
        <p:txBody>
          <a:bodyPr/>
          <a:lstStyle/>
          <a:p>
            <a:endParaRPr lang="es-ES"/>
          </a:p>
        </p:txBody>
      </p:sp>
      <p:sp>
        <p:nvSpPr>
          <p:cNvPr id="17" name="Rectángulo 16">
            <a:extLst>
              <a:ext uri="{FF2B5EF4-FFF2-40B4-BE49-F238E27FC236}">
                <a16:creationId xmlns:a16="http://schemas.microsoft.com/office/drawing/2014/main" id="{B54E7928-136E-44A8-87B7-7E96885990A0}"/>
              </a:ext>
            </a:extLst>
          </p:cNvPr>
          <p:cNvSpPr>
            <a:spLocks noGrp="1"/>
          </p:cNvSpPr>
          <p:nvPr/>
        </p:nvSpPr>
        <p:spPr>
          <a:xfrm>
            <a:off x="5286375" y="2743200"/>
            <a:ext cx="1143000" cy="400050"/>
          </a:xfrm>
          <a:prstGeom prst="rect">
            <a:avLst/>
          </a:prstGeom>
          <a:noFill/>
          <a:ln w="0">
            <a:noFill/>
            <a:prstDash val="solid"/>
          </a:ln>
        </p:spPr>
        <p:txBody>
          <a:bodyPr wrap="square" lIns="0" tIns="0" rIns="0" bIns="0" anchor="t">
            <a:norm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Managers</a:t>
            </a:r>
          </a:p>
        </p:txBody>
      </p:sp>
      <p:sp>
        <p:nvSpPr>
          <p:cNvPr id="18" name="Rectángulo 17">
            <a:extLst>
              <a:ext uri="{FF2B5EF4-FFF2-40B4-BE49-F238E27FC236}">
                <a16:creationId xmlns:a16="http://schemas.microsoft.com/office/drawing/2014/main" id="{C06B6CCE-123D-4DE2-88CC-1C529BD3134A}"/>
              </a:ext>
            </a:extLst>
          </p:cNvPr>
          <p:cNvSpPr>
            <a:spLocks noGrp="1"/>
          </p:cNvSpPr>
          <p:nvPr/>
        </p:nvSpPr>
        <p:spPr>
          <a:xfrm>
            <a:off x="5286375" y="3286125"/>
            <a:ext cx="1143000" cy="47625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Reglas y operaciones</a:t>
            </a:r>
          </a:p>
        </p:txBody>
      </p:sp>
      <p:sp>
        <p:nvSpPr>
          <p:cNvPr id="19" name="Rectángulo: esquinas redondeadas 18">
            <a:extLst>
              <a:ext uri="{FF2B5EF4-FFF2-40B4-BE49-F238E27FC236}">
                <a16:creationId xmlns:a16="http://schemas.microsoft.com/office/drawing/2014/main" id="{2543E824-9ECC-4928-B1F3-204C78B3BD12}"/>
              </a:ext>
            </a:extLst>
          </p:cNvPr>
          <p:cNvSpPr>
            <a:spLocks noGrp="1"/>
          </p:cNvSpPr>
          <p:nvPr/>
        </p:nvSpPr>
        <p:spPr>
          <a:xfrm>
            <a:off x="7505700" y="2476500"/>
            <a:ext cx="1428750" cy="1562100"/>
          </a:xfrm>
          <a:prstGeom prst="roundRect">
            <a:avLst>
              <a:gd name="adj" fmla="val 8000"/>
            </a:avLst>
          </a:prstGeom>
          <a:solidFill>
            <a:srgbClr val="F6F7F8"/>
          </a:solidFill>
          <a:ln w="9525">
            <a:solidFill>
              <a:srgbClr val="B8BCC4"/>
            </a:solidFill>
            <a:prstDash val="solid"/>
          </a:ln>
        </p:spPr>
        <p:txBody>
          <a:bodyPr/>
          <a:lstStyle/>
          <a:p>
            <a:endParaRPr lang="es-ES"/>
          </a:p>
        </p:txBody>
      </p:sp>
      <p:sp>
        <p:nvSpPr>
          <p:cNvPr id="20" name="Rectángulo 19">
            <a:extLst>
              <a:ext uri="{FF2B5EF4-FFF2-40B4-BE49-F238E27FC236}">
                <a16:creationId xmlns:a16="http://schemas.microsoft.com/office/drawing/2014/main" id="{C6B57295-8E2C-4BDF-8D24-38715A931D67}"/>
              </a:ext>
            </a:extLst>
          </p:cNvPr>
          <p:cNvSpPr>
            <a:spLocks noGrp="1"/>
          </p:cNvSpPr>
          <p:nvPr/>
        </p:nvSpPr>
        <p:spPr>
          <a:xfrm>
            <a:off x="7648575" y="2743200"/>
            <a:ext cx="1143000" cy="400050"/>
          </a:xfrm>
          <a:prstGeom prst="rect">
            <a:avLst/>
          </a:prstGeom>
          <a:noFill/>
          <a:ln w="0">
            <a:noFill/>
            <a:prstDash val="solid"/>
          </a:ln>
        </p:spPr>
        <p:txBody>
          <a:bodyPr wrap="square" lIns="0" tIns="0" rIns="0" bIns="0" anchor="t">
            <a:normAutofit fontScale="90002"/>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Store EF Core</a:t>
            </a:r>
          </a:p>
        </p:txBody>
      </p:sp>
      <p:sp>
        <p:nvSpPr>
          <p:cNvPr id="21" name="Rectángulo 20">
            <a:extLst>
              <a:ext uri="{FF2B5EF4-FFF2-40B4-BE49-F238E27FC236}">
                <a16:creationId xmlns:a16="http://schemas.microsoft.com/office/drawing/2014/main" id="{79642F13-7552-4F2A-BC62-D0EF3E5E3BBC}"/>
              </a:ext>
            </a:extLst>
          </p:cNvPr>
          <p:cNvSpPr>
            <a:spLocks noGrp="1"/>
          </p:cNvSpPr>
          <p:nvPr/>
        </p:nvSpPr>
        <p:spPr>
          <a:xfrm>
            <a:off x="7648575" y="3286125"/>
            <a:ext cx="1143000" cy="47625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Persistencia</a:t>
            </a:r>
          </a:p>
        </p:txBody>
      </p:sp>
      <p:sp>
        <p:nvSpPr>
          <p:cNvPr id="22" name="Rectángulo: esquinas redondeadas 21">
            <a:extLst>
              <a:ext uri="{FF2B5EF4-FFF2-40B4-BE49-F238E27FC236}">
                <a16:creationId xmlns:a16="http://schemas.microsoft.com/office/drawing/2014/main" id="{72201A91-0B67-4714-816F-C3A42E75C038}"/>
              </a:ext>
            </a:extLst>
          </p:cNvPr>
          <p:cNvSpPr>
            <a:spLocks noGrp="1"/>
          </p:cNvSpPr>
          <p:nvPr/>
        </p:nvSpPr>
        <p:spPr>
          <a:xfrm>
            <a:off x="9867900" y="2476500"/>
            <a:ext cx="1428750" cy="1562100"/>
          </a:xfrm>
          <a:prstGeom prst="roundRect">
            <a:avLst>
              <a:gd name="adj" fmla="val 8000"/>
            </a:avLst>
          </a:prstGeom>
          <a:solidFill>
            <a:srgbClr val="F6F7F8"/>
          </a:solidFill>
          <a:ln w="9525">
            <a:solidFill>
              <a:srgbClr val="B8BCC4"/>
            </a:solidFill>
            <a:prstDash val="solid"/>
          </a:ln>
        </p:spPr>
        <p:txBody>
          <a:bodyPr/>
          <a:lstStyle/>
          <a:p>
            <a:endParaRPr lang="es-ES"/>
          </a:p>
        </p:txBody>
      </p:sp>
      <p:sp>
        <p:nvSpPr>
          <p:cNvPr id="23" name="Rectángulo 22">
            <a:extLst>
              <a:ext uri="{FF2B5EF4-FFF2-40B4-BE49-F238E27FC236}">
                <a16:creationId xmlns:a16="http://schemas.microsoft.com/office/drawing/2014/main" id="{9FD5CE59-9C3D-4440-9835-489AAD69F6B5}"/>
              </a:ext>
            </a:extLst>
          </p:cNvPr>
          <p:cNvSpPr>
            <a:spLocks noGrp="1"/>
          </p:cNvSpPr>
          <p:nvPr/>
        </p:nvSpPr>
        <p:spPr>
          <a:xfrm>
            <a:off x="10010775" y="2743200"/>
            <a:ext cx="1143000" cy="400050"/>
          </a:xfrm>
          <a:prstGeom prst="rect">
            <a:avLst/>
          </a:prstGeom>
          <a:noFill/>
          <a:ln w="0">
            <a:noFill/>
            <a:prstDash val="solid"/>
          </a:ln>
        </p:spPr>
        <p:txBody>
          <a:bodyPr wrap="square" lIns="0" tIns="0" rIns="0" bIns="0" anchor="t">
            <a:normAutofit fontScale="98202"/>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SQLite / SQL</a:t>
            </a:r>
          </a:p>
        </p:txBody>
      </p:sp>
      <p:sp>
        <p:nvSpPr>
          <p:cNvPr id="24" name="Rectángulo 23">
            <a:extLst>
              <a:ext uri="{FF2B5EF4-FFF2-40B4-BE49-F238E27FC236}">
                <a16:creationId xmlns:a16="http://schemas.microsoft.com/office/drawing/2014/main" id="{30898419-B06E-4671-A420-AA9D57387898}"/>
              </a:ext>
            </a:extLst>
          </p:cNvPr>
          <p:cNvSpPr>
            <a:spLocks noGrp="1"/>
          </p:cNvSpPr>
          <p:nvPr/>
        </p:nvSpPr>
        <p:spPr>
          <a:xfrm>
            <a:off x="10010775" y="3286125"/>
            <a:ext cx="1143000" cy="47625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Tablas Identity</a:t>
            </a:r>
          </a:p>
        </p:txBody>
      </p:sp>
      <p:sp>
        <p:nvSpPr>
          <p:cNvPr id="25" name="Rectángulo 24">
            <a:extLst>
              <a:ext uri="{FF2B5EF4-FFF2-40B4-BE49-F238E27FC236}">
                <a16:creationId xmlns:a16="http://schemas.microsoft.com/office/drawing/2014/main" id="{43A3A93E-3FA5-4F2E-B4DD-5CA4D61B9DD9}"/>
              </a:ext>
            </a:extLst>
          </p:cNvPr>
          <p:cNvSpPr>
            <a:spLocks noGrp="1"/>
          </p:cNvSpPr>
          <p:nvPr/>
        </p:nvSpPr>
        <p:spPr>
          <a:xfrm>
            <a:off x="1143000" y="4667250"/>
            <a:ext cx="9906000" cy="495300"/>
          </a:xfrm>
          <a:prstGeom prst="rect">
            <a:avLst/>
          </a:prstGeom>
          <a:noFill/>
          <a:ln w="0">
            <a:noFill/>
            <a:prstDash val="solid"/>
          </a:ln>
        </p:spPr>
        <p:txBody>
          <a:bodyPr wrap="square" lIns="0" tIns="0" rIns="0" bIns="0" anchor="t">
            <a:normAutofit/>
          </a:bodyPr>
          <a:lstStyle/>
          <a:p>
            <a:pPr algn="ctr">
              <a:defRPr sz="1725" b="1">
                <a:solidFill>
                  <a:srgbClr val="000000"/>
                </a:solidFill>
                <a:latin typeface="Arial"/>
                <a:ea typeface="Arial"/>
                <a:cs typeface="Arial"/>
              </a:defRPr>
            </a:pPr>
            <a:r>
              <a:rPr sz="1725" b="1">
                <a:solidFill>
                  <a:srgbClr val="000000"/>
                </a:solidFill>
                <a:latin typeface="Arial"/>
                <a:ea typeface="Arial"/>
                <a:cs typeface="Arial"/>
              </a:rPr>
              <a:t>Las páginas dependen de abstracciones; el proveedor de almacenamiento puede cambiar.</a:t>
            </a:r>
          </a:p>
        </p:txBody>
      </p:sp>
    </p:spTree>
    <p:extLst>
      <p:ext uri="{BB962C8B-B14F-4D97-AF65-F5344CB8AC3E}">
        <p14:creationId xmlns:p14="http://schemas.microsoft.com/office/powerpoint/2010/main" val="1000316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BC9310C-69FB-4C25-BCD4-F6A7DEEF4F26}"/>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7">
            <a:extLst>
              <a:ext uri="{FF2B5EF4-FFF2-40B4-BE49-F238E27FC236}">
                <a16:creationId xmlns:a16="http://schemas.microsoft.com/office/drawing/2014/main" id="{C7F1B21E-8920-46CE-8AA9-E24ED7C14E07}"/>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Cuatro piezas concentran casi todo el trabajo diario</a:t>
            </a:r>
          </a:p>
        </p:txBody>
      </p:sp>
      <p:cxnSp>
        <p:nvCxnSpPr>
          <p:cNvPr id="20" name="Conector recto de flecha 19"/>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59B1AF8B-8A11-4943-99BD-23428114F854}"/>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A0213A2E-F757-4FEF-90D4-C82D480C14A0}"/>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7</a:t>
            </a:r>
          </a:p>
        </p:txBody>
      </p:sp>
      <p:sp>
        <p:nvSpPr>
          <p:cNvPr id="6" name="Rectángulo: esquinas redondeadas 5">
            <a:extLst>
              <a:ext uri="{FF2B5EF4-FFF2-40B4-BE49-F238E27FC236}">
                <a16:creationId xmlns:a16="http://schemas.microsoft.com/office/drawing/2014/main" id="{5E0682C8-626A-4032-8D84-6AB599B6D079}"/>
              </a:ext>
            </a:extLst>
          </p:cNvPr>
          <p:cNvSpPr>
            <a:spLocks noGrp="1"/>
          </p:cNvSpPr>
          <p:nvPr/>
        </p:nvSpPr>
        <p:spPr>
          <a:xfrm>
            <a:off x="400050" y="1866900"/>
            <a:ext cx="5448300" cy="1733550"/>
          </a:xfrm>
          <a:prstGeom prst="roundRect">
            <a:avLst>
              <a:gd name="adj" fmla="val 6593"/>
            </a:avLst>
          </a:prstGeom>
          <a:solidFill>
            <a:srgbClr val="F6F7F8"/>
          </a:solidFill>
          <a:ln w="0">
            <a:noFill/>
            <a:prstDash val="solid"/>
          </a:ln>
        </p:spPr>
        <p:txBody>
          <a:bodyPr/>
          <a:lstStyle/>
          <a:p>
            <a:endParaRPr lang="es-ES"/>
          </a:p>
        </p:txBody>
      </p:sp>
      <p:sp>
        <p:nvSpPr>
          <p:cNvPr id="7" name="Rectángulo 6">
            <a:extLst>
              <a:ext uri="{FF2B5EF4-FFF2-40B4-BE49-F238E27FC236}">
                <a16:creationId xmlns:a16="http://schemas.microsoft.com/office/drawing/2014/main" id="{1CDB184F-719B-4683-ACED-5ABEA3EDDAE7}"/>
              </a:ext>
            </a:extLst>
          </p:cNvPr>
          <p:cNvSpPr>
            <a:spLocks noGrp="1"/>
          </p:cNvSpPr>
          <p:nvPr/>
        </p:nvSpPr>
        <p:spPr>
          <a:xfrm>
            <a:off x="628650" y="20764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ApplicationUser</a:t>
            </a:r>
          </a:p>
        </p:txBody>
      </p:sp>
      <p:sp>
        <p:nvSpPr>
          <p:cNvPr id="8" name="Rectángulo 7">
            <a:extLst>
              <a:ext uri="{FF2B5EF4-FFF2-40B4-BE49-F238E27FC236}">
                <a16:creationId xmlns:a16="http://schemas.microsoft.com/office/drawing/2014/main" id="{07C01C2E-1A11-4E8A-879F-EBD7A22BF9D3}"/>
              </a:ext>
            </a:extLst>
          </p:cNvPr>
          <p:cNvSpPr>
            <a:spLocks noGrp="1"/>
          </p:cNvSpPr>
          <p:nvPr/>
        </p:nvSpPr>
        <p:spPr>
          <a:xfrm>
            <a:off x="628650" y="25717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Representa una cuenta. Puede heredar de IdentityUser y añadir propiedades.</a:t>
            </a:r>
          </a:p>
        </p:txBody>
      </p:sp>
      <p:sp>
        <p:nvSpPr>
          <p:cNvPr id="9" name="Rectángulo: esquinas redondeadas 8">
            <a:extLst>
              <a:ext uri="{FF2B5EF4-FFF2-40B4-BE49-F238E27FC236}">
                <a16:creationId xmlns:a16="http://schemas.microsoft.com/office/drawing/2014/main" id="{CD354177-3F92-41DB-93F0-8743AEA7AA24}"/>
              </a:ext>
            </a:extLst>
          </p:cNvPr>
          <p:cNvSpPr>
            <a:spLocks noGrp="1"/>
          </p:cNvSpPr>
          <p:nvPr/>
        </p:nvSpPr>
        <p:spPr>
          <a:xfrm>
            <a:off x="6343650" y="1866900"/>
            <a:ext cx="5448300" cy="1733550"/>
          </a:xfrm>
          <a:prstGeom prst="roundRect">
            <a:avLst>
              <a:gd name="adj" fmla="val 6593"/>
            </a:avLst>
          </a:prstGeom>
          <a:solidFill>
            <a:srgbClr val="F6F7F8"/>
          </a:solidFill>
          <a:ln w="0">
            <a:noFill/>
            <a:prstDash val="solid"/>
          </a:ln>
        </p:spPr>
        <p:txBody>
          <a:bodyPr/>
          <a:lstStyle/>
          <a:p>
            <a:endParaRPr lang="es-ES"/>
          </a:p>
        </p:txBody>
      </p:sp>
      <p:sp>
        <p:nvSpPr>
          <p:cNvPr id="10" name="Rectángulo 9">
            <a:extLst>
              <a:ext uri="{FF2B5EF4-FFF2-40B4-BE49-F238E27FC236}">
                <a16:creationId xmlns:a16="http://schemas.microsoft.com/office/drawing/2014/main" id="{899FF659-3617-4C0C-B242-1722DB5E8C09}"/>
              </a:ext>
            </a:extLst>
          </p:cNvPr>
          <p:cNvSpPr>
            <a:spLocks noGrp="1"/>
          </p:cNvSpPr>
          <p:nvPr/>
        </p:nvSpPr>
        <p:spPr>
          <a:xfrm>
            <a:off x="6572250" y="20764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UserManager&lt;TUser&gt;</a:t>
            </a:r>
          </a:p>
        </p:txBody>
      </p:sp>
      <p:sp>
        <p:nvSpPr>
          <p:cNvPr id="11" name="Rectángulo 10">
            <a:extLst>
              <a:ext uri="{FF2B5EF4-FFF2-40B4-BE49-F238E27FC236}">
                <a16:creationId xmlns:a16="http://schemas.microsoft.com/office/drawing/2014/main" id="{E2769173-FE26-41CD-86F4-6D80A8CD292D}"/>
              </a:ext>
            </a:extLst>
          </p:cNvPr>
          <p:cNvSpPr>
            <a:spLocks noGrp="1"/>
          </p:cNvSpPr>
          <p:nvPr/>
        </p:nvSpPr>
        <p:spPr>
          <a:xfrm>
            <a:off x="6572250" y="25717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Crea, modifica, busca y valida usuarios, contraseñas, tokens, claims y roles.</a:t>
            </a:r>
          </a:p>
        </p:txBody>
      </p:sp>
      <p:sp>
        <p:nvSpPr>
          <p:cNvPr id="12" name="Rectángulo: esquinas redondeadas 11">
            <a:extLst>
              <a:ext uri="{FF2B5EF4-FFF2-40B4-BE49-F238E27FC236}">
                <a16:creationId xmlns:a16="http://schemas.microsoft.com/office/drawing/2014/main" id="{3285F094-8E25-4C10-B8C4-CF4C95F0BAF4}"/>
              </a:ext>
            </a:extLst>
          </p:cNvPr>
          <p:cNvSpPr>
            <a:spLocks noGrp="1"/>
          </p:cNvSpPr>
          <p:nvPr/>
        </p:nvSpPr>
        <p:spPr>
          <a:xfrm>
            <a:off x="400050" y="3962400"/>
            <a:ext cx="5448300" cy="1733550"/>
          </a:xfrm>
          <a:prstGeom prst="roundRect">
            <a:avLst>
              <a:gd name="adj" fmla="val 6593"/>
            </a:avLst>
          </a:prstGeom>
          <a:solidFill>
            <a:srgbClr val="F6F7F8"/>
          </a:solidFill>
          <a:ln w="0">
            <a:noFill/>
            <a:prstDash val="solid"/>
          </a:ln>
        </p:spPr>
        <p:txBody>
          <a:bodyPr/>
          <a:lstStyle/>
          <a:p>
            <a:endParaRPr lang="es-ES"/>
          </a:p>
        </p:txBody>
      </p:sp>
      <p:sp>
        <p:nvSpPr>
          <p:cNvPr id="13" name="Rectángulo 12">
            <a:extLst>
              <a:ext uri="{FF2B5EF4-FFF2-40B4-BE49-F238E27FC236}">
                <a16:creationId xmlns:a16="http://schemas.microsoft.com/office/drawing/2014/main" id="{123AA79A-C2CB-40C0-9495-02921754685D}"/>
              </a:ext>
            </a:extLst>
          </p:cNvPr>
          <p:cNvSpPr>
            <a:spLocks noGrp="1"/>
          </p:cNvSpPr>
          <p:nvPr/>
        </p:nvSpPr>
        <p:spPr>
          <a:xfrm>
            <a:off x="628650" y="41719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SignInManager&lt;TUser&gt;</a:t>
            </a:r>
          </a:p>
        </p:txBody>
      </p:sp>
      <p:sp>
        <p:nvSpPr>
          <p:cNvPr id="14" name="Rectángulo 13">
            <a:extLst>
              <a:ext uri="{FF2B5EF4-FFF2-40B4-BE49-F238E27FC236}">
                <a16:creationId xmlns:a16="http://schemas.microsoft.com/office/drawing/2014/main" id="{D238F63B-EE55-400A-939E-057ED464398A}"/>
              </a:ext>
            </a:extLst>
          </p:cNvPr>
          <p:cNvSpPr>
            <a:spLocks noGrp="1"/>
          </p:cNvSpPr>
          <p:nvPr/>
        </p:nvSpPr>
        <p:spPr>
          <a:xfrm>
            <a:off x="628650" y="46672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Inicia y cierra sesión, valida credenciales y coordina cookie, bloqueo y 2FA.</a:t>
            </a:r>
          </a:p>
        </p:txBody>
      </p:sp>
      <p:sp>
        <p:nvSpPr>
          <p:cNvPr id="15" name="Rectángulo: esquinas redondeadas 14">
            <a:extLst>
              <a:ext uri="{FF2B5EF4-FFF2-40B4-BE49-F238E27FC236}">
                <a16:creationId xmlns:a16="http://schemas.microsoft.com/office/drawing/2014/main" id="{0F263870-772F-4150-9FE5-6F81D61C7D83}"/>
              </a:ext>
            </a:extLst>
          </p:cNvPr>
          <p:cNvSpPr>
            <a:spLocks noGrp="1"/>
          </p:cNvSpPr>
          <p:nvPr/>
        </p:nvSpPr>
        <p:spPr>
          <a:xfrm>
            <a:off x="6343650" y="3962400"/>
            <a:ext cx="5448300" cy="1733550"/>
          </a:xfrm>
          <a:prstGeom prst="roundRect">
            <a:avLst>
              <a:gd name="adj" fmla="val 6593"/>
            </a:avLst>
          </a:prstGeom>
          <a:solidFill>
            <a:srgbClr val="F6F7F8"/>
          </a:solidFill>
          <a:ln w="0">
            <a:noFill/>
            <a:prstDash val="solid"/>
          </a:ln>
        </p:spPr>
        <p:txBody>
          <a:bodyPr/>
          <a:lstStyle/>
          <a:p>
            <a:endParaRPr lang="es-ES"/>
          </a:p>
        </p:txBody>
      </p:sp>
      <p:sp>
        <p:nvSpPr>
          <p:cNvPr id="16" name="Rectángulo 15">
            <a:extLst>
              <a:ext uri="{FF2B5EF4-FFF2-40B4-BE49-F238E27FC236}">
                <a16:creationId xmlns:a16="http://schemas.microsoft.com/office/drawing/2014/main" id="{3473D4A3-D69E-47D1-B84D-48B237AC6767}"/>
              </a:ext>
            </a:extLst>
          </p:cNvPr>
          <p:cNvSpPr>
            <a:spLocks noGrp="1"/>
          </p:cNvSpPr>
          <p:nvPr/>
        </p:nvSpPr>
        <p:spPr>
          <a:xfrm>
            <a:off x="6572250" y="41719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ApplicationDbContext</a:t>
            </a:r>
          </a:p>
        </p:txBody>
      </p:sp>
      <p:sp>
        <p:nvSpPr>
          <p:cNvPr id="17" name="Rectángulo 16">
            <a:extLst>
              <a:ext uri="{FF2B5EF4-FFF2-40B4-BE49-F238E27FC236}">
                <a16:creationId xmlns:a16="http://schemas.microsoft.com/office/drawing/2014/main" id="{8076DF3B-BFA4-46E1-8046-55E71D5DF2AA}"/>
              </a:ext>
            </a:extLst>
          </p:cNvPr>
          <p:cNvSpPr>
            <a:spLocks noGrp="1"/>
          </p:cNvSpPr>
          <p:nvPr/>
        </p:nvSpPr>
        <p:spPr>
          <a:xfrm>
            <a:off x="6572250" y="46672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Hereda de IdentityDbContext y persiste el modelo mediante EF Core.</a:t>
            </a:r>
          </a:p>
        </p:txBody>
      </p:sp>
    </p:spTree>
    <p:extLst>
      <p:ext uri="{BB962C8B-B14F-4D97-AF65-F5344CB8AC3E}">
        <p14:creationId xmlns:p14="http://schemas.microsoft.com/office/powerpoint/2010/main" val="894896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087AEEA6-88C4-42B0-89C8-823532D1A4CB}"/>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8">
            <a:extLst>
              <a:ext uri="{FF2B5EF4-FFF2-40B4-BE49-F238E27FC236}">
                <a16:creationId xmlns:a16="http://schemas.microsoft.com/office/drawing/2014/main" id="{9DD55DBA-D173-4454-94A0-893691AB2975}"/>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La plantilla puede crear una aplicación lista para registrarse</a:t>
            </a:r>
          </a:p>
        </p:txBody>
      </p:sp>
      <p:cxnSp>
        <p:nvCxnSpPr>
          <p:cNvPr id="14" name="Conector recto de flecha 13"/>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FFF416B6-9584-4247-BF78-F63082D331BE}"/>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A73A7674-E65B-4ED8-82AE-DD162CBFF655}"/>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8</a:t>
            </a:r>
          </a:p>
        </p:txBody>
      </p:sp>
      <p:sp>
        <p:nvSpPr>
          <p:cNvPr id="6" name="Rectángulo 5">
            <a:extLst>
              <a:ext uri="{FF2B5EF4-FFF2-40B4-BE49-F238E27FC236}">
                <a16:creationId xmlns:a16="http://schemas.microsoft.com/office/drawing/2014/main" id="{98D4E375-BD46-4653-A7CD-33D8630F45BA}"/>
              </a:ext>
            </a:extLst>
          </p:cNvPr>
          <p:cNvSpPr>
            <a:spLocks noGrp="1"/>
          </p:cNvSpPr>
          <p:nvPr/>
        </p:nvSpPr>
        <p:spPr>
          <a:xfrm>
            <a:off x="400050" y="1962150"/>
            <a:ext cx="5286375"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Visual Studio</a:t>
            </a:r>
          </a:p>
        </p:txBody>
      </p:sp>
      <p:sp>
        <p:nvSpPr>
          <p:cNvPr id="7" name="Rectángulo 6">
            <a:extLst>
              <a:ext uri="{FF2B5EF4-FFF2-40B4-BE49-F238E27FC236}">
                <a16:creationId xmlns:a16="http://schemas.microsoft.com/office/drawing/2014/main" id="{691297EF-B772-48A1-9214-6F321DC62BBA}"/>
              </a:ext>
            </a:extLst>
          </p:cNvPr>
          <p:cNvSpPr>
            <a:spLocks noGrp="1"/>
          </p:cNvSpPr>
          <p:nvPr/>
        </p:nvSpPr>
        <p:spPr>
          <a:xfrm>
            <a:off x="400050" y="2552700"/>
            <a:ext cx="5286375" cy="2838450"/>
          </a:xfrm>
          <a:prstGeom prst="rect">
            <a:avLst/>
          </a:prstGeom>
          <a:noFill/>
          <a:ln w="0">
            <a:noFill/>
            <a:prstDash val="solid"/>
          </a:ln>
        </p:spPr>
        <p:txBody>
          <a:bodyPr wrap="square" lIns="0" tIns="0" rIns="0" bIns="0" anchor="t">
            <a:normAutofit/>
          </a:bodyPr>
          <a:lstStyle/>
          <a:p>
            <a:pPr algn="l">
              <a:defRPr sz="1650" b="0">
                <a:solidFill>
                  <a:srgbClr val="565E6B"/>
                </a:solidFill>
                <a:latin typeface="Arial"/>
                <a:ea typeface="Arial"/>
                <a:cs typeface="Arial"/>
              </a:defRPr>
            </a:pPr>
            <a:r>
              <a:rPr sz="1650" b="0">
                <a:solidFill>
                  <a:srgbClr val="565E6B"/>
                </a:solidFill>
                <a:latin typeface="Arial"/>
                <a:ea typeface="Arial"/>
                <a:cs typeface="Arial"/>
              </a:rPr>
              <a:t>• ASP.NET Core Web App (Razor Pages)</a:t>
            </a:r>
          </a:p>
          <a:p>
            <a:pPr algn="l">
              <a:defRPr sz="1650" b="0">
                <a:solidFill>
                  <a:srgbClr val="565E6B"/>
                </a:solidFill>
                <a:latin typeface="Arial"/>
                <a:ea typeface="Arial"/>
                <a:cs typeface="Arial"/>
              </a:defRPr>
            </a:pPr>
            <a:r>
              <a:rPr sz="1650" b="0">
                <a:solidFill>
                  <a:srgbClr val="565E6B"/>
                </a:solidFill>
                <a:latin typeface="Arial"/>
                <a:ea typeface="Arial"/>
                <a:cs typeface="Arial"/>
              </a:rPr>
              <a:t>• Framework: .NET 10</a:t>
            </a:r>
          </a:p>
          <a:p>
            <a:pPr algn="l">
              <a:defRPr sz="1650" b="0">
                <a:solidFill>
                  <a:srgbClr val="565E6B"/>
                </a:solidFill>
                <a:latin typeface="Arial"/>
                <a:ea typeface="Arial"/>
                <a:cs typeface="Arial"/>
              </a:defRPr>
            </a:pPr>
            <a:r>
              <a:rPr sz="1650" b="0">
                <a:solidFill>
                  <a:srgbClr val="565E6B"/>
                </a:solidFill>
                <a:latin typeface="Arial"/>
                <a:ea typeface="Arial"/>
                <a:cs typeface="Arial"/>
              </a:rPr>
              <a:t>• Authentication type: Individual Accounts</a:t>
            </a:r>
          </a:p>
          <a:p>
            <a:pPr algn="l">
              <a:defRPr sz="1650" b="0">
                <a:solidFill>
                  <a:srgbClr val="565E6B"/>
                </a:solidFill>
                <a:latin typeface="Arial"/>
                <a:ea typeface="Arial"/>
                <a:cs typeface="Arial"/>
              </a:defRPr>
            </a:pPr>
            <a:r>
              <a:rPr sz="1650" b="0">
                <a:solidFill>
                  <a:srgbClr val="565E6B"/>
                </a:solidFill>
                <a:latin typeface="Arial"/>
                <a:ea typeface="Arial"/>
                <a:cs typeface="Arial"/>
              </a:rPr>
              <a:t>• Crear y ejecutar</a:t>
            </a:r>
          </a:p>
        </p:txBody>
      </p:sp>
      <p:cxnSp>
        <p:nvCxnSpPr>
          <p:cNvPr id="19" name="Conector recto de flecha 18"/>
          <p:cNvCxnSpPr/>
          <p:nvPr/>
        </p:nvCxnSpPr>
        <p:spPr>
          <a:xfrm>
            <a:off x="5943600" y="1962150"/>
            <a:ext cx="0" cy="3429000"/>
          </a:xfrm>
          <a:prstGeom prst="straightConnector1">
            <a:avLst/>
          </a:prstGeom>
          <a:ln w="9525">
            <a:solidFill>
              <a:srgbClr val="B8BCC4"/>
            </a:solidFill>
            <a:prstDash val="solid"/>
          </a:ln>
        </p:spPr>
      </p:cxnSp>
      <p:sp>
        <p:nvSpPr>
          <p:cNvPr id="9" name="Rectángulo 8">
            <a:extLst>
              <a:ext uri="{FF2B5EF4-FFF2-40B4-BE49-F238E27FC236}">
                <a16:creationId xmlns:a16="http://schemas.microsoft.com/office/drawing/2014/main" id="{AC182141-0BFA-4959-B527-99AB5C6A4F89}"/>
              </a:ext>
            </a:extLst>
          </p:cNvPr>
          <p:cNvSpPr>
            <a:spLocks noGrp="1"/>
          </p:cNvSpPr>
          <p:nvPr/>
        </p:nvSpPr>
        <p:spPr>
          <a:xfrm>
            <a:off x="6343650" y="1962150"/>
            <a:ext cx="5448300"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.NET CLI</a:t>
            </a:r>
          </a:p>
        </p:txBody>
      </p:sp>
      <p:sp>
        <p:nvSpPr>
          <p:cNvPr id="10" name="Rectángulo 9">
            <a:extLst>
              <a:ext uri="{FF2B5EF4-FFF2-40B4-BE49-F238E27FC236}">
                <a16:creationId xmlns:a16="http://schemas.microsoft.com/office/drawing/2014/main" id="{637D11CE-E141-4F6B-9110-65D2ABE7BF80}"/>
              </a:ext>
            </a:extLst>
          </p:cNvPr>
          <p:cNvSpPr>
            <a:spLocks noGrp="1"/>
          </p:cNvSpPr>
          <p:nvPr/>
        </p:nvSpPr>
        <p:spPr>
          <a:xfrm>
            <a:off x="6343650" y="2552700"/>
            <a:ext cx="5448300" cy="2838450"/>
          </a:xfrm>
          <a:prstGeom prst="rect">
            <a:avLst/>
          </a:prstGeom>
          <a:noFill/>
          <a:ln w="0">
            <a:noFill/>
            <a:prstDash val="solid"/>
          </a:ln>
        </p:spPr>
        <p:txBody>
          <a:bodyPr wrap="square" lIns="0" tIns="0" rIns="0" bIns="0" anchor="t">
            <a:normAutofit/>
          </a:bodyPr>
          <a:lstStyle/>
          <a:p>
            <a:pPr algn="l">
              <a:defRPr sz="1650" b="0">
                <a:solidFill>
                  <a:srgbClr val="565E6B"/>
                </a:solidFill>
                <a:latin typeface="Arial"/>
                <a:ea typeface="Arial"/>
                <a:cs typeface="Arial"/>
              </a:defRPr>
            </a:pPr>
            <a:r>
              <a:rPr sz="1650" b="0">
                <a:solidFill>
                  <a:srgbClr val="565E6B"/>
                </a:solidFill>
                <a:latin typeface="Arial"/>
                <a:ea typeface="Arial"/>
                <a:cs typeface="Arial"/>
              </a:rPr>
              <a:t>dotnet new webapp -au Individual -o Peliculas</a:t>
            </a:r>
          </a:p>
          <a:p>
            <a:endParaRPr sz="1650" b="0">
              <a:solidFill>
                <a:srgbClr val="565E6B"/>
              </a:solidFill>
              <a:latin typeface="Arial"/>
              <a:ea typeface="Arial"/>
              <a:cs typeface="Arial"/>
            </a:endParaRPr>
          </a:p>
          <a:p>
            <a:pPr algn="l">
              <a:defRPr sz="1650" b="0">
                <a:solidFill>
                  <a:srgbClr val="565E6B"/>
                </a:solidFill>
                <a:latin typeface="Arial"/>
                <a:ea typeface="Arial"/>
                <a:cs typeface="Arial"/>
              </a:defRPr>
            </a:pPr>
            <a:r>
              <a:rPr sz="1650" b="0">
                <a:solidFill>
                  <a:srgbClr val="565E6B"/>
                </a:solidFill>
                <a:latin typeface="Arial"/>
                <a:ea typeface="Arial"/>
                <a:cs typeface="Arial"/>
              </a:rPr>
              <a:t>cd Peliculas</a:t>
            </a:r>
          </a:p>
          <a:p>
            <a:pPr algn="l">
              <a:defRPr sz="1650" b="0">
                <a:solidFill>
                  <a:srgbClr val="565E6B"/>
                </a:solidFill>
                <a:latin typeface="Arial"/>
                <a:ea typeface="Arial"/>
                <a:cs typeface="Arial"/>
              </a:defRPr>
            </a:pPr>
            <a:r>
              <a:rPr sz="1650" b="0">
                <a:solidFill>
                  <a:srgbClr val="565E6B"/>
                </a:solidFill>
                <a:latin typeface="Arial"/>
                <a:ea typeface="Arial"/>
                <a:cs typeface="Arial"/>
              </a:rPr>
              <a:t>dotnet run</a:t>
            </a:r>
          </a:p>
        </p:txBody>
      </p:sp>
      <p:sp>
        <p:nvSpPr>
          <p:cNvPr id="11" name="Rectángulo 10">
            <a:extLst>
              <a:ext uri="{FF2B5EF4-FFF2-40B4-BE49-F238E27FC236}">
                <a16:creationId xmlns:a16="http://schemas.microsoft.com/office/drawing/2014/main" id="{8A373D2A-5FA1-47D9-94CE-1F75A8B590B7}"/>
              </a:ext>
            </a:extLst>
          </p:cNvPr>
          <p:cNvSpPr>
            <a:spLocks noGrp="1"/>
          </p:cNvSpPr>
          <p:nvPr/>
        </p:nvSpPr>
        <p:spPr>
          <a:xfrm>
            <a:off x="400050" y="5619750"/>
            <a:ext cx="11391900" cy="361950"/>
          </a:xfrm>
          <a:prstGeom prst="rect">
            <a:avLst/>
          </a:prstGeom>
          <a:noFill/>
          <a:ln w="0">
            <a:noFill/>
            <a:prstDash val="solid"/>
          </a:ln>
        </p:spPr>
        <p:txBody>
          <a:bodyPr wrap="square" lIns="0" tIns="0" rIns="0" bIns="0" anchor="t">
            <a:normAutofit/>
          </a:bodyPr>
          <a:lstStyle/>
          <a:p>
            <a:pPr algn="ctr">
              <a:defRPr sz="1575" b="1">
                <a:solidFill>
                  <a:srgbClr val="3D8DFF"/>
                </a:solidFill>
                <a:latin typeface="Arial"/>
                <a:ea typeface="Arial"/>
                <a:cs typeface="Arial"/>
              </a:defRPr>
            </a:pPr>
            <a:r>
              <a:rPr sz="1575" b="1">
                <a:solidFill>
                  <a:srgbClr val="3D8DFF"/>
                </a:solidFill>
                <a:latin typeface="Arial"/>
                <a:ea typeface="Arial"/>
                <a:cs typeface="Arial"/>
              </a:rPr>
              <a:t>La plantilla evita configurar a mano el punto de partida.</a:t>
            </a:r>
          </a:p>
        </p:txBody>
      </p:sp>
    </p:spTree>
    <p:extLst>
      <p:ext uri="{BB962C8B-B14F-4D97-AF65-F5344CB8AC3E}">
        <p14:creationId xmlns:p14="http://schemas.microsoft.com/office/powerpoint/2010/main" val="1300428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C819DE24-E8EA-471F-B3E1-28C53891FC06}"/>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9">
            <a:extLst>
              <a:ext uri="{FF2B5EF4-FFF2-40B4-BE49-F238E27FC236}">
                <a16:creationId xmlns:a16="http://schemas.microsoft.com/office/drawing/2014/main" id="{5498F3FE-E99D-45D8-85C5-484E3ACED158}"/>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La plantilla añade servicios, UI, datos y migraciones</a:t>
            </a:r>
          </a:p>
        </p:txBody>
      </p:sp>
      <p:cxnSp>
        <p:nvCxnSpPr>
          <p:cNvPr id="20" name="Conector recto de flecha 19"/>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47CB8415-AA40-43EA-8430-0CC9FCB16C83}"/>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96ED3046-70B0-4367-9553-DC6E8FEC2376}"/>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9</a:t>
            </a:r>
          </a:p>
        </p:txBody>
      </p:sp>
      <p:sp>
        <p:nvSpPr>
          <p:cNvPr id="6" name="Rectángulo: esquinas redondeadas 5">
            <a:extLst>
              <a:ext uri="{FF2B5EF4-FFF2-40B4-BE49-F238E27FC236}">
                <a16:creationId xmlns:a16="http://schemas.microsoft.com/office/drawing/2014/main" id="{7DA18AA9-E8D5-4CB5-90E9-697C6CAC9070}"/>
              </a:ext>
            </a:extLst>
          </p:cNvPr>
          <p:cNvSpPr>
            <a:spLocks noGrp="1"/>
          </p:cNvSpPr>
          <p:nvPr/>
        </p:nvSpPr>
        <p:spPr>
          <a:xfrm>
            <a:off x="400050" y="1866900"/>
            <a:ext cx="5448300" cy="1733550"/>
          </a:xfrm>
          <a:prstGeom prst="roundRect">
            <a:avLst>
              <a:gd name="adj" fmla="val 6593"/>
            </a:avLst>
          </a:prstGeom>
          <a:solidFill>
            <a:srgbClr val="F6F7F8"/>
          </a:solidFill>
          <a:ln w="0">
            <a:noFill/>
            <a:prstDash val="solid"/>
          </a:ln>
        </p:spPr>
        <p:txBody>
          <a:bodyPr/>
          <a:lstStyle/>
          <a:p>
            <a:endParaRPr lang="es-ES"/>
          </a:p>
        </p:txBody>
      </p:sp>
      <p:sp>
        <p:nvSpPr>
          <p:cNvPr id="7" name="Rectángulo 6">
            <a:extLst>
              <a:ext uri="{FF2B5EF4-FFF2-40B4-BE49-F238E27FC236}">
                <a16:creationId xmlns:a16="http://schemas.microsoft.com/office/drawing/2014/main" id="{F1E43345-AD62-4C28-94C8-60474683C485}"/>
              </a:ext>
            </a:extLst>
          </p:cNvPr>
          <p:cNvSpPr>
            <a:spLocks noGrp="1"/>
          </p:cNvSpPr>
          <p:nvPr/>
        </p:nvSpPr>
        <p:spPr>
          <a:xfrm>
            <a:off x="628650" y="20764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Servicios</a:t>
            </a:r>
          </a:p>
        </p:txBody>
      </p:sp>
      <p:sp>
        <p:nvSpPr>
          <p:cNvPr id="8" name="Rectángulo 7">
            <a:extLst>
              <a:ext uri="{FF2B5EF4-FFF2-40B4-BE49-F238E27FC236}">
                <a16:creationId xmlns:a16="http://schemas.microsoft.com/office/drawing/2014/main" id="{2988743E-19CB-472A-B2F1-20BCC3A91FB0}"/>
              </a:ext>
            </a:extLst>
          </p:cNvPr>
          <p:cNvSpPr>
            <a:spLocks noGrp="1"/>
          </p:cNvSpPr>
          <p:nvPr/>
        </p:nvSpPr>
        <p:spPr>
          <a:xfrm>
            <a:off x="628650" y="25717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Registro de Identity, EF Core y Razor Pages en Program.cs.</a:t>
            </a:r>
          </a:p>
        </p:txBody>
      </p:sp>
      <p:sp>
        <p:nvSpPr>
          <p:cNvPr id="9" name="Rectángulo: esquinas redondeadas 8">
            <a:extLst>
              <a:ext uri="{FF2B5EF4-FFF2-40B4-BE49-F238E27FC236}">
                <a16:creationId xmlns:a16="http://schemas.microsoft.com/office/drawing/2014/main" id="{8B1A42D4-7DE7-4805-AFE2-48DCA8B8D786}"/>
              </a:ext>
            </a:extLst>
          </p:cNvPr>
          <p:cNvSpPr>
            <a:spLocks noGrp="1"/>
          </p:cNvSpPr>
          <p:nvPr/>
        </p:nvSpPr>
        <p:spPr>
          <a:xfrm>
            <a:off x="6343650" y="1866900"/>
            <a:ext cx="5448300" cy="1733550"/>
          </a:xfrm>
          <a:prstGeom prst="roundRect">
            <a:avLst>
              <a:gd name="adj" fmla="val 6593"/>
            </a:avLst>
          </a:prstGeom>
          <a:solidFill>
            <a:srgbClr val="F6F7F8"/>
          </a:solidFill>
          <a:ln w="0">
            <a:noFill/>
            <a:prstDash val="solid"/>
          </a:ln>
        </p:spPr>
        <p:txBody>
          <a:bodyPr/>
          <a:lstStyle/>
          <a:p>
            <a:endParaRPr lang="es-ES"/>
          </a:p>
        </p:txBody>
      </p:sp>
      <p:sp>
        <p:nvSpPr>
          <p:cNvPr id="10" name="Rectángulo 9">
            <a:extLst>
              <a:ext uri="{FF2B5EF4-FFF2-40B4-BE49-F238E27FC236}">
                <a16:creationId xmlns:a16="http://schemas.microsoft.com/office/drawing/2014/main" id="{3B653883-1458-407E-9164-4839ED8A52F2}"/>
              </a:ext>
            </a:extLst>
          </p:cNvPr>
          <p:cNvSpPr>
            <a:spLocks noGrp="1"/>
          </p:cNvSpPr>
          <p:nvPr/>
        </p:nvSpPr>
        <p:spPr>
          <a:xfrm>
            <a:off x="6572250" y="20764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Datos</a:t>
            </a:r>
          </a:p>
        </p:txBody>
      </p:sp>
      <p:sp>
        <p:nvSpPr>
          <p:cNvPr id="11" name="Rectángulo 10">
            <a:extLst>
              <a:ext uri="{FF2B5EF4-FFF2-40B4-BE49-F238E27FC236}">
                <a16:creationId xmlns:a16="http://schemas.microsoft.com/office/drawing/2014/main" id="{5CED24B9-8234-4870-A81E-914D144CCC91}"/>
              </a:ext>
            </a:extLst>
          </p:cNvPr>
          <p:cNvSpPr>
            <a:spLocks noGrp="1"/>
          </p:cNvSpPr>
          <p:nvPr/>
        </p:nvSpPr>
        <p:spPr>
          <a:xfrm>
            <a:off x="6572250" y="25717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ApplicationDbContext, usuario y cadena de conexión.</a:t>
            </a:r>
          </a:p>
        </p:txBody>
      </p:sp>
      <p:sp>
        <p:nvSpPr>
          <p:cNvPr id="12" name="Rectángulo: esquinas redondeadas 11">
            <a:extLst>
              <a:ext uri="{FF2B5EF4-FFF2-40B4-BE49-F238E27FC236}">
                <a16:creationId xmlns:a16="http://schemas.microsoft.com/office/drawing/2014/main" id="{64F93AD2-C6B6-4C81-98BF-660663A8CA2B}"/>
              </a:ext>
            </a:extLst>
          </p:cNvPr>
          <p:cNvSpPr>
            <a:spLocks noGrp="1"/>
          </p:cNvSpPr>
          <p:nvPr/>
        </p:nvSpPr>
        <p:spPr>
          <a:xfrm>
            <a:off x="400050" y="3962400"/>
            <a:ext cx="5448300" cy="1733550"/>
          </a:xfrm>
          <a:prstGeom prst="roundRect">
            <a:avLst>
              <a:gd name="adj" fmla="val 6593"/>
            </a:avLst>
          </a:prstGeom>
          <a:solidFill>
            <a:srgbClr val="F6F7F8"/>
          </a:solidFill>
          <a:ln w="0">
            <a:noFill/>
            <a:prstDash val="solid"/>
          </a:ln>
        </p:spPr>
        <p:txBody>
          <a:bodyPr/>
          <a:lstStyle/>
          <a:p>
            <a:endParaRPr lang="es-ES"/>
          </a:p>
        </p:txBody>
      </p:sp>
      <p:sp>
        <p:nvSpPr>
          <p:cNvPr id="13" name="Rectángulo 12">
            <a:extLst>
              <a:ext uri="{FF2B5EF4-FFF2-40B4-BE49-F238E27FC236}">
                <a16:creationId xmlns:a16="http://schemas.microsoft.com/office/drawing/2014/main" id="{E4D06836-CE87-4F22-BC89-7C122913446A}"/>
              </a:ext>
            </a:extLst>
          </p:cNvPr>
          <p:cNvSpPr>
            <a:spLocks noGrp="1"/>
          </p:cNvSpPr>
          <p:nvPr/>
        </p:nvSpPr>
        <p:spPr>
          <a:xfrm>
            <a:off x="628650" y="41719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UI</a:t>
            </a:r>
          </a:p>
        </p:txBody>
      </p:sp>
      <p:sp>
        <p:nvSpPr>
          <p:cNvPr id="14" name="Rectángulo 13">
            <a:extLst>
              <a:ext uri="{FF2B5EF4-FFF2-40B4-BE49-F238E27FC236}">
                <a16:creationId xmlns:a16="http://schemas.microsoft.com/office/drawing/2014/main" id="{C45257BA-CD7C-4BA4-A570-1062D188A21F}"/>
              </a:ext>
            </a:extLst>
          </p:cNvPr>
          <p:cNvSpPr>
            <a:spLocks noGrp="1"/>
          </p:cNvSpPr>
          <p:nvPr/>
        </p:nvSpPr>
        <p:spPr>
          <a:xfrm>
            <a:off x="628650" y="46672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Área Identity, _LoginPartial y páginas servidas desde una RCL.</a:t>
            </a:r>
          </a:p>
        </p:txBody>
      </p:sp>
      <p:sp>
        <p:nvSpPr>
          <p:cNvPr id="15" name="Rectángulo: esquinas redondeadas 14">
            <a:extLst>
              <a:ext uri="{FF2B5EF4-FFF2-40B4-BE49-F238E27FC236}">
                <a16:creationId xmlns:a16="http://schemas.microsoft.com/office/drawing/2014/main" id="{0127F2E0-C67F-476D-AED6-44D9B8228C0B}"/>
              </a:ext>
            </a:extLst>
          </p:cNvPr>
          <p:cNvSpPr>
            <a:spLocks noGrp="1"/>
          </p:cNvSpPr>
          <p:nvPr/>
        </p:nvSpPr>
        <p:spPr>
          <a:xfrm>
            <a:off x="6343650" y="3962400"/>
            <a:ext cx="5448300" cy="1733550"/>
          </a:xfrm>
          <a:prstGeom prst="roundRect">
            <a:avLst>
              <a:gd name="adj" fmla="val 6593"/>
            </a:avLst>
          </a:prstGeom>
          <a:solidFill>
            <a:srgbClr val="F6F7F8"/>
          </a:solidFill>
          <a:ln w="0">
            <a:noFill/>
            <a:prstDash val="solid"/>
          </a:ln>
        </p:spPr>
        <p:txBody>
          <a:bodyPr/>
          <a:lstStyle/>
          <a:p>
            <a:endParaRPr lang="es-ES"/>
          </a:p>
        </p:txBody>
      </p:sp>
      <p:sp>
        <p:nvSpPr>
          <p:cNvPr id="16" name="Rectángulo 15">
            <a:extLst>
              <a:ext uri="{FF2B5EF4-FFF2-40B4-BE49-F238E27FC236}">
                <a16:creationId xmlns:a16="http://schemas.microsoft.com/office/drawing/2014/main" id="{5030AA46-5C7E-439C-9A48-F198194810AB}"/>
              </a:ext>
            </a:extLst>
          </p:cNvPr>
          <p:cNvSpPr>
            <a:spLocks noGrp="1"/>
          </p:cNvSpPr>
          <p:nvPr/>
        </p:nvSpPr>
        <p:spPr>
          <a:xfrm>
            <a:off x="6572250" y="41719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Esquema</a:t>
            </a:r>
          </a:p>
        </p:txBody>
      </p:sp>
      <p:sp>
        <p:nvSpPr>
          <p:cNvPr id="17" name="Rectángulo 16">
            <a:extLst>
              <a:ext uri="{FF2B5EF4-FFF2-40B4-BE49-F238E27FC236}">
                <a16:creationId xmlns:a16="http://schemas.microsoft.com/office/drawing/2014/main" id="{948B8EA8-B981-4435-BD84-0A85A203EE1D}"/>
              </a:ext>
            </a:extLst>
          </p:cNvPr>
          <p:cNvSpPr>
            <a:spLocks noGrp="1"/>
          </p:cNvSpPr>
          <p:nvPr/>
        </p:nvSpPr>
        <p:spPr>
          <a:xfrm>
            <a:off x="6572250" y="46672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Migración inicial y tablas AspNetUsers, roles, claims y tokens.</a:t>
            </a:r>
          </a:p>
        </p:txBody>
      </p:sp>
    </p:spTree>
    <p:extLst>
      <p:ext uri="{BB962C8B-B14F-4D97-AF65-F5344CB8AC3E}">
        <p14:creationId xmlns:p14="http://schemas.microsoft.com/office/powerpoint/2010/main" val="1522094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55F057CB-28E0-4DF7-B79E-B1F6939A49A7}"/>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0">
            <a:extLst>
              <a:ext uri="{FF2B5EF4-FFF2-40B4-BE49-F238E27FC236}">
                <a16:creationId xmlns:a16="http://schemas.microsoft.com/office/drawing/2014/main" id="{90580BD9-09E4-46CF-BE47-0A7A318E630F}"/>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Program.cs registra el almacén y los servicios de Identity</a:t>
            </a:r>
          </a:p>
        </p:txBody>
      </p:sp>
      <p:cxnSp>
        <p:nvCxnSpPr>
          <p:cNvPr id="11" name="Conector recto de flecha 10"/>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9991955A-2DF1-453D-B43C-41B95A57C5F6}"/>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CA513BD5-9608-4588-A298-42959709A0CC}"/>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10</a:t>
            </a:r>
          </a:p>
        </p:txBody>
      </p:sp>
      <p:sp>
        <p:nvSpPr>
          <p:cNvPr id="6" name="Rectángulo: esquinas redondeadas 5">
            <a:extLst>
              <a:ext uri="{FF2B5EF4-FFF2-40B4-BE49-F238E27FC236}">
                <a16:creationId xmlns:a16="http://schemas.microsoft.com/office/drawing/2014/main" id="{0730969B-CB40-4DC3-B643-A06C7D4980C1}"/>
              </a:ext>
            </a:extLst>
          </p:cNvPr>
          <p:cNvSpPr>
            <a:spLocks noGrp="1"/>
          </p:cNvSpPr>
          <p:nvPr/>
        </p:nvSpPr>
        <p:spPr>
          <a:xfrm>
            <a:off x="400050" y="1809750"/>
            <a:ext cx="11391900" cy="4057650"/>
          </a:xfrm>
          <a:prstGeom prst="roundRect">
            <a:avLst>
              <a:gd name="adj" fmla="val 2817"/>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4F7F5263-562F-4B37-8061-C6EA2FFAA5C1}"/>
              </a:ext>
            </a:extLst>
          </p:cNvPr>
          <p:cNvSpPr>
            <a:spLocks noGrp="1"/>
          </p:cNvSpPr>
          <p:nvPr/>
        </p:nvSpPr>
        <p:spPr>
          <a:xfrm>
            <a:off x="628650" y="1981200"/>
            <a:ext cx="10934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REGISTRO DE SERVICIOS · Program.cs</a:t>
            </a:r>
          </a:p>
        </p:txBody>
      </p:sp>
      <p:sp>
        <p:nvSpPr>
          <p:cNvPr id="8" name="Rectángulo 7">
            <a:extLst>
              <a:ext uri="{FF2B5EF4-FFF2-40B4-BE49-F238E27FC236}">
                <a16:creationId xmlns:a16="http://schemas.microsoft.com/office/drawing/2014/main" id="{FDD324E4-D0DB-45E3-800B-EA31139DC0C4}"/>
              </a:ext>
            </a:extLst>
          </p:cNvPr>
          <p:cNvSpPr>
            <a:spLocks noGrp="1"/>
          </p:cNvSpPr>
          <p:nvPr/>
        </p:nvSpPr>
        <p:spPr>
          <a:xfrm>
            <a:off x="628650" y="2362200"/>
            <a:ext cx="10934700" cy="3314700"/>
          </a:xfrm>
          <a:prstGeom prst="rect">
            <a:avLst/>
          </a:prstGeom>
          <a:noFill/>
          <a:ln w="0">
            <a:noFill/>
            <a:prstDash val="solid"/>
          </a:ln>
        </p:spPr>
        <p:txBody>
          <a:bodyPr wrap="square" lIns="0" tIns="0" rIns="0" bIns="0" anchor="t">
            <a:normAutofit/>
          </a:bodyPr>
          <a:lstStyle/>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var conexion =</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builder.Configuration.GetConnectionString("DefaultConnection");</a:t>
            </a:r>
          </a:p>
          <a:p>
            <a:endParaRPr sz="1425" b="0">
              <a:solidFill>
                <a:srgbClr val="14213D"/>
              </a:solidFill>
              <a:latin typeface="Consolas"/>
              <a:ea typeface="Consolas"/>
              <a:cs typeface="Consolas"/>
            </a:endParaRP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builder.Services.AddDbContext&lt;ApplicationDbContext&gt;(opciones =&gt;</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opciones.UseSqlite(conexion));</a:t>
            </a:r>
          </a:p>
          <a:p>
            <a:endParaRPr sz="1425" b="0">
              <a:solidFill>
                <a:srgbClr val="14213D"/>
              </a:solidFill>
              <a:latin typeface="Consolas"/>
              <a:ea typeface="Consolas"/>
              <a:cs typeface="Consolas"/>
            </a:endParaRP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builder.Services</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.AddDefaultIdentity&lt;ApplicationUser&gt;(opciones =&gt;</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opciones.SignIn.RequireConfirmedAccount = false)</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.AddEntityFrameworkStores&lt;ApplicationDbContext&gt;();</a:t>
            </a:r>
          </a:p>
          <a:p>
            <a:endParaRPr sz="1425" b="0">
              <a:solidFill>
                <a:srgbClr val="14213D"/>
              </a:solidFill>
              <a:latin typeface="Consolas"/>
              <a:ea typeface="Consolas"/>
              <a:cs typeface="Consolas"/>
            </a:endParaRP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builder.Services.AddRazorPages();</a:t>
            </a:r>
          </a:p>
        </p:txBody>
      </p:sp>
    </p:spTree>
    <p:extLst>
      <p:ext uri="{BB962C8B-B14F-4D97-AF65-F5344CB8AC3E}">
        <p14:creationId xmlns:p14="http://schemas.microsoft.com/office/powerpoint/2010/main" val="1047880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88C2EF5-0A4A-4BBF-A4DF-A3889F881BAD}"/>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1">
            <a:extLst>
              <a:ext uri="{FF2B5EF4-FFF2-40B4-BE49-F238E27FC236}">
                <a16:creationId xmlns:a16="http://schemas.microsoft.com/office/drawing/2014/main" id="{23AD56B8-201E-4977-825F-1BE028FA9F42}"/>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El middleware reconstruye el usuario</a:t>
            </a:r>
          </a:p>
        </p:txBody>
      </p:sp>
      <p:cxnSp>
        <p:nvCxnSpPr>
          <p:cNvPr id="27" name="Conector recto de flecha 26"/>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86DB54ED-2A21-4EED-AC16-0D669CF5A11B}"/>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31A552CC-AA2D-4A54-9130-F6946AD3CBDB}"/>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11</a:t>
            </a:r>
          </a:p>
        </p:txBody>
      </p:sp>
      <p:sp>
        <p:nvSpPr>
          <p:cNvPr id="6" name="Rectángulo: esquinas redondeadas 5">
            <a:extLst>
              <a:ext uri="{FF2B5EF4-FFF2-40B4-BE49-F238E27FC236}">
                <a16:creationId xmlns:a16="http://schemas.microsoft.com/office/drawing/2014/main" id="{12F59592-BFDB-46E1-8BA1-BE02B914DCF3}"/>
              </a:ext>
            </a:extLst>
          </p:cNvPr>
          <p:cNvSpPr>
            <a:spLocks noGrp="1"/>
          </p:cNvSpPr>
          <p:nvPr/>
        </p:nvSpPr>
        <p:spPr>
          <a:xfrm>
            <a:off x="400050" y="1905000"/>
            <a:ext cx="5429250" cy="3857625"/>
          </a:xfrm>
          <a:prstGeom prst="roundRect">
            <a:avLst>
              <a:gd name="adj" fmla="val 2963"/>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7DAE62D3-3A68-4B5B-B544-9D867F96AFB5}"/>
              </a:ext>
            </a:extLst>
          </p:cNvPr>
          <p:cNvSpPr>
            <a:spLocks noGrp="1"/>
          </p:cNvSpPr>
          <p:nvPr/>
        </p:nvSpPr>
        <p:spPr>
          <a:xfrm>
            <a:off x="628650" y="2076450"/>
            <a:ext cx="497205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CANALIZACIÓN HTTP · Program.cs</a:t>
            </a:r>
          </a:p>
        </p:txBody>
      </p:sp>
      <p:sp>
        <p:nvSpPr>
          <p:cNvPr id="8" name="Rectángulo 7">
            <a:extLst>
              <a:ext uri="{FF2B5EF4-FFF2-40B4-BE49-F238E27FC236}">
                <a16:creationId xmlns:a16="http://schemas.microsoft.com/office/drawing/2014/main" id="{7A2EB071-419F-4269-BCCF-776A36E95DDF}"/>
              </a:ext>
            </a:extLst>
          </p:cNvPr>
          <p:cNvSpPr>
            <a:spLocks noGrp="1"/>
          </p:cNvSpPr>
          <p:nvPr/>
        </p:nvSpPr>
        <p:spPr>
          <a:xfrm>
            <a:off x="628650" y="2457450"/>
            <a:ext cx="4972050" cy="3114675"/>
          </a:xfrm>
          <a:prstGeom prst="rect">
            <a:avLst/>
          </a:prstGeom>
          <a:noFill/>
          <a:ln w="0">
            <a:noFill/>
            <a:prstDash val="solid"/>
          </a:ln>
        </p:spPr>
        <p:txBody>
          <a:bodyPr wrap="square" lIns="0" tIns="0" rIns="0" bIns="0" anchor="t">
            <a:normAutofit/>
          </a:bodyPr>
          <a:lstStyle/>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var app = builder.Build();</a:t>
            </a:r>
          </a:p>
          <a:p>
            <a:endParaRPr sz="1500" b="0">
              <a:solidFill>
                <a:srgbClr val="14213D"/>
              </a:solidFill>
              <a:latin typeface="Consolas"/>
              <a:ea typeface="Consolas"/>
              <a:cs typeface="Consolas"/>
            </a:endParaRP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app.UseHttpsRedirection();</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app.UseStaticFiles();</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app.UseRouting();</a:t>
            </a:r>
          </a:p>
          <a:p>
            <a:endParaRPr sz="1500" b="0">
              <a:solidFill>
                <a:srgbClr val="14213D"/>
              </a:solidFill>
              <a:latin typeface="Consolas"/>
              <a:ea typeface="Consolas"/>
              <a:cs typeface="Consolas"/>
            </a:endParaRP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app.UseAuthentication();</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app.UseAuthorization();</a:t>
            </a:r>
          </a:p>
          <a:p>
            <a:endParaRPr sz="1500" b="0">
              <a:solidFill>
                <a:srgbClr val="14213D"/>
              </a:solidFill>
              <a:latin typeface="Consolas"/>
              <a:ea typeface="Consolas"/>
              <a:cs typeface="Consolas"/>
            </a:endParaRP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app.MapRazorPages();</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app.Run();</a:t>
            </a:r>
          </a:p>
        </p:txBody>
      </p:sp>
      <p:cxnSp>
        <p:nvCxnSpPr>
          <p:cNvPr id="33" name="Conector recto de flecha 32"/>
          <p:cNvCxnSpPr/>
          <p:nvPr/>
        </p:nvCxnSpPr>
        <p:spPr>
          <a:xfrm>
            <a:off x="7443788" y="3667125"/>
            <a:ext cx="228600" cy="0"/>
          </a:xfrm>
          <a:prstGeom prst="straightConnector1">
            <a:avLst/>
          </a:prstGeom>
          <a:ln w="28575">
            <a:solidFill>
              <a:srgbClr val="3D8DFF"/>
            </a:solidFill>
            <a:prstDash val="solid"/>
          </a:ln>
        </p:spPr>
      </p:cxnSp>
      <p:cxnSp>
        <p:nvCxnSpPr>
          <p:cNvPr id="34" name="Conector recto de flecha 33"/>
          <p:cNvCxnSpPr/>
          <p:nvPr/>
        </p:nvCxnSpPr>
        <p:spPr>
          <a:xfrm>
            <a:off x="8829675" y="3667125"/>
            <a:ext cx="228600" cy="0"/>
          </a:xfrm>
          <a:prstGeom prst="straightConnector1">
            <a:avLst/>
          </a:prstGeom>
          <a:ln w="28575">
            <a:solidFill>
              <a:srgbClr val="3D8DFF"/>
            </a:solidFill>
            <a:prstDash val="solid"/>
          </a:ln>
        </p:spPr>
      </p:cxnSp>
      <p:cxnSp>
        <p:nvCxnSpPr>
          <p:cNvPr id="35" name="Conector recto de flecha 34"/>
          <p:cNvCxnSpPr/>
          <p:nvPr/>
        </p:nvCxnSpPr>
        <p:spPr>
          <a:xfrm>
            <a:off x="10215563" y="3667125"/>
            <a:ext cx="228600" cy="0"/>
          </a:xfrm>
          <a:prstGeom prst="straightConnector1">
            <a:avLst/>
          </a:prstGeom>
          <a:ln w="28575">
            <a:solidFill>
              <a:srgbClr val="3D8DFF"/>
            </a:solidFill>
            <a:prstDash val="solid"/>
          </a:ln>
        </p:spPr>
      </p:cxnSp>
      <p:sp>
        <p:nvSpPr>
          <p:cNvPr id="12" name="Rectángulo: esquinas redondeadas 11">
            <a:extLst>
              <a:ext uri="{FF2B5EF4-FFF2-40B4-BE49-F238E27FC236}">
                <a16:creationId xmlns:a16="http://schemas.microsoft.com/office/drawing/2014/main" id="{BBDD5ACA-7788-4949-8C79-83937D38F1CA}"/>
              </a:ext>
            </a:extLst>
          </p:cNvPr>
          <p:cNvSpPr>
            <a:spLocks noGrp="1"/>
          </p:cNvSpPr>
          <p:nvPr/>
        </p:nvSpPr>
        <p:spPr>
          <a:xfrm>
            <a:off x="6286500" y="3009900"/>
            <a:ext cx="1157288" cy="1314450"/>
          </a:xfrm>
          <a:prstGeom prst="roundRect">
            <a:avLst>
              <a:gd name="adj" fmla="val 9877"/>
            </a:avLst>
          </a:prstGeom>
          <a:solidFill>
            <a:srgbClr val="F6F7F8"/>
          </a:solidFill>
          <a:ln w="9525">
            <a:solidFill>
              <a:srgbClr val="B8BCC4"/>
            </a:solidFill>
            <a:prstDash val="solid"/>
          </a:ln>
        </p:spPr>
        <p:txBody>
          <a:bodyPr/>
          <a:lstStyle/>
          <a:p>
            <a:endParaRPr lang="es-ES"/>
          </a:p>
        </p:txBody>
      </p:sp>
      <p:sp>
        <p:nvSpPr>
          <p:cNvPr id="13" name="Rectángulo 12">
            <a:extLst>
              <a:ext uri="{FF2B5EF4-FFF2-40B4-BE49-F238E27FC236}">
                <a16:creationId xmlns:a16="http://schemas.microsoft.com/office/drawing/2014/main" id="{1E1A0AD4-AFEA-4517-A37D-BFB44FD7A9D4}"/>
              </a:ext>
            </a:extLst>
          </p:cNvPr>
          <p:cNvSpPr>
            <a:spLocks noGrp="1"/>
          </p:cNvSpPr>
          <p:nvPr/>
        </p:nvSpPr>
        <p:spPr>
          <a:xfrm>
            <a:off x="6419850" y="3133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1</a:t>
            </a:r>
          </a:p>
        </p:txBody>
      </p:sp>
      <p:sp>
        <p:nvSpPr>
          <p:cNvPr id="14" name="Rectángulo 13">
            <a:extLst>
              <a:ext uri="{FF2B5EF4-FFF2-40B4-BE49-F238E27FC236}">
                <a16:creationId xmlns:a16="http://schemas.microsoft.com/office/drawing/2014/main" id="{940FE7DF-CC43-47D3-9064-010D2C9F7F0D}"/>
              </a:ext>
            </a:extLst>
          </p:cNvPr>
          <p:cNvSpPr>
            <a:spLocks noGrp="1"/>
          </p:cNvSpPr>
          <p:nvPr/>
        </p:nvSpPr>
        <p:spPr>
          <a:xfrm>
            <a:off x="6419850" y="3467100"/>
            <a:ext cx="890588"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Petición</a:t>
            </a:r>
          </a:p>
        </p:txBody>
      </p:sp>
      <p:sp>
        <p:nvSpPr>
          <p:cNvPr id="15" name="Rectángulo: esquinas redondeadas 14">
            <a:extLst>
              <a:ext uri="{FF2B5EF4-FFF2-40B4-BE49-F238E27FC236}">
                <a16:creationId xmlns:a16="http://schemas.microsoft.com/office/drawing/2014/main" id="{F181213B-DB12-4420-A2F7-EA4E6F864CC5}"/>
              </a:ext>
            </a:extLst>
          </p:cNvPr>
          <p:cNvSpPr>
            <a:spLocks noGrp="1"/>
          </p:cNvSpPr>
          <p:nvPr/>
        </p:nvSpPr>
        <p:spPr>
          <a:xfrm>
            <a:off x="7672388" y="3009900"/>
            <a:ext cx="1157288" cy="1314450"/>
          </a:xfrm>
          <a:prstGeom prst="roundRect">
            <a:avLst>
              <a:gd name="adj" fmla="val 9877"/>
            </a:avLst>
          </a:prstGeom>
          <a:solidFill>
            <a:srgbClr val="F6F7F8"/>
          </a:solidFill>
          <a:ln w="9525">
            <a:solidFill>
              <a:srgbClr val="B8BCC4"/>
            </a:solidFill>
            <a:prstDash val="solid"/>
          </a:ln>
        </p:spPr>
        <p:txBody>
          <a:bodyPr/>
          <a:lstStyle/>
          <a:p>
            <a:endParaRPr lang="es-ES"/>
          </a:p>
        </p:txBody>
      </p:sp>
      <p:sp>
        <p:nvSpPr>
          <p:cNvPr id="16" name="Rectángulo 15">
            <a:extLst>
              <a:ext uri="{FF2B5EF4-FFF2-40B4-BE49-F238E27FC236}">
                <a16:creationId xmlns:a16="http://schemas.microsoft.com/office/drawing/2014/main" id="{4A4121EB-4186-43A0-816F-DAF49ED7BCAC}"/>
              </a:ext>
            </a:extLst>
          </p:cNvPr>
          <p:cNvSpPr>
            <a:spLocks noGrp="1"/>
          </p:cNvSpPr>
          <p:nvPr/>
        </p:nvSpPr>
        <p:spPr>
          <a:xfrm>
            <a:off x="7805738" y="3133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2</a:t>
            </a:r>
          </a:p>
        </p:txBody>
      </p:sp>
      <p:sp>
        <p:nvSpPr>
          <p:cNvPr id="17" name="Rectángulo 16">
            <a:extLst>
              <a:ext uri="{FF2B5EF4-FFF2-40B4-BE49-F238E27FC236}">
                <a16:creationId xmlns:a16="http://schemas.microsoft.com/office/drawing/2014/main" id="{E96F52C3-31AB-404B-9581-6F42869E3B2F}"/>
              </a:ext>
            </a:extLst>
          </p:cNvPr>
          <p:cNvSpPr>
            <a:spLocks noGrp="1"/>
          </p:cNvSpPr>
          <p:nvPr/>
        </p:nvSpPr>
        <p:spPr>
          <a:xfrm>
            <a:off x="7805738" y="3467100"/>
            <a:ext cx="890588"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Cookie</a:t>
            </a:r>
          </a:p>
        </p:txBody>
      </p:sp>
      <p:sp>
        <p:nvSpPr>
          <p:cNvPr id="18" name="Rectángulo: esquinas redondeadas 17">
            <a:extLst>
              <a:ext uri="{FF2B5EF4-FFF2-40B4-BE49-F238E27FC236}">
                <a16:creationId xmlns:a16="http://schemas.microsoft.com/office/drawing/2014/main" id="{815120AF-157D-433E-B9E2-CADB657209A4}"/>
              </a:ext>
            </a:extLst>
          </p:cNvPr>
          <p:cNvSpPr>
            <a:spLocks noGrp="1"/>
          </p:cNvSpPr>
          <p:nvPr/>
        </p:nvSpPr>
        <p:spPr>
          <a:xfrm>
            <a:off x="9058275" y="3009900"/>
            <a:ext cx="1157288" cy="1314450"/>
          </a:xfrm>
          <a:prstGeom prst="roundRect">
            <a:avLst>
              <a:gd name="adj" fmla="val 9877"/>
            </a:avLst>
          </a:prstGeom>
          <a:solidFill>
            <a:srgbClr val="F6F7F8"/>
          </a:solidFill>
          <a:ln w="9525">
            <a:solidFill>
              <a:srgbClr val="B8BCC4"/>
            </a:solidFill>
            <a:prstDash val="solid"/>
          </a:ln>
        </p:spPr>
        <p:txBody>
          <a:bodyPr/>
          <a:lstStyle/>
          <a:p>
            <a:endParaRPr lang="es-ES"/>
          </a:p>
        </p:txBody>
      </p:sp>
      <p:sp>
        <p:nvSpPr>
          <p:cNvPr id="19" name="Rectángulo 18">
            <a:extLst>
              <a:ext uri="{FF2B5EF4-FFF2-40B4-BE49-F238E27FC236}">
                <a16:creationId xmlns:a16="http://schemas.microsoft.com/office/drawing/2014/main" id="{7BA075EE-19A7-4588-BABC-1B0D3D7C7F25}"/>
              </a:ext>
            </a:extLst>
          </p:cNvPr>
          <p:cNvSpPr>
            <a:spLocks noGrp="1"/>
          </p:cNvSpPr>
          <p:nvPr/>
        </p:nvSpPr>
        <p:spPr>
          <a:xfrm>
            <a:off x="9191625" y="3133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3</a:t>
            </a:r>
          </a:p>
        </p:txBody>
      </p:sp>
      <p:sp>
        <p:nvSpPr>
          <p:cNvPr id="20" name="Rectángulo 19">
            <a:extLst>
              <a:ext uri="{FF2B5EF4-FFF2-40B4-BE49-F238E27FC236}">
                <a16:creationId xmlns:a16="http://schemas.microsoft.com/office/drawing/2014/main" id="{D4C9D025-8876-49A9-9C06-E6766A1C7A4F}"/>
              </a:ext>
            </a:extLst>
          </p:cNvPr>
          <p:cNvSpPr>
            <a:spLocks noGrp="1"/>
          </p:cNvSpPr>
          <p:nvPr/>
        </p:nvSpPr>
        <p:spPr>
          <a:xfrm>
            <a:off x="9191625" y="3467100"/>
            <a:ext cx="890588"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Usuario</a:t>
            </a:r>
          </a:p>
        </p:txBody>
      </p:sp>
      <p:sp>
        <p:nvSpPr>
          <p:cNvPr id="21" name="Rectángulo: esquinas redondeadas 20">
            <a:extLst>
              <a:ext uri="{FF2B5EF4-FFF2-40B4-BE49-F238E27FC236}">
                <a16:creationId xmlns:a16="http://schemas.microsoft.com/office/drawing/2014/main" id="{2BFD4D15-74C7-4046-8663-273C8C94AC0A}"/>
              </a:ext>
            </a:extLst>
          </p:cNvPr>
          <p:cNvSpPr>
            <a:spLocks noGrp="1"/>
          </p:cNvSpPr>
          <p:nvPr/>
        </p:nvSpPr>
        <p:spPr>
          <a:xfrm>
            <a:off x="10444163" y="3009900"/>
            <a:ext cx="1157288" cy="1314450"/>
          </a:xfrm>
          <a:prstGeom prst="roundRect">
            <a:avLst>
              <a:gd name="adj" fmla="val 9877"/>
            </a:avLst>
          </a:prstGeom>
          <a:solidFill>
            <a:srgbClr val="DCEEFF"/>
          </a:solidFill>
          <a:ln w="9525">
            <a:solidFill>
              <a:srgbClr val="B8BCC4"/>
            </a:solidFill>
            <a:prstDash val="solid"/>
          </a:ln>
        </p:spPr>
        <p:txBody>
          <a:bodyPr/>
          <a:lstStyle/>
          <a:p>
            <a:endParaRPr lang="es-ES"/>
          </a:p>
        </p:txBody>
      </p:sp>
      <p:sp>
        <p:nvSpPr>
          <p:cNvPr id="22" name="Rectángulo 21">
            <a:extLst>
              <a:ext uri="{FF2B5EF4-FFF2-40B4-BE49-F238E27FC236}">
                <a16:creationId xmlns:a16="http://schemas.microsoft.com/office/drawing/2014/main" id="{3DEBBC9E-D997-4138-B102-0B08AB09F8D6}"/>
              </a:ext>
            </a:extLst>
          </p:cNvPr>
          <p:cNvSpPr>
            <a:spLocks noGrp="1"/>
          </p:cNvSpPr>
          <p:nvPr/>
        </p:nvSpPr>
        <p:spPr>
          <a:xfrm>
            <a:off x="10577513" y="3133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4</a:t>
            </a:r>
          </a:p>
        </p:txBody>
      </p:sp>
      <p:sp>
        <p:nvSpPr>
          <p:cNvPr id="23" name="Rectángulo 22">
            <a:extLst>
              <a:ext uri="{FF2B5EF4-FFF2-40B4-BE49-F238E27FC236}">
                <a16:creationId xmlns:a16="http://schemas.microsoft.com/office/drawing/2014/main" id="{E211745B-6E95-4E3C-97B9-85BC78C45E26}"/>
              </a:ext>
            </a:extLst>
          </p:cNvPr>
          <p:cNvSpPr>
            <a:spLocks noGrp="1"/>
          </p:cNvSpPr>
          <p:nvPr/>
        </p:nvSpPr>
        <p:spPr>
          <a:xfrm>
            <a:off x="10577513" y="3467100"/>
            <a:ext cx="890588"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Regla</a:t>
            </a:r>
          </a:p>
        </p:txBody>
      </p:sp>
      <p:sp>
        <p:nvSpPr>
          <p:cNvPr id="24" name="Rectángulo 23">
            <a:extLst>
              <a:ext uri="{FF2B5EF4-FFF2-40B4-BE49-F238E27FC236}">
                <a16:creationId xmlns:a16="http://schemas.microsoft.com/office/drawing/2014/main" id="{74863E18-432A-47CF-AA5E-9B36FE7FE5BB}"/>
              </a:ext>
            </a:extLst>
          </p:cNvPr>
          <p:cNvSpPr>
            <a:spLocks noGrp="1"/>
          </p:cNvSpPr>
          <p:nvPr/>
        </p:nvSpPr>
        <p:spPr>
          <a:xfrm>
            <a:off x="7239000" y="4762500"/>
            <a:ext cx="3048000" cy="400050"/>
          </a:xfrm>
          <a:prstGeom prst="rect">
            <a:avLst/>
          </a:prstGeom>
          <a:noFill/>
          <a:ln w="0">
            <a:noFill/>
            <a:prstDash val="solid"/>
          </a:ln>
        </p:spPr>
        <p:txBody>
          <a:bodyPr wrap="square" lIns="0" tIns="0" rIns="0" bIns="0" anchor="t">
            <a:normAutofit/>
          </a:bodyPr>
          <a:lstStyle/>
          <a:p>
            <a:pPr algn="ctr">
              <a:defRPr sz="1800" b="1">
                <a:solidFill>
                  <a:srgbClr val="000000"/>
                </a:solidFill>
                <a:latin typeface="Arial"/>
                <a:ea typeface="Arial"/>
                <a:cs typeface="Arial"/>
              </a:defRPr>
            </a:pPr>
            <a:r>
              <a:rPr sz="1800" b="1">
                <a:solidFill>
                  <a:srgbClr val="000000"/>
                </a:solidFill>
                <a:latin typeface="Arial"/>
                <a:ea typeface="Arial"/>
                <a:cs typeface="Arial"/>
              </a:rPr>
              <a:t>HttpContext.User</a:t>
            </a:r>
          </a:p>
        </p:txBody>
      </p:sp>
    </p:spTree>
    <p:extLst>
      <p:ext uri="{BB962C8B-B14F-4D97-AF65-F5344CB8AC3E}">
        <p14:creationId xmlns:p14="http://schemas.microsoft.com/office/powerpoint/2010/main" val="558247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78456CDF-2094-4774-8BEF-0A498D2F1DB0}"/>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2">
            <a:extLst>
              <a:ext uri="{FF2B5EF4-FFF2-40B4-BE49-F238E27FC236}">
                <a16:creationId xmlns:a16="http://schemas.microsoft.com/office/drawing/2014/main" id="{5EECA5D2-D5A0-407C-88A5-E2F552C0B6AD}"/>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Identity usa un modelo relacional preparado para crecer</a:t>
            </a:r>
          </a:p>
        </p:txBody>
      </p:sp>
      <p:cxnSp>
        <p:nvCxnSpPr>
          <p:cNvPr id="78" name="Conector recto de flecha 77"/>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BFD525B0-D895-4413-AE3A-710C66EE49F0}"/>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459B2474-1114-49A0-8639-99FD81B517A8}"/>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12</a:t>
            </a:r>
          </a:p>
        </p:txBody>
      </p:sp>
      <p:sp>
        <p:nvSpPr>
          <p:cNvPr id="6" name="Rectángulo 5">
            <a:extLst>
              <a:ext uri="{FF2B5EF4-FFF2-40B4-BE49-F238E27FC236}">
                <a16:creationId xmlns:a16="http://schemas.microsoft.com/office/drawing/2014/main" id="{6020CBFF-6FA5-4AE3-A467-ADD714577062}"/>
              </a:ext>
            </a:extLst>
          </p:cNvPr>
          <p:cNvSpPr>
            <a:spLocks noGrp="1"/>
          </p:cNvSpPr>
          <p:nvPr/>
        </p:nvSpPr>
        <p:spPr>
          <a:xfrm>
            <a:off x="400050" y="1885950"/>
            <a:ext cx="2286000" cy="495300"/>
          </a:xfrm>
          <a:prstGeom prst="rect">
            <a:avLst/>
          </a:prstGeom>
          <a:solidFill>
            <a:srgbClr val="000000"/>
          </a:solidFill>
          <a:ln w="9525">
            <a:solidFill>
              <a:srgbClr val="000000"/>
            </a:solidFill>
            <a:prstDash val="solid"/>
          </a:ln>
        </p:spPr>
        <p:txBody>
          <a:bodyPr/>
          <a:lstStyle/>
          <a:p>
            <a:endParaRPr lang="es-ES"/>
          </a:p>
        </p:txBody>
      </p:sp>
      <p:sp>
        <p:nvSpPr>
          <p:cNvPr id="7" name="Rectángulo 6">
            <a:extLst>
              <a:ext uri="{FF2B5EF4-FFF2-40B4-BE49-F238E27FC236}">
                <a16:creationId xmlns:a16="http://schemas.microsoft.com/office/drawing/2014/main" id="{CE4FEE4B-8C4A-4B18-B9E3-473BEF733982}"/>
              </a:ext>
            </a:extLst>
          </p:cNvPr>
          <p:cNvSpPr>
            <a:spLocks noGrp="1"/>
          </p:cNvSpPr>
          <p:nvPr/>
        </p:nvSpPr>
        <p:spPr>
          <a:xfrm>
            <a:off x="514350" y="2009775"/>
            <a:ext cx="2057400" cy="247650"/>
          </a:xfrm>
          <a:prstGeom prst="rect">
            <a:avLst/>
          </a:prstGeom>
          <a:noFill/>
          <a:ln w="0">
            <a:noFill/>
            <a:prstDash val="solid"/>
          </a:ln>
        </p:spPr>
        <p:txBody>
          <a:bodyPr wrap="square" lIns="0" tIns="0" rIns="0" bIns="0" anchor="t">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Tabla</a:t>
            </a:r>
          </a:p>
        </p:txBody>
      </p:sp>
      <p:sp>
        <p:nvSpPr>
          <p:cNvPr id="8" name="Rectángulo 7">
            <a:extLst>
              <a:ext uri="{FF2B5EF4-FFF2-40B4-BE49-F238E27FC236}">
                <a16:creationId xmlns:a16="http://schemas.microsoft.com/office/drawing/2014/main" id="{F769D032-AC99-46DD-914E-64456C4D9CB6}"/>
              </a:ext>
            </a:extLst>
          </p:cNvPr>
          <p:cNvSpPr>
            <a:spLocks noGrp="1"/>
          </p:cNvSpPr>
          <p:nvPr/>
        </p:nvSpPr>
        <p:spPr>
          <a:xfrm>
            <a:off x="2686050" y="1885950"/>
            <a:ext cx="2381250" cy="495300"/>
          </a:xfrm>
          <a:prstGeom prst="rect">
            <a:avLst/>
          </a:prstGeom>
          <a:solidFill>
            <a:srgbClr val="000000"/>
          </a:solidFill>
          <a:ln w="9525">
            <a:solidFill>
              <a:srgbClr val="000000"/>
            </a:solidFill>
            <a:prstDash val="solid"/>
          </a:ln>
        </p:spPr>
        <p:txBody>
          <a:bodyPr/>
          <a:lstStyle/>
          <a:p>
            <a:endParaRPr lang="es-ES"/>
          </a:p>
        </p:txBody>
      </p:sp>
      <p:sp>
        <p:nvSpPr>
          <p:cNvPr id="9" name="Rectángulo 8">
            <a:extLst>
              <a:ext uri="{FF2B5EF4-FFF2-40B4-BE49-F238E27FC236}">
                <a16:creationId xmlns:a16="http://schemas.microsoft.com/office/drawing/2014/main" id="{7F31AC23-3D03-4523-B57A-19CEC215B42F}"/>
              </a:ext>
            </a:extLst>
          </p:cNvPr>
          <p:cNvSpPr>
            <a:spLocks noGrp="1"/>
          </p:cNvSpPr>
          <p:nvPr/>
        </p:nvSpPr>
        <p:spPr>
          <a:xfrm>
            <a:off x="2800350" y="2009775"/>
            <a:ext cx="2152650" cy="247650"/>
          </a:xfrm>
          <a:prstGeom prst="rect">
            <a:avLst/>
          </a:prstGeom>
          <a:noFill/>
          <a:ln w="0">
            <a:noFill/>
            <a:prstDash val="solid"/>
          </a:ln>
        </p:spPr>
        <p:txBody>
          <a:bodyPr wrap="square" lIns="0" tIns="0" rIns="0" bIns="0" anchor="t">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Usuarios</a:t>
            </a:r>
          </a:p>
        </p:txBody>
      </p:sp>
      <p:sp>
        <p:nvSpPr>
          <p:cNvPr id="10" name="Rectángulo 9">
            <a:extLst>
              <a:ext uri="{FF2B5EF4-FFF2-40B4-BE49-F238E27FC236}">
                <a16:creationId xmlns:a16="http://schemas.microsoft.com/office/drawing/2014/main" id="{922B3CB0-7DC2-47BD-9794-34FAF99E9DC5}"/>
              </a:ext>
            </a:extLst>
          </p:cNvPr>
          <p:cNvSpPr>
            <a:spLocks noGrp="1"/>
          </p:cNvSpPr>
          <p:nvPr/>
        </p:nvSpPr>
        <p:spPr>
          <a:xfrm>
            <a:off x="5067300" y="1885950"/>
            <a:ext cx="2381250" cy="495300"/>
          </a:xfrm>
          <a:prstGeom prst="rect">
            <a:avLst/>
          </a:prstGeom>
          <a:solidFill>
            <a:srgbClr val="000000"/>
          </a:solidFill>
          <a:ln w="9525">
            <a:solidFill>
              <a:srgbClr val="000000"/>
            </a:solidFill>
            <a:prstDash val="solid"/>
          </a:ln>
        </p:spPr>
        <p:txBody>
          <a:bodyPr/>
          <a:lstStyle/>
          <a:p>
            <a:endParaRPr lang="es-ES"/>
          </a:p>
        </p:txBody>
      </p:sp>
      <p:sp>
        <p:nvSpPr>
          <p:cNvPr id="11" name="Rectángulo 10">
            <a:extLst>
              <a:ext uri="{FF2B5EF4-FFF2-40B4-BE49-F238E27FC236}">
                <a16:creationId xmlns:a16="http://schemas.microsoft.com/office/drawing/2014/main" id="{152D42EB-3269-4ACA-A2AC-7D256DC27917}"/>
              </a:ext>
            </a:extLst>
          </p:cNvPr>
          <p:cNvSpPr>
            <a:spLocks noGrp="1"/>
          </p:cNvSpPr>
          <p:nvPr/>
        </p:nvSpPr>
        <p:spPr>
          <a:xfrm>
            <a:off x="5181600" y="2009775"/>
            <a:ext cx="2152650" cy="247650"/>
          </a:xfrm>
          <a:prstGeom prst="rect">
            <a:avLst/>
          </a:prstGeom>
          <a:noFill/>
          <a:ln w="0">
            <a:noFill/>
            <a:prstDash val="solid"/>
          </a:ln>
        </p:spPr>
        <p:txBody>
          <a:bodyPr wrap="square" lIns="0" tIns="0" rIns="0" bIns="0" anchor="t">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Roles</a:t>
            </a:r>
          </a:p>
        </p:txBody>
      </p:sp>
      <p:sp>
        <p:nvSpPr>
          <p:cNvPr id="12" name="Rectángulo 11">
            <a:extLst>
              <a:ext uri="{FF2B5EF4-FFF2-40B4-BE49-F238E27FC236}">
                <a16:creationId xmlns:a16="http://schemas.microsoft.com/office/drawing/2014/main" id="{8AE366E5-F7B9-45A1-8982-FE7AD5F9DBB8}"/>
              </a:ext>
            </a:extLst>
          </p:cNvPr>
          <p:cNvSpPr>
            <a:spLocks noGrp="1"/>
          </p:cNvSpPr>
          <p:nvPr/>
        </p:nvSpPr>
        <p:spPr>
          <a:xfrm>
            <a:off x="7448550" y="1885950"/>
            <a:ext cx="2381250" cy="495300"/>
          </a:xfrm>
          <a:prstGeom prst="rect">
            <a:avLst/>
          </a:prstGeom>
          <a:solidFill>
            <a:srgbClr val="000000"/>
          </a:solidFill>
          <a:ln w="9525">
            <a:solidFill>
              <a:srgbClr val="000000"/>
            </a:solidFill>
            <a:prstDash val="solid"/>
          </a:ln>
        </p:spPr>
        <p:txBody>
          <a:bodyPr/>
          <a:lstStyle/>
          <a:p>
            <a:endParaRPr lang="es-ES"/>
          </a:p>
        </p:txBody>
      </p:sp>
      <p:sp>
        <p:nvSpPr>
          <p:cNvPr id="13" name="Rectángulo 12">
            <a:extLst>
              <a:ext uri="{FF2B5EF4-FFF2-40B4-BE49-F238E27FC236}">
                <a16:creationId xmlns:a16="http://schemas.microsoft.com/office/drawing/2014/main" id="{877D9DC4-CD49-4C4E-872B-C68AD7B2BEEA}"/>
              </a:ext>
            </a:extLst>
          </p:cNvPr>
          <p:cNvSpPr>
            <a:spLocks noGrp="1"/>
          </p:cNvSpPr>
          <p:nvPr/>
        </p:nvSpPr>
        <p:spPr>
          <a:xfrm>
            <a:off x="7562850" y="2009775"/>
            <a:ext cx="2152650" cy="247650"/>
          </a:xfrm>
          <a:prstGeom prst="rect">
            <a:avLst/>
          </a:prstGeom>
          <a:noFill/>
          <a:ln w="0">
            <a:noFill/>
            <a:prstDash val="solid"/>
          </a:ln>
        </p:spPr>
        <p:txBody>
          <a:bodyPr wrap="square" lIns="0" tIns="0" rIns="0" bIns="0" anchor="t">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Relación</a:t>
            </a:r>
          </a:p>
        </p:txBody>
      </p:sp>
      <p:sp>
        <p:nvSpPr>
          <p:cNvPr id="14" name="Rectángulo 13">
            <a:extLst>
              <a:ext uri="{FF2B5EF4-FFF2-40B4-BE49-F238E27FC236}">
                <a16:creationId xmlns:a16="http://schemas.microsoft.com/office/drawing/2014/main" id="{693A341E-FD6E-4F2D-941A-42041E9360F8}"/>
              </a:ext>
            </a:extLst>
          </p:cNvPr>
          <p:cNvSpPr>
            <a:spLocks noGrp="1"/>
          </p:cNvSpPr>
          <p:nvPr/>
        </p:nvSpPr>
        <p:spPr>
          <a:xfrm>
            <a:off x="9829800" y="1885950"/>
            <a:ext cx="1962150" cy="495300"/>
          </a:xfrm>
          <a:prstGeom prst="rect">
            <a:avLst/>
          </a:prstGeom>
          <a:solidFill>
            <a:srgbClr val="000000"/>
          </a:solidFill>
          <a:ln w="9525">
            <a:solidFill>
              <a:srgbClr val="000000"/>
            </a:solidFill>
            <a:prstDash val="solid"/>
          </a:ln>
        </p:spPr>
        <p:txBody>
          <a:bodyPr/>
          <a:lstStyle/>
          <a:p>
            <a:endParaRPr lang="es-ES"/>
          </a:p>
        </p:txBody>
      </p:sp>
      <p:sp>
        <p:nvSpPr>
          <p:cNvPr id="15" name="Rectángulo 14">
            <a:extLst>
              <a:ext uri="{FF2B5EF4-FFF2-40B4-BE49-F238E27FC236}">
                <a16:creationId xmlns:a16="http://schemas.microsoft.com/office/drawing/2014/main" id="{FD9F181E-AF29-430B-8EC8-52B16669B6F2}"/>
              </a:ext>
            </a:extLst>
          </p:cNvPr>
          <p:cNvSpPr>
            <a:spLocks noGrp="1"/>
          </p:cNvSpPr>
          <p:nvPr/>
        </p:nvSpPr>
        <p:spPr>
          <a:xfrm>
            <a:off x="9944100" y="2009775"/>
            <a:ext cx="1733550" cy="247650"/>
          </a:xfrm>
          <a:prstGeom prst="rect">
            <a:avLst/>
          </a:prstGeom>
          <a:noFill/>
          <a:ln w="0">
            <a:noFill/>
            <a:prstDash val="solid"/>
          </a:ln>
        </p:spPr>
        <p:txBody>
          <a:bodyPr wrap="square" lIns="0" tIns="0" rIns="0" bIns="0" anchor="t">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Finalidad</a:t>
            </a:r>
          </a:p>
        </p:txBody>
      </p:sp>
      <p:sp>
        <p:nvSpPr>
          <p:cNvPr id="16" name="Rectángulo 15">
            <a:extLst>
              <a:ext uri="{FF2B5EF4-FFF2-40B4-BE49-F238E27FC236}">
                <a16:creationId xmlns:a16="http://schemas.microsoft.com/office/drawing/2014/main" id="{D9772388-A4A8-40A3-B1C1-159E367365AC}"/>
              </a:ext>
            </a:extLst>
          </p:cNvPr>
          <p:cNvSpPr>
            <a:spLocks noGrp="1"/>
          </p:cNvSpPr>
          <p:nvPr/>
        </p:nvSpPr>
        <p:spPr>
          <a:xfrm>
            <a:off x="400050" y="2381250"/>
            <a:ext cx="2286000" cy="542925"/>
          </a:xfrm>
          <a:prstGeom prst="rect">
            <a:avLst/>
          </a:prstGeom>
          <a:solidFill>
            <a:srgbClr val="FFFFFF"/>
          </a:solidFill>
          <a:ln w="9525">
            <a:solidFill>
              <a:srgbClr val="B8BCC4"/>
            </a:solidFill>
            <a:prstDash val="solid"/>
          </a:ln>
        </p:spPr>
        <p:txBody>
          <a:bodyPr/>
          <a:lstStyle/>
          <a:p>
            <a:endParaRPr lang="es-ES"/>
          </a:p>
        </p:txBody>
      </p:sp>
      <p:sp>
        <p:nvSpPr>
          <p:cNvPr id="17" name="Rectángulo 16">
            <a:extLst>
              <a:ext uri="{FF2B5EF4-FFF2-40B4-BE49-F238E27FC236}">
                <a16:creationId xmlns:a16="http://schemas.microsoft.com/office/drawing/2014/main" id="{12D80486-63F1-4E9E-9984-DF8DFDE473F8}"/>
              </a:ext>
            </a:extLst>
          </p:cNvPr>
          <p:cNvSpPr>
            <a:spLocks noGrp="1"/>
          </p:cNvSpPr>
          <p:nvPr/>
        </p:nvSpPr>
        <p:spPr>
          <a:xfrm>
            <a:off x="514350" y="2533650"/>
            <a:ext cx="2057400" cy="266700"/>
          </a:xfrm>
          <a:prstGeom prst="rect">
            <a:avLst/>
          </a:prstGeom>
          <a:noFill/>
          <a:ln w="0">
            <a:noFill/>
            <a:prstDash val="solid"/>
          </a:ln>
        </p:spPr>
        <p:txBody>
          <a:bodyPr wrap="square" lIns="0" tIns="0" rIns="0" bIns="0" anchor="t">
            <a:normAutofit/>
          </a:bodyPr>
          <a:lstStyle/>
          <a:p>
            <a:pPr algn="l">
              <a:defRPr sz="1200" b="1">
                <a:solidFill>
                  <a:srgbClr val="000000"/>
                </a:solidFill>
                <a:latin typeface="Arial"/>
                <a:ea typeface="Arial"/>
                <a:cs typeface="Arial"/>
              </a:defRPr>
            </a:pPr>
            <a:r>
              <a:rPr sz="1200" b="1">
                <a:solidFill>
                  <a:srgbClr val="000000"/>
                </a:solidFill>
                <a:latin typeface="Arial"/>
                <a:ea typeface="Arial"/>
                <a:cs typeface="Arial"/>
              </a:rPr>
              <a:t>AspNetUsers</a:t>
            </a:r>
          </a:p>
        </p:txBody>
      </p:sp>
      <p:sp>
        <p:nvSpPr>
          <p:cNvPr id="18" name="Rectángulo 17">
            <a:extLst>
              <a:ext uri="{FF2B5EF4-FFF2-40B4-BE49-F238E27FC236}">
                <a16:creationId xmlns:a16="http://schemas.microsoft.com/office/drawing/2014/main" id="{AB611C5F-0A13-4201-B8FC-4F456BEAB5FC}"/>
              </a:ext>
            </a:extLst>
          </p:cNvPr>
          <p:cNvSpPr>
            <a:spLocks noGrp="1"/>
          </p:cNvSpPr>
          <p:nvPr/>
        </p:nvSpPr>
        <p:spPr>
          <a:xfrm>
            <a:off x="2686050" y="2381250"/>
            <a:ext cx="2381250" cy="542925"/>
          </a:xfrm>
          <a:prstGeom prst="rect">
            <a:avLst/>
          </a:prstGeom>
          <a:solidFill>
            <a:srgbClr val="FFFFFF"/>
          </a:solidFill>
          <a:ln w="9525">
            <a:solidFill>
              <a:srgbClr val="B8BCC4"/>
            </a:solidFill>
            <a:prstDash val="solid"/>
          </a:ln>
        </p:spPr>
        <p:txBody>
          <a:bodyPr/>
          <a:lstStyle/>
          <a:p>
            <a:endParaRPr lang="es-ES"/>
          </a:p>
        </p:txBody>
      </p:sp>
      <p:sp>
        <p:nvSpPr>
          <p:cNvPr id="19" name="Rectángulo 18">
            <a:extLst>
              <a:ext uri="{FF2B5EF4-FFF2-40B4-BE49-F238E27FC236}">
                <a16:creationId xmlns:a16="http://schemas.microsoft.com/office/drawing/2014/main" id="{59218468-99B6-4045-BEAC-F63F6C572584}"/>
              </a:ext>
            </a:extLst>
          </p:cNvPr>
          <p:cNvSpPr>
            <a:spLocks noGrp="1"/>
          </p:cNvSpPr>
          <p:nvPr/>
        </p:nvSpPr>
        <p:spPr>
          <a:xfrm>
            <a:off x="2800350" y="2533650"/>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t>
            </a:r>
          </a:p>
        </p:txBody>
      </p:sp>
      <p:sp>
        <p:nvSpPr>
          <p:cNvPr id="20" name="Rectángulo 19">
            <a:extLst>
              <a:ext uri="{FF2B5EF4-FFF2-40B4-BE49-F238E27FC236}">
                <a16:creationId xmlns:a16="http://schemas.microsoft.com/office/drawing/2014/main" id="{BBD45A19-B5CE-43A7-AF0A-76A7BDEE337A}"/>
              </a:ext>
            </a:extLst>
          </p:cNvPr>
          <p:cNvSpPr>
            <a:spLocks noGrp="1"/>
          </p:cNvSpPr>
          <p:nvPr/>
        </p:nvSpPr>
        <p:spPr>
          <a:xfrm>
            <a:off x="5067300" y="2381250"/>
            <a:ext cx="2381250" cy="542925"/>
          </a:xfrm>
          <a:prstGeom prst="rect">
            <a:avLst/>
          </a:prstGeom>
          <a:solidFill>
            <a:srgbClr val="FFFFFF"/>
          </a:solidFill>
          <a:ln w="9525">
            <a:solidFill>
              <a:srgbClr val="B8BCC4"/>
            </a:solidFill>
            <a:prstDash val="solid"/>
          </a:ln>
        </p:spPr>
        <p:txBody>
          <a:bodyPr/>
          <a:lstStyle/>
          <a:p>
            <a:endParaRPr lang="es-ES"/>
          </a:p>
        </p:txBody>
      </p:sp>
      <p:sp>
        <p:nvSpPr>
          <p:cNvPr id="21" name="Rectángulo 20">
            <a:extLst>
              <a:ext uri="{FF2B5EF4-FFF2-40B4-BE49-F238E27FC236}">
                <a16:creationId xmlns:a16="http://schemas.microsoft.com/office/drawing/2014/main" id="{849B3F96-0B8A-4740-96DA-9C7AC98DB717}"/>
              </a:ext>
            </a:extLst>
          </p:cNvPr>
          <p:cNvSpPr>
            <a:spLocks noGrp="1"/>
          </p:cNvSpPr>
          <p:nvPr/>
        </p:nvSpPr>
        <p:spPr>
          <a:xfrm>
            <a:off x="5181600" y="2533650"/>
            <a:ext cx="2152650" cy="266700"/>
          </a:xfrm>
          <a:prstGeom prst="rect">
            <a:avLst/>
          </a:prstGeom>
          <a:noFill/>
          <a:ln w="0">
            <a:noFill/>
            <a:prstDash val="solid"/>
          </a:ln>
        </p:spPr>
        <p:txBody>
          <a:bodyPr wrap="square" lIns="0" tIns="0" rIns="0" bIns="0" anchor="t">
            <a:normAutofit/>
          </a:bodyPr>
          <a:lstStyle/>
          <a:p>
            <a:endParaRPr/>
          </a:p>
        </p:txBody>
      </p:sp>
      <p:sp>
        <p:nvSpPr>
          <p:cNvPr id="22" name="Rectángulo 21">
            <a:extLst>
              <a:ext uri="{FF2B5EF4-FFF2-40B4-BE49-F238E27FC236}">
                <a16:creationId xmlns:a16="http://schemas.microsoft.com/office/drawing/2014/main" id="{45C44E6E-83FD-43CF-81E0-00A1EB7B9E78}"/>
              </a:ext>
            </a:extLst>
          </p:cNvPr>
          <p:cNvSpPr>
            <a:spLocks noGrp="1"/>
          </p:cNvSpPr>
          <p:nvPr/>
        </p:nvSpPr>
        <p:spPr>
          <a:xfrm>
            <a:off x="7448550" y="2381250"/>
            <a:ext cx="2381250" cy="542925"/>
          </a:xfrm>
          <a:prstGeom prst="rect">
            <a:avLst/>
          </a:prstGeom>
          <a:solidFill>
            <a:srgbClr val="FFFFFF"/>
          </a:solidFill>
          <a:ln w="9525">
            <a:solidFill>
              <a:srgbClr val="B8BCC4"/>
            </a:solidFill>
            <a:prstDash val="solid"/>
          </a:ln>
        </p:spPr>
        <p:txBody>
          <a:bodyPr/>
          <a:lstStyle/>
          <a:p>
            <a:endParaRPr lang="es-ES"/>
          </a:p>
        </p:txBody>
      </p:sp>
      <p:sp>
        <p:nvSpPr>
          <p:cNvPr id="23" name="Rectángulo 22">
            <a:extLst>
              <a:ext uri="{FF2B5EF4-FFF2-40B4-BE49-F238E27FC236}">
                <a16:creationId xmlns:a16="http://schemas.microsoft.com/office/drawing/2014/main" id="{B5477F0D-E4F8-4D77-894A-D6F92C79C93B}"/>
              </a:ext>
            </a:extLst>
          </p:cNvPr>
          <p:cNvSpPr>
            <a:spLocks noGrp="1"/>
          </p:cNvSpPr>
          <p:nvPr/>
        </p:nvSpPr>
        <p:spPr>
          <a:xfrm>
            <a:off x="7562850" y="2533650"/>
            <a:ext cx="2152650" cy="266700"/>
          </a:xfrm>
          <a:prstGeom prst="rect">
            <a:avLst/>
          </a:prstGeom>
          <a:noFill/>
          <a:ln w="0">
            <a:noFill/>
            <a:prstDash val="solid"/>
          </a:ln>
        </p:spPr>
        <p:txBody>
          <a:bodyPr wrap="square" lIns="0" tIns="0" rIns="0" bIns="0" anchor="t">
            <a:normAutofit/>
          </a:bodyPr>
          <a:lstStyle/>
          <a:p>
            <a:endParaRPr/>
          </a:p>
        </p:txBody>
      </p:sp>
      <p:sp>
        <p:nvSpPr>
          <p:cNvPr id="24" name="Rectángulo 23">
            <a:extLst>
              <a:ext uri="{FF2B5EF4-FFF2-40B4-BE49-F238E27FC236}">
                <a16:creationId xmlns:a16="http://schemas.microsoft.com/office/drawing/2014/main" id="{493C4902-474D-47DF-A213-E23E994CCCAE}"/>
              </a:ext>
            </a:extLst>
          </p:cNvPr>
          <p:cNvSpPr>
            <a:spLocks noGrp="1"/>
          </p:cNvSpPr>
          <p:nvPr/>
        </p:nvSpPr>
        <p:spPr>
          <a:xfrm>
            <a:off x="9829800" y="2381250"/>
            <a:ext cx="1962150" cy="542925"/>
          </a:xfrm>
          <a:prstGeom prst="rect">
            <a:avLst/>
          </a:prstGeom>
          <a:solidFill>
            <a:srgbClr val="FFFFFF"/>
          </a:solidFill>
          <a:ln w="9525">
            <a:solidFill>
              <a:srgbClr val="B8BCC4"/>
            </a:solidFill>
            <a:prstDash val="solid"/>
          </a:ln>
        </p:spPr>
        <p:txBody>
          <a:bodyPr/>
          <a:lstStyle/>
          <a:p>
            <a:endParaRPr lang="es-ES"/>
          </a:p>
        </p:txBody>
      </p:sp>
      <p:sp>
        <p:nvSpPr>
          <p:cNvPr id="25" name="Rectángulo 24">
            <a:extLst>
              <a:ext uri="{FF2B5EF4-FFF2-40B4-BE49-F238E27FC236}">
                <a16:creationId xmlns:a16="http://schemas.microsoft.com/office/drawing/2014/main" id="{4F562EAC-8297-41D0-B8E8-CADCD7E4EE26}"/>
              </a:ext>
            </a:extLst>
          </p:cNvPr>
          <p:cNvSpPr>
            <a:spLocks noGrp="1"/>
          </p:cNvSpPr>
          <p:nvPr/>
        </p:nvSpPr>
        <p:spPr>
          <a:xfrm>
            <a:off x="9944100" y="2533650"/>
            <a:ext cx="1733550" cy="266700"/>
          </a:xfrm>
          <a:prstGeom prst="rect">
            <a:avLst/>
          </a:prstGeom>
          <a:noFill/>
          <a:ln w="0">
            <a:noFill/>
            <a:prstDash val="solid"/>
          </a:ln>
        </p:spPr>
        <p:txBody>
          <a:bodyPr wrap="square" lIns="0" tIns="0" rIns="0" bIns="0" anchor="t">
            <a:normAutofit/>
          </a:bodyPr>
          <a:lstStyle/>
          <a:p>
            <a:pPr algn="l">
              <a:defRPr sz="1200" b="0">
                <a:solidFill>
                  <a:srgbClr val="565E6B"/>
                </a:solidFill>
                <a:latin typeface="Arial"/>
                <a:ea typeface="Arial"/>
                <a:cs typeface="Arial"/>
              </a:defRPr>
            </a:pPr>
            <a:r>
              <a:rPr sz="1200" b="0">
                <a:solidFill>
                  <a:srgbClr val="565E6B"/>
                </a:solidFill>
                <a:latin typeface="Arial"/>
                <a:ea typeface="Arial"/>
                <a:cs typeface="Arial"/>
              </a:rPr>
              <a:t>Cuenta y perfil</a:t>
            </a:r>
          </a:p>
        </p:txBody>
      </p:sp>
      <p:sp>
        <p:nvSpPr>
          <p:cNvPr id="26" name="Rectángulo 25">
            <a:extLst>
              <a:ext uri="{FF2B5EF4-FFF2-40B4-BE49-F238E27FC236}">
                <a16:creationId xmlns:a16="http://schemas.microsoft.com/office/drawing/2014/main" id="{C5903981-9EAF-440C-AD68-73F525AF068A}"/>
              </a:ext>
            </a:extLst>
          </p:cNvPr>
          <p:cNvSpPr>
            <a:spLocks noGrp="1"/>
          </p:cNvSpPr>
          <p:nvPr/>
        </p:nvSpPr>
        <p:spPr>
          <a:xfrm>
            <a:off x="400050" y="2924175"/>
            <a:ext cx="2286000" cy="542925"/>
          </a:xfrm>
          <a:prstGeom prst="rect">
            <a:avLst/>
          </a:prstGeom>
          <a:solidFill>
            <a:srgbClr val="F6F7F8"/>
          </a:solidFill>
          <a:ln w="9525">
            <a:solidFill>
              <a:srgbClr val="B8BCC4"/>
            </a:solidFill>
            <a:prstDash val="solid"/>
          </a:ln>
        </p:spPr>
        <p:txBody>
          <a:bodyPr/>
          <a:lstStyle/>
          <a:p>
            <a:endParaRPr lang="es-ES"/>
          </a:p>
        </p:txBody>
      </p:sp>
      <p:sp>
        <p:nvSpPr>
          <p:cNvPr id="27" name="Rectángulo 26">
            <a:extLst>
              <a:ext uri="{FF2B5EF4-FFF2-40B4-BE49-F238E27FC236}">
                <a16:creationId xmlns:a16="http://schemas.microsoft.com/office/drawing/2014/main" id="{01211EB5-1DEC-42C8-A9BC-9B2F49D74B6B}"/>
              </a:ext>
            </a:extLst>
          </p:cNvPr>
          <p:cNvSpPr>
            <a:spLocks noGrp="1"/>
          </p:cNvSpPr>
          <p:nvPr/>
        </p:nvSpPr>
        <p:spPr>
          <a:xfrm>
            <a:off x="514350" y="3076575"/>
            <a:ext cx="2057400" cy="266700"/>
          </a:xfrm>
          <a:prstGeom prst="rect">
            <a:avLst/>
          </a:prstGeom>
          <a:noFill/>
          <a:ln w="0">
            <a:noFill/>
            <a:prstDash val="solid"/>
          </a:ln>
        </p:spPr>
        <p:txBody>
          <a:bodyPr wrap="square" lIns="0" tIns="0" rIns="0" bIns="0" anchor="t">
            <a:normAutofit/>
          </a:bodyPr>
          <a:lstStyle/>
          <a:p>
            <a:pPr algn="l">
              <a:defRPr sz="1200" b="1">
                <a:solidFill>
                  <a:srgbClr val="000000"/>
                </a:solidFill>
                <a:latin typeface="Arial"/>
                <a:ea typeface="Arial"/>
                <a:cs typeface="Arial"/>
              </a:defRPr>
            </a:pPr>
            <a:r>
              <a:rPr sz="1200" b="1">
                <a:solidFill>
                  <a:srgbClr val="000000"/>
                </a:solidFill>
                <a:latin typeface="Arial"/>
                <a:ea typeface="Arial"/>
                <a:cs typeface="Arial"/>
              </a:rPr>
              <a:t>AspNetRoles</a:t>
            </a:r>
          </a:p>
        </p:txBody>
      </p:sp>
      <p:sp>
        <p:nvSpPr>
          <p:cNvPr id="28" name="Rectángulo 27">
            <a:extLst>
              <a:ext uri="{FF2B5EF4-FFF2-40B4-BE49-F238E27FC236}">
                <a16:creationId xmlns:a16="http://schemas.microsoft.com/office/drawing/2014/main" id="{1CF00DC6-9F02-4578-AE91-483FCFDB74B2}"/>
              </a:ext>
            </a:extLst>
          </p:cNvPr>
          <p:cNvSpPr>
            <a:spLocks noGrp="1"/>
          </p:cNvSpPr>
          <p:nvPr/>
        </p:nvSpPr>
        <p:spPr>
          <a:xfrm>
            <a:off x="2686050" y="2924175"/>
            <a:ext cx="2381250" cy="542925"/>
          </a:xfrm>
          <a:prstGeom prst="rect">
            <a:avLst/>
          </a:prstGeom>
          <a:solidFill>
            <a:srgbClr val="F6F7F8"/>
          </a:solidFill>
          <a:ln w="9525">
            <a:solidFill>
              <a:srgbClr val="B8BCC4"/>
            </a:solidFill>
            <a:prstDash val="solid"/>
          </a:ln>
        </p:spPr>
        <p:txBody>
          <a:bodyPr/>
          <a:lstStyle/>
          <a:p>
            <a:endParaRPr lang="es-ES"/>
          </a:p>
        </p:txBody>
      </p:sp>
      <p:sp>
        <p:nvSpPr>
          <p:cNvPr id="29" name="Rectángulo 28">
            <a:extLst>
              <a:ext uri="{FF2B5EF4-FFF2-40B4-BE49-F238E27FC236}">
                <a16:creationId xmlns:a16="http://schemas.microsoft.com/office/drawing/2014/main" id="{3D61E01E-9E00-4E54-A40A-6C0B599321B8}"/>
              </a:ext>
            </a:extLst>
          </p:cNvPr>
          <p:cNvSpPr>
            <a:spLocks noGrp="1"/>
          </p:cNvSpPr>
          <p:nvPr/>
        </p:nvSpPr>
        <p:spPr>
          <a:xfrm>
            <a:off x="2800350" y="3076575"/>
            <a:ext cx="2152650" cy="266700"/>
          </a:xfrm>
          <a:prstGeom prst="rect">
            <a:avLst/>
          </a:prstGeom>
          <a:noFill/>
          <a:ln w="0">
            <a:noFill/>
            <a:prstDash val="solid"/>
          </a:ln>
        </p:spPr>
        <p:txBody>
          <a:bodyPr wrap="square" lIns="0" tIns="0" rIns="0" bIns="0" anchor="t">
            <a:normAutofit/>
          </a:bodyPr>
          <a:lstStyle/>
          <a:p>
            <a:endParaRPr/>
          </a:p>
        </p:txBody>
      </p:sp>
      <p:sp>
        <p:nvSpPr>
          <p:cNvPr id="30" name="Rectángulo 29">
            <a:extLst>
              <a:ext uri="{FF2B5EF4-FFF2-40B4-BE49-F238E27FC236}">
                <a16:creationId xmlns:a16="http://schemas.microsoft.com/office/drawing/2014/main" id="{1A5AA4C3-C18C-4C90-B09C-DD395EF6C29A}"/>
              </a:ext>
            </a:extLst>
          </p:cNvPr>
          <p:cNvSpPr>
            <a:spLocks noGrp="1"/>
          </p:cNvSpPr>
          <p:nvPr/>
        </p:nvSpPr>
        <p:spPr>
          <a:xfrm>
            <a:off x="5067300" y="2924175"/>
            <a:ext cx="2381250" cy="542925"/>
          </a:xfrm>
          <a:prstGeom prst="rect">
            <a:avLst/>
          </a:prstGeom>
          <a:solidFill>
            <a:srgbClr val="F6F7F8"/>
          </a:solidFill>
          <a:ln w="9525">
            <a:solidFill>
              <a:srgbClr val="B8BCC4"/>
            </a:solidFill>
            <a:prstDash val="solid"/>
          </a:ln>
        </p:spPr>
        <p:txBody>
          <a:bodyPr/>
          <a:lstStyle/>
          <a:p>
            <a:endParaRPr lang="es-ES"/>
          </a:p>
        </p:txBody>
      </p:sp>
      <p:sp>
        <p:nvSpPr>
          <p:cNvPr id="31" name="Rectángulo 30">
            <a:extLst>
              <a:ext uri="{FF2B5EF4-FFF2-40B4-BE49-F238E27FC236}">
                <a16:creationId xmlns:a16="http://schemas.microsoft.com/office/drawing/2014/main" id="{28C5EDE4-2650-4F9E-A954-6620D1148D75}"/>
              </a:ext>
            </a:extLst>
          </p:cNvPr>
          <p:cNvSpPr>
            <a:spLocks noGrp="1"/>
          </p:cNvSpPr>
          <p:nvPr/>
        </p:nvSpPr>
        <p:spPr>
          <a:xfrm>
            <a:off x="5181600" y="3076575"/>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t>
            </a:r>
          </a:p>
        </p:txBody>
      </p:sp>
      <p:sp>
        <p:nvSpPr>
          <p:cNvPr id="32" name="Rectángulo 31">
            <a:extLst>
              <a:ext uri="{FF2B5EF4-FFF2-40B4-BE49-F238E27FC236}">
                <a16:creationId xmlns:a16="http://schemas.microsoft.com/office/drawing/2014/main" id="{9B52CB18-E189-45F0-A8AA-082981CB77E3}"/>
              </a:ext>
            </a:extLst>
          </p:cNvPr>
          <p:cNvSpPr>
            <a:spLocks noGrp="1"/>
          </p:cNvSpPr>
          <p:nvPr/>
        </p:nvSpPr>
        <p:spPr>
          <a:xfrm>
            <a:off x="7448550" y="2924175"/>
            <a:ext cx="2381250" cy="542925"/>
          </a:xfrm>
          <a:prstGeom prst="rect">
            <a:avLst/>
          </a:prstGeom>
          <a:solidFill>
            <a:srgbClr val="F6F7F8"/>
          </a:solidFill>
          <a:ln w="9525">
            <a:solidFill>
              <a:srgbClr val="B8BCC4"/>
            </a:solidFill>
            <a:prstDash val="solid"/>
          </a:ln>
        </p:spPr>
        <p:txBody>
          <a:bodyPr/>
          <a:lstStyle/>
          <a:p>
            <a:endParaRPr lang="es-ES"/>
          </a:p>
        </p:txBody>
      </p:sp>
      <p:sp>
        <p:nvSpPr>
          <p:cNvPr id="33" name="Rectángulo 32">
            <a:extLst>
              <a:ext uri="{FF2B5EF4-FFF2-40B4-BE49-F238E27FC236}">
                <a16:creationId xmlns:a16="http://schemas.microsoft.com/office/drawing/2014/main" id="{BF7FA7EF-4B52-4D25-B768-996933592780}"/>
              </a:ext>
            </a:extLst>
          </p:cNvPr>
          <p:cNvSpPr>
            <a:spLocks noGrp="1"/>
          </p:cNvSpPr>
          <p:nvPr/>
        </p:nvSpPr>
        <p:spPr>
          <a:xfrm>
            <a:off x="7562850" y="3076575"/>
            <a:ext cx="2152650" cy="266700"/>
          </a:xfrm>
          <a:prstGeom prst="rect">
            <a:avLst/>
          </a:prstGeom>
          <a:noFill/>
          <a:ln w="0">
            <a:noFill/>
            <a:prstDash val="solid"/>
          </a:ln>
        </p:spPr>
        <p:txBody>
          <a:bodyPr wrap="square" lIns="0" tIns="0" rIns="0" bIns="0" anchor="t">
            <a:normAutofit/>
          </a:bodyPr>
          <a:lstStyle/>
          <a:p>
            <a:endParaRPr/>
          </a:p>
        </p:txBody>
      </p:sp>
      <p:sp>
        <p:nvSpPr>
          <p:cNvPr id="34" name="Rectángulo 33">
            <a:extLst>
              <a:ext uri="{FF2B5EF4-FFF2-40B4-BE49-F238E27FC236}">
                <a16:creationId xmlns:a16="http://schemas.microsoft.com/office/drawing/2014/main" id="{277F7630-08CC-40D0-AA6C-9E853E3B1BBC}"/>
              </a:ext>
            </a:extLst>
          </p:cNvPr>
          <p:cNvSpPr>
            <a:spLocks noGrp="1"/>
          </p:cNvSpPr>
          <p:nvPr/>
        </p:nvSpPr>
        <p:spPr>
          <a:xfrm>
            <a:off x="9829800" y="2924175"/>
            <a:ext cx="1962150" cy="542925"/>
          </a:xfrm>
          <a:prstGeom prst="rect">
            <a:avLst/>
          </a:prstGeom>
          <a:solidFill>
            <a:srgbClr val="F6F7F8"/>
          </a:solidFill>
          <a:ln w="9525">
            <a:solidFill>
              <a:srgbClr val="B8BCC4"/>
            </a:solidFill>
            <a:prstDash val="solid"/>
          </a:ln>
        </p:spPr>
        <p:txBody>
          <a:bodyPr/>
          <a:lstStyle/>
          <a:p>
            <a:endParaRPr lang="es-ES"/>
          </a:p>
        </p:txBody>
      </p:sp>
      <p:sp>
        <p:nvSpPr>
          <p:cNvPr id="35" name="Rectángulo 34">
            <a:extLst>
              <a:ext uri="{FF2B5EF4-FFF2-40B4-BE49-F238E27FC236}">
                <a16:creationId xmlns:a16="http://schemas.microsoft.com/office/drawing/2014/main" id="{78DD51FC-DC61-44AE-82F6-190DBBCC69B8}"/>
              </a:ext>
            </a:extLst>
          </p:cNvPr>
          <p:cNvSpPr>
            <a:spLocks noGrp="1"/>
          </p:cNvSpPr>
          <p:nvPr/>
        </p:nvSpPr>
        <p:spPr>
          <a:xfrm>
            <a:off x="9944100" y="3076575"/>
            <a:ext cx="1733550" cy="266700"/>
          </a:xfrm>
          <a:prstGeom prst="rect">
            <a:avLst/>
          </a:prstGeom>
          <a:noFill/>
          <a:ln w="0">
            <a:noFill/>
            <a:prstDash val="solid"/>
          </a:ln>
        </p:spPr>
        <p:txBody>
          <a:bodyPr wrap="square" lIns="0" tIns="0" rIns="0" bIns="0" anchor="t">
            <a:normAutofit/>
          </a:bodyPr>
          <a:lstStyle/>
          <a:p>
            <a:pPr algn="l">
              <a:defRPr sz="1200" b="0">
                <a:solidFill>
                  <a:srgbClr val="565E6B"/>
                </a:solidFill>
                <a:latin typeface="Arial"/>
                <a:ea typeface="Arial"/>
                <a:cs typeface="Arial"/>
              </a:defRPr>
            </a:pPr>
            <a:r>
              <a:rPr sz="1200" b="0">
                <a:solidFill>
                  <a:srgbClr val="565E6B"/>
                </a:solidFill>
                <a:latin typeface="Arial"/>
                <a:ea typeface="Arial"/>
                <a:cs typeface="Arial"/>
              </a:rPr>
              <a:t>Roles disponibles</a:t>
            </a:r>
          </a:p>
        </p:txBody>
      </p:sp>
      <p:sp>
        <p:nvSpPr>
          <p:cNvPr id="36" name="Rectángulo 35">
            <a:extLst>
              <a:ext uri="{FF2B5EF4-FFF2-40B4-BE49-F238E27FC236}">
                <a16:creationId xmlns:a16="http://schemas.microsoft.com/office/drawing/2014/main" id="{77117D39-5D56-44BB-A446-26BCA699AE97}"/>
              </a:ext>
            </a:extLst>
          </p:cNvPr>
          <p:cNvSpPr>
            <a:spLocks noGrp="1"/>
          </p:cNvSpPr>
          <p:nvPr/>
        </p:nvSpPr>
        <p:spPr>
          <a:xfrm>
            <a:off x="400050" y="3467100"/>
            <a:ext cx="2286000" cy="542925"/>
          </a:xfrm>
          <a:prstGeom prst="rect">
            <a:avLst/>
          </a:prstGeom>
          <a:solidFill>
            <a:srgbClr val="FFFFFF"/>
          </a:solidFill>
          <a:ln w="9525">
            <a:solidFill>
              <a:srgbClr val="B8BCC4"/>
            </a:solidFill>
            <a:prstDash val="solid"/>
          </a:ln>
        </p:spPr>
        <p:txBody>
          <a:bodyPr/>
          <a:lstStyle/>
          <a:p>
            <a:endParaRPr lang="es-ES"/>
          </a:p>
        </p:txBody>
      </p:sp>
      <p:sp>
        <p:nvSpPr>
          <p:cNvPr id="37" name="Rectángulo 36">
            <a:extLst>
              <a:ext uri="{FF2B5EF4-FFF2-40B4-BE49-F238E27FC236}">
                <a16:creationId xmlns:a16="http://schemas.microsoft.com/office/drawing/2014/main" id="{953EF7BD-DF61-4FC6-A13C-B19FBF2FC811}"/>
              </a:ext>
            </a:extLst>
          </p:cNvPr>
          <p:cNvSpPr>
            <a:spLocks noGrp="1"/>
          </p:cNvSpPr>
          <p:nvPr/>
        </p:nvSpPr>
        <p:spPr>
          <a:xfrm>
            <a:off x="514350" y="3619500"/>
            <a:ext cx="2057400" cy="266700"/>
          </a:xfrm>
          <a:prstGeom prst="rect">
            <a:avLst/>
          </a:prstGeom>
          <a:noFill/>
          <a:ln w="0">
            <a:noFill/>
            <a:prstDash val="solid"/>
          </a:ln>
        </p:spPr>
        <p:txBody>
          <a:bodyPr wrap="square" lIns="0" tIns="0" rIns="0" bIns="0" anchor="t">
            <a:normAutofit/>
          </a:bodyPr>
          <a:lstStyle/>
          <a:p>
            <a:pPr algn="l">
              <a:defRPr sz="1200" b="1">
                <a:solidFill>
                  <a:srgbClr val="000000"/>
                </a:solidFill>
                <a:latin typeface="Arial"/>
                <a:ea typeface="Arial"/>
                <a:cs typeface="Arial"/>
              </a:defRPr>
            </a:pPr>
            <a:r>
              <a:rPr sz="1200" b="1">
                <a:solidFill>
                  <a:srgbClr val="000000"/>
                </a:solidFill>
                <a:latin typeface="Arial"/>
                <a:ea typeface="Arial"/>
                <a:cs typeface="Arial"/>
              </a:rPr>
              <a:t>AspNetUserRoles</a:t>
            </a:r>
          </a:p>
        </p:txBody>
      </p:sp>
      <p:sp>
        <p:nvSpPr>
          <p:cNvPr id="38" name="Rectángulo 37">
            <a:extLst>
              <a:ext uri="{FF2B5EF4-FFF2-40B4-BE49-F238E27FC236}">
                <a16:creationId xmlns:a16="http://schemas.microsoft.com/office/drawing/2014/main" id="{5D8ECCA7-2220-42ED-900C-BF2A6DBBF993}"/>
              </a:ext>
            </a:extLst>
          </p:cNvPr>
          <p:cNvSpPr>
            <a:spLocks noGrp="1"/>
          </p:cNvSpPr>
          <p:nvPr/>
        </p:nvSpPr>
        <p:spPr>
          <a:xfrm>
            <a:off x="2686050" y="3467100"/>
            <a:ext cx="2381250" cy="542925"/>
          </a:xfrm>
          <a:prstGeom prst="rect">
            <a:avLst/>
          </a:prstGeom>
          <a:solidFill>
            <a:srgbClr val="FFFFFF"/>
          </a:solidFill>
          <a:ln w="9525">
            <a:solidFill>
              <a:srgbClr val="B8BCC4"/>
            </a:solidFill>
            <a:prstDash val="solid"/>
          </a:ln>
        </p:spPr>
        <p:txBody>
          <a:bodyPr/>
          <a:lstStyle/>
          <a:p>
            <a:endParaRPr lang="es-ES"/>
          </a:p>
        </p:txBody>
      </p:sp>
      <p:sp>
        <p:nvSpPr>
          <p:cNvPr id="39" name="Rectángulo 38">
            <a:extLst>
              <a:ext uri="{FF2B5EF4-FFF2-40B4-BE49-F238E27FC236}">
                <a16:creationId xmlns:a16="http://schemas.microsoft.com/office/drawing/2014/main" id="{1154B298-33BE-4500-9A0E-D55F2F5B76AA}"/>
              </a:ext>
            </a:extLst>
          </p:cNvPr>
          <p:cNvSpPr>
            <a:spLocks noGrp="1"/>
          </p:cNvSpPr>
          <p:nvPr/>
        </p:nvSpPr>
        <p:spPr>
          <a:xfrm>
            <a:off x="2800350" y="3619500"/>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t>
            </a:r>
          </a:p>
        </p:txBody>
      </p:sp>
      <p:sp>
        <p:nvSpPr>
          <p:cNvPr id="40" name="Rectángulo 39">
            <a:extLst>
              <a:ext uri="{FF2B5EF4-FFF2-40B4-BE49-F238E27FC236}">
                <a16:creationId xmlns:a16="http://schemas.microsoft.com/office/drawing/2014/main" id="{C27D61EB-982C-4964-A0DB-D94E10BED854}"/>
              </a:ext>
            </a:extLst>
          </p:cNvPr>
          <p:cNvSpPr>
            <a:spLocks noGrp="1"/>
          </p:cNvSpPr>
          <p:nvPr/>
        </p:nvSpPr>
        <p:spPr>
          <a:xfrm>
            <a:off x="5067300" y="3467100"/>
            <a:ext cx="2381250" cy="542925"/>
          </a:xfrm>
          <a:prstGeom prst="rect">
            <a:avLst/>
          </a:prstGeom>
          <a:solidFill>
            <a:srgbClr val="FFFFFF"/>
          </a:solidFill>
          <a:ln w="9525">
            <a:solidFill>
              <a:srgbClr val="B8BCC4"/>
            </a:solidFill>
            <a:prstDash val="solid"/>
          </a:ln>
        </p:spPr>
        <p:txBody>
          <a:bodyPr/>
          <a:lstStyle/>
          <a:p>
            <a:endParaRPr lang="es-ES"/>
          </a:p>
        </p:txBody>
      </p:sp>
      <p:sp>
        <p:nvSpPr>
          <p:cNvPr id="41" name="Rectángulo 40">
            <a:extLst>
              <a:ext uri="{FF2B5EF4-FFF2-40B4-BE49-F238E27FC236}">
                <a16:creationId xmlns:a16="http://schemas.microsoft.com/office/drawing/2014/main" id="{E5A14418-42E6-4A0B-8A43-D038BFF56D82}"/>
              </a:ext>
            </a:extLst>
          </p:cNvPr>
          <p:cNvSpPr>
            <a:spLocks noGrp="1"/>
          </p:cNvSpPr>
          <p:nvPr/>
        </p:nvSpPr>
        <p:spPr>
          <a:xfrm>
            <a:off x="5181600" y="3619500"/>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t>
            </a:r>
          </a:p>
        </p:txBody>
      </p:sp>
      <p:sp>
        <p:nvSpPr>
          <p:cNvPr id="42" name="Rectángulo 41">
            <a:extLst>
              <a:ext uri="{FF2B5EF4-FFF2-40B4-BE49-F238E27FC236}">
                <a16:creationId xmlns:a16="http://schemas.microsoft.com/office/drawing/2014/main" id="{D7AF20D7-9850-435F-8BB4-519B087AEE77}"/>
              </a:ext>
            </a:extLst>
          </p:cNvPr>
          <p:cNvSpPr>
            <a:spLocks noGrp="1"/>
          </p:cNvSpPr>
          <p:nvPr/>
        </p:nvSpPr>
        <p:spPr>
          <a:xfrm>
            <a:off x="7448550" y="3467100"/>
            <a:ext cx="2381250" cy="542925"/>
          </a:xfrm>
          <a:prstGeom prst="rect">
            <a:avLst/>
          </a:prstGeom>
          <a:solidFill>
            <a:srgbClr val="FFFFFF"/>
          </a:solidFill>
          <a:ln w="9525">
            <a:solidFill>
              <a:srgbClr val="B8BCC4"/>
            </a:solidFill>
            <a:prstDash val="solid"/>
          </a:ln>
        </p:spPr>
        <p:txBody>
          <a:bodyPr/>
          <a:lstStyle/>
          <a:p>
            <a:endParaRPr lang="es-ES"/>
          </a:p>
        </p:txBody>
      </p:sp>
      <p:sp>
        <p:nvSpPr>
          <p:cNvPr id="43" name="Rectángulo 42">
            <a:extLst>
              <a:ext uri="{FF2B5EF4-FFF2-40B4-BE49-F238E27FC236}">
                <a16:creationId xmlns:a16="http://schemas.microsoft.com/office/drawing/2014/main" id="{A02923F8-70AF-4CCA-A50D-D845DA0004A4}"/>
              </a:ext>
            </a:extLst>
          </p:cNvPr>
          <p:cNvSpPr>
            <a:spLocks noGrp="1"/>
          </p:cNvSpPr>
          <p:nvPr/>
        </p:nvSpPr>
        <p:spPr>
          <a:xfrm>
            <a:off x="7562850" y="3619500"/>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N:N</a:t>
            </a:r>
          </a:p>
        </p:txBody>
      </p:sp>
      <p:sp>
        <p:nvSpPr>
          <p:cNvPr id="44" name="Rectángulo 43">
            <a:extLst>
              <a:ext uri="{FF2B5EF4-FFF2-40B4-BE49-F238E27FC236}">
                <a16:creationId xmlns:a16="http://schemas.microsoft.com/office/drawing/2014/main" id="{0F9F63E7-6B5D-43B4-9155-356486C8C1DE}"/>
              </a:ext>
            </a:extLst>
          </p:cNvPr>
          <p:cNvSpPr>
            <a:spLocks noGrp="1"/>
          </p:cNvSpPr>
          <p:nvPr/>
        </p:nvSpPr>
        <p:spPr>
          <a:xfrm>
            <a:off x="9829800" y="3467100"/>
            <a:ext cx="1962150" cy="542925"/>
          </a:xfrm>
          <a:prstGeom prst="rect">
            <a:avLst/>
          </a:prstGeom>
          <a:solidFill>
            <a:srgbClr val="FFFFFF"/>
          </a:solidFill>
          <a:ln w="9525">
            <a:solidFill>
              <a:srgbClr val="B8BCC4"/>
            </a:solidFill>
            <a:prstDash val="solid"/>
          </a:ln>
        </p:spPr>
        <p:txBody>
          <a:bodyPr/>
          <a:lstStyle/>
          <a:p>
            <a:endParaRPr lang="es-ES"/>
          </a:p>
        </p:txBody>
      </p:sp>
      <p:sp>
        <p:nvSpPr>
          <p:cNvPr id="45" name="Rectángulo 44">
            <a:extLst>
              <a:ext uri="{FF2B5EF4-FFF2-40B4-BE49-F238E27FC236}">
                <a16:creationId xmlns:a16="http://schemas.microsoft.com/office/drawing/2014/main" id="{B8F19263-83FA-4E3F-84B5-E94A41593455}"/>
              </a:ext>
            </a:extLst>
          </p:cNvPr>
          <p:cNvSpPr>
            <a:spLocks noGrp="1"/>
          </p:cNvSpPr>
          <p:nvPr/>
        </p:nvSpPr>
        <p:spPr>
          <a:xfrm>
            <a:off x="9944100" y="3619500"/>
            <a:ext cx="1733550" cy="266700"/>
          </a:xfrm>
          <a:prstGeom prst="rect">
            <a:avLst/>
          </a:prstGeom>
          <a:noFill/>
          <a:ln w="0">
            <a:noFill/>
            <a:prstDash val="solid"/>
          </a:ln>
        </p:spPr>
        <p:txBody>
          <a:bodyPr wrap="square" lIns="0" tIns="0" rIns="0" bIns="0" anchor="t">
            <a:normAutofit/>
          </a:bodyPr>
          <a:lstStyle/>
          <a:p>
            <a:pPr algn="l">
              <a:defRPr sz="1200" b="0">
                <a:solidFill>
                  <a:srgbClr val="565E6B"/>
                </a:solidFill>
                <a:latin typeface="Arial"/>
                <a:ea typeface="Arial"/>
                <a:cs typeface="Arial"/>
              </a:defRPr>
            </a:pPr>
            <a:r>
              <a:rPr sz="1200" b="0">
                <a:solidFill>
                  <a:srgbClr val="565E6B"/>
                </a:solidFill>
                <a:latin typeface="Arial"/>
                <a:ea typeface="Arial"/>
                <a:cs typeface="Arial"/>
              </a:rPr>
              <a:t>Asignación de roles</a:t>
            </a:r>
          </a:p>
        </p:txBody>
      </p:sp>
      <p:sp>
        <p:nvSpPr>
          <p:cNvPr id="46" name="Rectángulo 45">
            <a:extLst>
              <a:ext uri="{FF2B5EF4-FFF2-40B4-BE49-F238E27FC236}">
                <a16:creationId xmlns:a16="http://schemas.microsoft.com/office/drawing/2014/main" id="{833ACCB0-17DA-4C19-BB40-6EF41FE44EA6}"/>
              </a:ext>
            </a:extLst>
          </p:cNvPr>
          <p:cNvSpPr>
            <a:spLocks noGrp="1"/>
          </p:cNvSpPr>
          <p:nvPr/>
        </p:nvSpPr>
        <p:spPr>
          <a:xfrm>
            <a:off x="400050" y="4010025"/>
            <a:ext cx="2286000" cy="542925"/>
          </a:xfrm>
          <a:prstGeom prst="rect">
            <a:avLst/>
          </a:prstGeom>
          <a:solidFill>
            <a:srgbClr val="F6F7F8"/>
          </a:solidFill>
          <a:ln w="9525">
            <a:solidFill>
              <a:srgbClr val="B8BCC4"/>
            </a:solidFill>
            <a:prstDash val="solid"/>
          </a:ln>
        </p:spPr>
        <p:txBody>
          <a:bodyPr/>
          <a:lstStyle/>
          <a:p>
            <a:endParaRPr lang="es-ES"/>
          </a:p>
        </p:txBody>
      </p:sp>
      <p:sp>
        <p:nvSpPr>
          <p:cNvPr id="47" name="Rectángulo 46">
            <a:extLst>
              <a:ext uri="{FF2B5EF4-FFF2-40B4-BE49-F238E27FC236}">
                <a16:creationId xmlns:a16="http://schemas.microsoft.com/office/drawing/2014/main" id="{5DE13050-A006-460B-A18B-AB5BB10968BC}"/>
              </a:ext>
            </a:extLst>
          </p:cNvPr>
          <p:cNvSpPr>
            <a:spLocks noGrp="1"/>
          </p:cNvSpPr>
          <p:nvPr/>
        </p:nvSpPr>
        <p:spPr>
          <a:xfrm>
            <a:off x="514350" y="4162425"/>
            <a:ext cx="2057400" cy="266700"/>
          </a:xfrm>
          <a:prstGeom prst="rect">
            <a:avLst/>
          </a:prstGeom>
          <a:noFill/>
          <a:ln w="0">
            <a:noFill/>
            <a:prstDash val="solid"/>
          </a:ln>
        </p:spPr>
        <p:txBody>
          <a:bodyPr wrap="square" lIns="0" tIns="0" rIns="0" bIns="0" anchor="t">
            <a:normAutofit/>
          </a:bodyPr>
          <a:lstStyle/>
          <a:p>
            <a:pPr algn="l">
              <a:defRPr sz="1200" b="1">
                <a:solidFill>
                  <a:srgbClr val="000000"/>
                </a:solidFill>
                <a:latin typeface="Arial"/>
                <a:ea typeface="Arial"/>
                <a:cs typeface="Arial"/>
              </a:defRPr>
            </a:pPr>
            <a:r>
              <a:rPr sz="1200" b="1">
                <a:solidFill>
                  <a:srgbClr val="000000"/>
                </a:solidFill>
                <a:latin typeface="Arial"/>
                <a:ea typeface="Arial"/>
                <a:cs typeface="Arial"/>
              </a:rPr>
              <a:t>AspNetUserClaims</a:t>
            </a:r>
          </a:p>
        </p:txBody>
      </p:sp>
      <p:sp>
        <p:nvSpPr>
          <p:cNvPr id="48" name="Rectángulo 47">
            <a:extLst>
              <a:ext uri="{FF2B5EF4-FFF2-40B4-BE49-F238E27FC236}">
                <a16:creationId xmlns:a16="http://schemas.microsoft.com/office/drawing/2014/main" id="{889651FA-AAFC-42DE-96B4-8058F1DB2287}"/>
              </a:ext>
            </a:extLst>
          </p:cNvPr>
          <p:cNvSpPr>
            <a:spLocks noGrp="1"/>
          </p:cNvSpPr>
          <p:nvPr/>
        </p:nvSpPr>
        <p:spPr>
          <a:xfrm>
            <a:off x="2686050" y="4010025"/>
            <a:ext cx="2381250" cy="542925"/>
          </a:xfrm>
          <a:prstGeom prst="rect">
            <a:avLst/>
          </a:prstGeom>
          <a:solidFill>
            <a:srgbClr val="F6F7F8"/>
          </a:solidFill>
          <a:ln w="9525">
            <a:solidFill>
              <a:srgbClr val="B8BCC4"/>
            </a:solidFill>
            <a:prstDash val="solid"/>
          </a:ln>
        </p:spPr>
        <p:txBody>
          <a:bodyPr/>
          <a:lstStyle/>
          <a:p>
            <a:endParaRPr lang="es-ES"/>
          </a:p>
        </p:txBody>
      </p:sp>
      <p:sp>
        <p:nvSpPr>
          <p:cNvPr id="49" name="Rectángulo 48">
            <a:extLst>
              <a:ext uri="{FF2B5EF4-FFF2-40B4-BE49-F238E27FC236}">
                <a16:creationId xmlns:a16="http://schemas.microsoft.com/office/drawing/2014/main" id="{1DBA5957-AB73-48AC-BEA7-92EBBB889B59}"/>
              </a:ext>
            </a:extLst>
          </p:cNvPr>
          <p:cNvSpPr>
            <a:spLocks noGrp="1"/>
          </p:cNvSpPr>
          <p:nvPr/>
        </p:nvSpPr>
        <p:spPr>
          <a:xfrm>
            <a:off x="2800350" y="4162425"/>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t>
            </a:r>
          </a:p>
        </p:txBody>
      </p:sp>
      <p:sp>
        <p:nvSpPr>
          <p:cNvPr id="50" name="Rectángulo 49">
            <a:extLst>
              <a:ext uri="{FF2B5EF4-FFF2-40B4-BE49-F238E27FC236}">
                <a16:creationId xmlns:a16="http://schemas.microsoft.com/office/drawing/2014/main" id="{895C5E39-A19E-4B1D-9BC8-7CACBD736530}"/>
              </a:ext>
            </a:extLst>
          </p:cNvPr>
          <p:cNvSpPr>
            <a:spLocks noGrp="1"/>
          </p:cNvSpPr>
          <p:nvPr/>
        </p:nvSpPr>
        <p:spPr>
          <a:xfrm>
            <a:off x="5067300" y="4010025"/>
            <a:ext cx="2381250" cy="542925"/>
          </a:xfrm>
          <a:prstGeom prst="rect">
            <a:avLst/>
          </a:prstGeom>
          <a:solidFill>
            <a:srgbClr val="F6F7F8"/>
          </a:solidFill>
          <a:ln w="9525">
            <a:solidFill>
              <a:srgbClr val="B8BCC4"/>
            </a:solidFill>
            <a:prstDash val="solid"/>
          </a:ln>
        </p:spPr>
        <p:txBody>
          <a:bodyPr/>
          <a:lstStyle/>
          <a:p>
            <a:endParaRPr lang="es-ES"/>
          </a:p>
        </p:txBody>
      </p:sp>
      <p:sp>
        <p:nvSpPr>
          <p:cNvPr id="51" name="Rectángulo 50">
            <a:extLst>
              <a:ext uri="{FF2B5EF4-FFF2-40B4-BE49-F238E27FC236}">
                <a16:creationId xmlns:a16="http://schemas.microsoft.com/office/drawing/2014/main" id="{94B03B89-F28F-4557-8F84-D2FF7A2B6DFD}"/>
              </a:ext>
            </a:extLst>
          </p:cNvPr>
          <p:cNvSpPr>
            <a:spLocks noGrp="1"/>
          </p:cNvSpPr>
          <p:nvPr/>
        </p:nvSpPr>
        <p:spPr>
          <a:xfrm>
            <a:off x="5181600" y="4162425"/>
            <a:ext cx="2152650" cy="266700"/>
          </a:xfrm>
          <a:prstGeom prst="rect">
            <a:avLst/>
          </a:prstGeom>
          <a:noFill/>
          <a:ln w="0">
            <a:noFill/>
            <a:prstDash val="solid"/>
          </a:ln>
        </p:spPr>
        <p:txBody>
          <a:bodyPr wrap="square" lIns="0" tIns="0" rIns="0" bIns="0" anchor="t">
            <a:normAutofit/>
          </a:bodyPr>
          <a:lstStyle/>
          <a:p>
            <a:endParaRPr/>
          </a:p>
        </p:txBody>
      </p:sp>
      <p:sp>
        <p:nvSpPr>
          <p:cNvPr id="52" name="Rectángulo 51">
            <a:extLst>
              <a:ext uri="{FF2B5EF4-FFF2-40B4-BE49-F238E27FC236}">
                <a16:creationId xmlns:a16="http://schemas.microsoft.com/office/drawing/2014/main" id="{926EC322-0194-47AE-974C-DA5038C1378E}"/>
              </a:ext>
            </a:extLst>
          </p:cNvPr>
          <p:cNvSpPr>
            <a:spLocks noGrp="1"/>
          </p:cNvSpPr>
          <p:nvPr/>
        </p:nvSpPr>
        <p:spPr>
          <a:xfrm>
            <a:off x="7448550" y="4010025"/>
            <a:ext cx="2381250" cy="542925"/>
          </a:xfrm>
          <a:prstGeom prst="rect">
            <a:avLst/>
          </a:prstGeom>
          <a:solidFill>
            <a:srgbClr val="F6F7F8"/>
          </a:solidFill>
          <a:ln w="9525">
            <a:solidFill>
              <a:srgbClr val="B8BCC4"/>
            </a:solidFill>
            <a:prstDash val="solid"/>
          </a:ln>
        </p:spPr>
        <p:txBody>
          <a:bodyPr/>
          <a:lstStyle/>
          <a:p>
            <a:endParaRPr lang="es-ES"/>
          </a:p>
        </p:txBody>
      </p:sp>
      <p:sp>
        <p:nvSpPr>
          <p:cNvPr id="53" name="Rectángulo 52">
            <a:extLst>
              <a:ext uri="{FF2B5EF4-FFF2-40B4-BE49-F238E27FC236}">
                <a16:creationId xmlns:a16="http://schemas.microsoft.com/office/drawing/2014/main" id="{045F2762-2DC4-4917-8709-5D8A13FA20A4}"/>
              </a:ext>
            </a:extLst>
          </p:cNvPr>
          <p:cNvSpPr>
            <a:spLocks noGrp="1"/>
          </p:cNvSpPr>
          <p:nvPr/>
        </p:nvSpPr>
        <p:spPr>
          <a:xfrm>
            <a:off x="7562850" y="4162425"/>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1:N</a:t>
            </a:r>
          </a:p>
        </p:txBody>
      </p:sp>
      <p:sp>
        <p:nvSpPr>
          <p:cNvPr id="54" name="Rectángulo 53">
            <a:extLst>
              <a:ext uri="{FF2B5EF4-FFF2-40B4-BE49-F238E27FC236}">
                <a16:creationId xmlns:a16="http://schemas.microsoft.com/office/drawing/2014/main" id="{9872B48C-2C58-443B-BBBC-BA238A62B7DC}"/>
              </a:ext>
            </a:extLst>
          </p:cNvPr>
          <p:cNvSpPr>
            <a:spLocks noGrp="1"/>
          </p:cNvSpPr>
          <p:nvPr/>
        </p:nvSpPr>
        <p:spPr>
          <a:xfrm>
            <a:off x="9829800" y="4010025"/>
            <a:ext cx="1962150" cy="542925"/>
          </a:xfrm>
          <a:prstGeom prst="rect">
            <a:avLst/>
          </a:prstGeom>
          <a:solidFill>
            <a:srgbClr val="F6F7F8"/>
          </a:solidFill>
          <a:ln w="9525">
            <a:solidFill>
              <a:srgbClr val="B8BCC4"/>
            </a:solidFill>
            <a:prstDash val="solid"/>
          </a:ln>
        </p:spPr>
        <p:txBody>
          <a:bodyPr/>
          <a:lstStyle/>
          <a:p>
            <a:endParaRPr lang="es-ES"/>
          </a:p>
        </p:txBody>
      </p:sp>
      <p:sp>
        <p:nvSpPr>
          <p:cNvPr id="55" name="Rectángulo 54">
            <a:extLst>
              <a:ext uri="{FF2B5EF4-FFF2-40B4-BE49-F238E27FC236}">
                <a16:creationId xmlns:a16="http://schemas.microsoft.com/office/drawing/2014/main" id="{9D26903B-28D4-4401-983A-ACECA486530B}"/>
              </a:ext>
            </a:extLst>
          </p:cNvPr>
          <p:cNvSpPr>
            <a:spLocks noGrp="1"/>
          </p:cNvSpPr>
          <p:nvPr/>
        </p:nvSpPr>
        <p:spPr>
          <a:xfrm>
            <a:off x="9944100" y="4162425"/>
            <a:ext cx="1733550" cy="266700"/>
          </a:xfrm>
          <a:prstGeom prst="rect">
            <a:avLst/>
          </a:prstGeom>
          <a:noFill/>
          <a:ln w="0">
            <a:noFill/>
            <a:prstDash val="solid"/>
          </a:ln>
        </p:spPr>
        <p:txBody>
          <a:bodyPr wrap="square" lIns="0" tIns="0" rIns="0" bIns="0" anchor="t">
            <a:normAutofit/>
          </a:bodyPr>
          <a:lstStyle/>
          <a:p>
            <a:pPr algn="l">
              <a:defRPr sz="1200" b="0">
                <a:solidFill>
                  <a:srgbClr val="565E6B"/>
                </a:solidFill>
                <a:latin typeface="Arial"/>
                <a:ea typeface="Arial"/>
                <a:cs typeface="Arial"/>
              </a:defRPr>
            </a:pPr>
            <a:r>
              <a:rPr sz="1200" b="0">
                <a:solidFill>
                  <a:srgbClr val="565E6B"/>
                </a:solidFill>
                <a:latin typeface="Arial"/>
                <a:ea typeface="Arial"/>
                <a:cs typeface="Arial"/>
              </a:rPr>
              <a:t>Claims del usuario</a:t>
            </a:r>
          </a:p>
        </p:txBody>
      </p:sp>
      <p:sp>
        <p:nvSpPr>
          <p:cNvPr id="56" name="Rectángulo 55">
            <a:extLst>
              <a:ext uri="{FF2B5EF4-FFF2-40B4-BE49-F238E27FC236}">
                <a16:creationId xmlns:a16="http://schemas.microsoft.com/office/drawing/2014/main" id="{E560C7E1-B514-4A9E-9A46-FDA8CA2FE9E2}"/>
              </a:ext>
            </a:extLst>
          </p:cNvPr>
          <p:cNvSpPr>
            <a:spLocks noGrp="1"/>
          </p:cNvSpPr>
          <p:nvPr/>
        </p:nvSpPr>
        <p:spPr>
          <a:xfrm>
            <a:off x="400050" y="4552950"/>
            <a:ext cx="2286000" cy="542925"/>
          </a:xfrm>
          <a:prstGeom prst="rect">
            <a:avLst/>
          </a:prstGeom>
          <a:solidFill>
            <a:srgbClr val="FFFFFF"/>
          </a:solidFill>
          <a:ln w="9525">
            <a:solidFill>
              <a:srgbClr val="B8BCC4"/>
            </a:solidFill>
            <a:prstDash val="solid"/>
          </a:ln>
        </p:spPr>
        <p:txBody>
          <a:bodyPr/>
          <a:lstStyle/>
          <a:p>
            <a:endParaRPr lang="es-ES"/>
          </a:p>
        </p:txBody>
      </p:sp>
      <p:sp>
        <p:nvSpPr>
          <p:cNvPr id="57" name="Rectángulo 56">
            <a:extLst>
              <a:ext uri="{FF2B5EF4-FFF2-40B4-BE49-F238E27FC236}">
                <a16:creationId xmlns:a16="http://schemas.microsoft.com/office/drawing/2014/main" id="{217FE3C4-F964-4505-B833-4929F9971CB8}"/>
              </a:ext>
            </a:extLst>
          </p:cNvPr>
          <p:cNvSpPr>
            <a:spLocks noGrp="1"/>
          </p:cNvSpPr>
          <p:nvPr/>
        </p:nvSpPr>
        <p:spPr>
          <a:xfrm>
            <a:off x="514350" y="4705350"/>
            <a:ext cx="2057400" cy="266700"/>
          </a:xfrm>
          <a:prstGeom prst="rect">
            <a:avLst/>
          </a:prstGeom>
          <a:noFill/>
          <a:ln w="0">
            <a:noFill/>
            <a:prstDash val="solid"/>
          </a:ln>
        </p:spPr>
        <p:txBody>
          <a:bodyPr wrap="square" lIns="0" tIns="0" rIns="0" bIns="0" anchor="t">
            <a:normAutofit/>
          </a:bodyPr>
          <a:lstStyle/>
          <a:p>
            <a:pPr algn="l">
              <a:defRPr sz="1200" b="1">
                <a:solidFill>
                  <a:srgbClr val="000000"/>
                </a:solidFill>
                <a:latin typeface="Arial"/>
                <a:ea typeface="Arial"/>
                <a:cs typeface="Arial"/>
              </a:defRPr>
            </a:pPr>
            <a:r>
              <a:rPr sz="1200" b="1">
                <a:solidFill>
                  <a:srgbClr val="000000"/>
                </a:solidFill>
                <a:latin typeface="Arial"/>
                <a:ea typeface="Arial"/>
                <a:cs typeface="Arial"/>
              </a:rPr>
              <a:t>AspNetUserLogins</a:t>
            </a:r>
          </a:p>
        </p:txBody>
      </p:sp>
      <p:sp>
        <p:nvSpPr>
          <p:cNvPr id="58" name="Rectángulo 57">
            <a:extLst>
              <a:ext uri="{FF2B5EF4-FFF2-40B4-BE49-F238E27FC236}">
                <a16:creationId xmlns:a16="http://schemas.microsoft.com/office/drawing/2014/main" id="{B67E5678-006A-43C0-9882-C440578B64D8}"/>
              </a:ext>
            </a:extLst>
          </p:cNvPr>
          <p:cNvSpPr>
            <a:spLocks noGrp="1"/>
          </p:cNvSpPr>
          <p:nvPr/>
        </p:nvSpPr>
        <p:spPr>
          <a:xfrm>
            <a:off x="2686050" y="4552950"/>
            <a:ext cx="2381250" cy="542925"/>
          </a:xfrm>
          <a:prstGeom prst="rect">
            <a:avLst/>
          </a:prstGeom>
          <a:solidFill>
            <a:srgbClr val="FFFFFF"/>
          </a:solidFill>
          <a:ln w="9525">
            <a:solidFill>
              <a:srgbClr val="B8BCC4"/>
            </a:solidFill>
            <a:prstDash val="solid"/>
          </a:ln>
        </p:spPr>
        <p:txBody>
          <a:bodyPr/>
          <a:lstStyle/>
          <a:p>
            <a:endParaRPr lang="es-ES"/>
          </a:p>
        </p:txBody>
      </p:sp>
      <p:sp>
        <p:nvSpPr>
          <p:cNvPr id="59" name="Rectángulo 58">
            <a:extLst>
              <a:ext uri="{FF2B5EF4-FFF2-40B4-BE49-F238E27FC236}">
                <a16:creationId xmlns:a16="http://schemas.microsoft.com/office/drawing/2014/main" id="{13F5D90D-344C-41C9-9F51-215DB8A4C926}"/>
              </a:ext>
            </a:extLst>
          </p:cNvPr>
          <p:cNvSpPr>
            <a:spLocks noGrp="1"/>
          </p:cNvSpPr>
          <p:nvPr/>
        </p:nvSpPr>
        <p:spPr>
          <a:xfrm>
            <a:off x="2800350" y="4705350"/>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t>
            </a:r>
          </a:p>
        </p:txBody>
      </p:sp>
      <p:sp>
        <p:nvSpPr>
          <p:cNvPr id="60" name="Rectángulo 59">
            <a:extLst>
              <a:ext uri="{FF2B5EF4-FFF2-40B4-BE49-F238E27FC236}">
                <a16:creationId xmlns:a16="http://schemas.microsoft.com/office/drawing/2014/main" id="{3654B17C-2A74-412A-B1F4-099EEAC70315}"/>
              </a:ext>
            </a:extLst>
          </p:cNvPr>
          <p:cNvSpPr>
            <a:spLocks noGrp="1"/>
          </p:cNvSpPr>
          <p:nvPr/>
        </p:nvSpPr>
        <p:spPr>
          <a:xfrm>
            <a:off x="5067300" y="4552950"/>
            <a:ext cx="2381250" cy="542925"/>
          </a:xfrm>
          <a:prstGeom prst="rect">
            <a:avLst/>
          </a:prstGeom>
          <a:solidFill>
            <a:srgbClr val="FFFFFF"/>
          </a:solidFill>
          <a:ln w="9525">
            <a:solidFill>
              <a:srgbClr val="B8BCC4"/>
            </a:solidFill>
            <a:prstDash val="solid"/>
          </a:ln>
        </p:spPr>
        <p:txBody>
          <a:bodyPr/>
          <a:lstStyle/>
          <a:p>
            <a:endParaRPr lang="es-ES"/>
          </a:p>
        </p:txBody>
      </p:sp>
      <p:sp>
        <p:nvSpPr>
          <p:cNvPr id="61" name="Rectángulo 60">
            <a:extLst>
              <a:ext uri="{FF2B5EF4-FFF2-40B4-BE49-F238E27FC236}">
                <a16:creationId xmlns:a16="http://schemas.microsoft.com/office/drawing/2014/main" id="{4BA33AEF-A541-4AA1-9791-C9F5D03DA798}"/>
              </a:ext>
            </a:extLst>
          </p:cNvPr>
          <p:cNvSpPr>
            <a:spLocks noGrp="1"/>
          </p:cNvSpPr>
          <p:nvPr/>
        </p:nvSpPr>
        <p:spPr>
          <a:xfrm>
            <a:off x="5181600" y="4705350"/>
            <a:ext cx="2152650" cy="266700"/>
          </a:xfrm>
          <a:prstGeom prst="rect">
            <a:avLst/>
          </a:prstGeom>
          <a:noFill/>
          <a:ln w="0">
            <a:noFill/>
            <a:prstDash val="solid"/>
          </a:ln>
        </p:spPr>
        <p:txBody>
          <a:bodyPr wrap="square" lIns="0" tIns="0" rIns="0" bIns="0" anchor="t">
            <a:normAutofit/>
          </a:bodyPr>
          <a:lstStyle/>
          <a:p>
            <a:endParaRPr/>
          </a:p>
        </p:txBody>
      </p:sp>
      <p:sp>
        <p:nvSpPr>
          <p:cNvPr id="62" name="Rectángulo 61">
            <a:extLst>
              <a:ext uri="{FF2B5EF4-FFF2-40B4-BE49-F238E27FC236}">
                <a16:creationId xmlns:a16="http://schemas.microsoft.com/office/drawing/2014/main" id="{621FB2C2-6FF8-4041-AF3C-E8C41A4379AD}"/>
              </a:ext>
            </a:extLst>
          </p:cNvPr>
          <p:cNvSpPr>
            <a:spLocks noGrp="1"/>
          </p:cNvSpPr>
          <p:nvPr/>
        </p:nvSpPr>
        <p:spPr>
          <a:xfrm>
            <a:off x="7448550" y="4552950"/>
            <a:ext cx="2381250" cy="542925"/>
          </a:xfrm>
          <a:prstGeom prst="rect">
            <a:avLst/>
          </a:prstGeom>
          <a:solidFill>
            <a:srgbClr val="FFFFFF"/>
          </a:solidFill>
          <a:ln w="9525">
            <a:solidFill>
              <a:srgbClr val="B8BCC4"/>
            </a:solidFill>
            <a:prstDash val="solid"/>
          </a:ln>
        </p:spPr>
        <p:txBody>
          <a:bodyPr/>
          <a:lstStyle/>
          <a:p>
            <a:endParaRPr lang="es-ES"/>
          </a:p>
        </p:txBody>
      </p:sp>
      <p:sp>
        <p:nvSpPr>
          <p:cNvPr id="63" name="Rectángulo 62">
            <a:extLst>
              <a:ext uri="{FF2B5EF4-FFF2-40B4-BE49-F238E27FC236}">
                <a16:creationId xmlns:a16="http://schemas.microsoft.com/office/drawing/2014/main" id="{6743D34B-D920-43E1-A0CA-DED2260A24B3}"/>
              </a:ext>
            </a:extLst>
          </p:cNvPr>
          <p:cNvSpPr>
            <a:spLocks noGrp="1"/>
          </p:cNvSpPr>
          <p:nvPr/>
        </p:nvSpPr>
        <p:spPr>
          <a:xfrm>
            <a:off x="7562850" y="4705350"/>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1:N</a:t>
            </a:r>
          </a:p>
        </p:txBody>
      </p:sp>
      <p:sp>
        <p:nvSpPr>
          <p:cNvPr id="64" name="Rectángulo 63">
            <a:extLst>
              <a:ext uri="{FF2B5EF4-FFF2-40B4-BE49-F238E27FC236}">
                <a16:creationId xmlns:a16="http://schemas.microsoft.com/office/drawing/2014/main" id="{FEFF8DA7-BD13-45C9-9B16-E7FE8AFED5FF}"/>
              </a:ext>
            </a:extLst>
          </p:cNvPr>
          <p:cNvSpPr>
            <a:spLocks noGrp="1"/>
          </p:cNvSpPr>
          <p:nvPr/>
        </p:nvSpPr>
        <p:spPr>
          <a:xfrm>
            <a:off x="9829800" y="4552950"/>
            <a:ext cx="1962150" cy="542925"/>
          </a:xfrm>
          <a:prstGeom prst="rect">
            <a:avLst/>
          </a:prstGeom>
          <a:solidFill>
            <a:srgbClr val="FFFFFF"/>
          </a:solidFill>
          <a:ln w="9525">
            <a:solidFill>
              <a:srgbClr val="B8BCC4"/>
            </a:solidFill>
            <a:prstDash val="solid"/>
          </a:ln>
        </p:spPr>
        <p:txBody>
          <a:bodyPr/>
          <a:lstStyle/>
          <a:p>
            <a:endParaRPr lang="es-ES"/>
          </a:p>
        </p:txBody>
      </p:sp>
      <p:sp>
        <p:nvSpPr>
          <p:cNvPr id="65" name="Rectángulo 64">
            <a:extLst>
              <a:ext uri="{FF2B5EF4-FFF2-40B4-BE49-F238E27FC236}">
                <a16:creationId xmlns:a16="http://schemas.microsoft.com/office/drawing/2014/main" id="{CFE5B64B-8DDD-4AA7-9CB1-7FE4C8854877}"/>
              </a:ext>
            </a:extLst>
          </p:cNvPr>
          <p:cNvSpPr>
            <a:spLocks noGrp="1"/>
          </p:cNvSpPr>
          <p:nvPr/>
        </p:nvSpPr>
        <p:spPr>
          <a:xfrm>
            <a:off x="9944100" y="4705350"/>
            <a:ext cx="1733550" cy="266700"/>
          </a:xfrm>
          <a:prstGeom prst="rect">
            <a:avLst/>
          </a:prstGeom>
          <a:noFill/>
          <a:ln w="0">
            <a:noFill/>
            <a:prstDash val="solid"/>
          </a:ln>
        </p:spPr>
        <p:txBody>
          <a:bodyPr wrap="square" lIns="0" tIns="0" rIns="0" bIns="0" anchor="t">
            <a:normAutofit/>
          </a:bodyPr>
          <a:lstStyle/>
          <a:p>
            <a:pPr algn="l">
              <a:defRPr sz="1200" b="0">
                <a:solidFill>
                  <a:srgbClr val="565E6B"/>
                </a:solidFill>
                <a:latin typeface="Arial"/>
                <a:ea typeface="Arial"/>
                <a:cs typeface="Arial"/>
              </a:defRPr>
            </a:pPr>
            <a:r>
              <a:rPr sz="1200" b="0">
                <a:solidFill>
                  <a:srgbClr val="565E6B"/>
                </a:solidFill>
                <a:latin typeface="Arial"/>
                <a:ea typeface="Arial"/>
                <a:cs typeface="Arial"/>
              </a:rPr>
              <a:t>Proveedores externos</a:t>
            </a:r>
          </a:p>
        </p:txBody>
      </p:sp>
      <p:sp>
        <p:nvSpPr>
          <p:cNvPr id="66" name="Rectángulo 65">
            <a:extLst>
              <a:ext uri="{FF2B5EF4-FFF2-40B4-BE49-F238E27FC236}">
                <a16:creationId xmlns:a16="http://schemas.microsoft.com/office/drawing/2014/main" id="{B863AE9C-7568-4B65-9D18-218FB9FD52FA}"/>
              </a:ext>
            </a:extLst>
          </p:cNvPr>
          <p:cNvSpPr>
            <a:spLocks noGrp="1"/>
          </p:cNvSpPr>
          <p:nvPr/>
        </p:nvSpPr>
        <p:spPr>
          <a:xfrm>
            <a:off x="400050" y="5095875"/>
            <a:ext cx="2286000" cy="542925"/>
          </a:xfrm>
          <a:prstGeom prst="rect">
            <a:avLst/>
          </a:prstGeom>
          <a:solidFill>
            <a:srgbClr val="F6F7F8"/>
          </a:solidFill>
          <a:ln w="9525">
            <a:solidFill>
              <a:srgbClr val="B8BCC4"/>
            </a:solidFill>
            <a:prstDash val="solid"/>
          </a:ln>
        </p:spPr>
        <p:txBody>
          <a:bodyPr/>
          <a:lstStyle/>
          <a:p>
            <a:endParaRPr lang="es-ES"/>
          </a:p>
        </p:txBody>
      </p:sp>
      <p:sp>
        <p:nvSpPr>
          <p:cNvPr id="67" name="Rectángulo 66">
            <a:extLst>
              <a:ext uri="{FF2B5EF4-FFF2-40B4-BE49-F238E27FC236}">
                <a16:creationId xmlns:a16="http://schemas.microsoft.com/office/drawing/2014/main" id="{540848C4-D02D-4F37-B05B-4AB4612955FB}"/>
              </a:ext>
            </a:extLst>
          </p:cNvPr>
          <p:cNvSpPr>
            <a:spLocks noGrp="1"/>
          </p:cNvSpPr>
          <p:nvPr/>
        </p:nvSpPr>
        <p:spPr>
          <a:xfrm>
            <a:off x="514350" y="5248275"/>
            <a:ext cx="2057400" cy="266700"/>
          </a:xfrm>
          <a:prstGeom prst="rect">
            <a:avLst/>
          </a:prstGeom>
          <a:noFill/>
          <a:ln w="0">
            <a:noFill/>
            <a:prstDash val="solid"/>
          </a:ln>
        </p:spPr>
        <p:txBody>
          <a:bodyPr wrap="square" lIns="0" tIns="0" rIns="0" bIns="0" anchor="t">
            <a:normAutofit/>
          </a:bodyPr>
          <a:lstStyle/>
          <a:p>
            <a:pPr algn="l">
              <a:defRPr sz="1200" b="1">
                <a:solidFill>
                  <a:srgbClr val="000000"/>
                </a:solidFill>
                <a:latin typeface="Arial"/>
                <a:ea typeface="Arial"/>
                <a:cs typeface="Arial"/>
              </a:defRPr>
            </a:pPr>
            <a:r>
              <a:rPr sz="1200" b="1">
                <a:solidFill>
                  <a:srgbClr val="000000"/>
                </a:solidFill>
                <a:latin typeface="Arial"/>
                <a:ea typeface="Arial"/>
                <a:cs typeface="Arial"/>
              </a:rPr>
              <a:t>AspNetUserTokens</a:t>
            </a:r>
          </a:p>
        </p:txBody>
      </p:sp>
      <p:sp>
        <p:nvSpPr>
          <p:cNvPr id="68" name="Rectángulo 67">
            <a:extLst>
              <a:ext uri="{FF2B5EF4-FFF2-40B4-BE49-F238E27FC236}">
                <a16:creationId xmlns:a16="http://schemas.microsoft.com/office/drawing/2014/main" id="{C7BDFBBD-258F-4AD8-AD7A-D580FEB0E8F4}"/>
              </a:ext>
            </a:extLst>
          </p:cNvPr>
          <p:cNvSpPr>
            <a:spLocks noGrp="1"/>
          </p:cNvSpPr>
          <p:nvPr/>
        </p:nvSpPr>
        <p:spPr>
          <a:xfrm>
            <a:off x="2686050" y="5095875"/>
            <a:ext cx="2381250" cy="542925"/>
          </a:xfrm>
          <a:prstGeom prst="rect">
            <a:avLst/>
          </a:prstGeom>
          <a:solidFill>
            <a:srgbClr val="F6F7F8"/>
          </a:solidFill>
          <a:ln w="9525">
            <a:solidFill>
              <a:srgbClr val="B8BCC4"/>
            </a:solidFill>
            <a:prstDash val="solid"/>
          </a:ln>
        </p:spPr>
        <p:txBody>
          <a:bodyPr/>
          <a:lstStyle/>
          <a:p>
            <a:endParaRPr lang="es-ES"/>
          </a:p>
        </p:txBody>
      </p:sp>
      <p:sp>
        <p:nvSpPr>
          <p:cNvPr id="69" name="Rectángulo 68">
            <a:extLst>
              <a:ext uri="{FF2B5EF4-FFF2-40B4-BE49-F238E27FC236}">
                <a16:creationId xmlns:a16="http://schemas.microsoft.com/office/drawing/2014/main" id="{02E46D28-0FE7-465D-AF24-47DE22F2367C}"/>
              </a:ext>
            </a:extLst>
          </p:cNvPr>
          <p:cNvSpPr>
            <a:spLocks noGrp="1"/>
          </p:cNvSpPr>
          <p:nvPr/>
        </p:nvSpPr>
        <p:spPr>
          <a:xfrm>
            <a:off x="2800350" y="5248275"/>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a:t>
            </a:r>
          </a:p>
        </p:txBody>
      </p:sp>
      <p:sp>
        <p:nvSpPr>
          <p:cNvPr id="70" name="Rectángulo 69">
            <a:extLst>
              <a:ext uri="{FF2B5EF4-FFF2-40B4-BE49-F238E27FC236}">
                <a16:creationId xmlns:a16="http://schemas.microsoft.com/office/drawing/2014/main" id="{5E3D66F2-6F2A-4B91-B8F1-DF174A566183}"/>
              </a:ext>
            </a:extLst>
          </p:cNvPr>
          <p:cNvSpPr>
            <a:spLocks noGrp="1"/>
          </p:cNvSpPr>
          <p:nvPr/>
        </p:nvSpPr>
        <p:spPr>
          <a:xfrm>
            <a:off x="5067300" y="5095875"/>
            <a:ext cx="2381250" cy="542925"/>
          </a:xfrm>
          <a:prstGeom prst="rect">
            <a:avLst/>
          </a:prstGeom>
          <a:solidFill>
            <a:srgbClr val="F6F7F8"/>
          </a:solidFill>
          <a:ln w="9525">
            <a:solidFill>
              <a:srgbClr val="B8BCC4"/>
            </a:solidFill>
            <a:prstDash val="solid"/>
          </a:ln>
        </p:spPr>
        <p:txBody>
          <a:bodyPr/>
          <a:lstStyle/>
          <a:p>
            <a:endParaRPr lang="es-ES"/>
          </a:p>
        </p:txBody>
      </p:sp>
      <p:sp>
        <p:nvSpPr>
          <p:cNvPr id="71" name="Rectángulo 70">
            <a:extLst>
              <a:ext uri="{FF2B5EF4-FFF2-40B4-BE49-F238E27FC236}">
                <a16:creationId xmlns:a16="http://schemas.microsoft.com/office/drawing/2014/main" id="{7D262064-0C2B-4CD7-8AFD-897C99E9B2B7}"/>
              </a:ext>
            </a:extLst>
          </p:cNvPr>
          <p:cNvSpPr>
            <a:spLocks noGrp="1"/>
          </p:cNvSpPr>
          <p:nvPr/>
        </p:nvSpPr>
        <p:spPr>
          <a:xfrm>
            <a:off x="5181600" y="5248275"/>
            <a:ext cx="2152650" cy="266700"/>
          </a:xfrm>
          <a:prstGeom prst="rect">
            <a:avLst/>
          </a:prstGeom>
          <a:noFill/>
          <a:ln w="0">
            <a:noFill/>
            <a:prstDash val="solid"/>
          </a:ln>
        </p:spPr>
        <p:txBody>
          <a:bodyPr wrap="square" lIns="0" tIns="0" rIns="0" bIns="0" anchor="t">
            <a:normAutofit/>
          </a:bodyPr>
          <a:lstStyle/>
          <a:p>
            <a:endParaRPr/>
          </a:p>
        </p:txBody>
      </p:sp>
      <p:sp>
        <p:nvSpPr>
          <p:cNvPr id="72" name="Rectángulo 71">
            <a:extLst>
              <a:ext uri="{FF2B5EF4-FFF2-40B4-BE49-F238E27FC236}">
                <a16:creationId xmlns:a16="http://schemas.microsoft.com/office/drawing/2014/main" id="{7B4C0097-BBBA-4E1A-A2E3-80966BBBC955}"/>
              </a:ext>
            </a:extLst>
          </p:cNvPr>
          <p:cNvSpPr>
            <a:spLocks noGrp="1"/>
          </p:cNvSpPr>
          <p:nvPr/>
        </p:nvSpPr>
        <p:spPr>
          <a:xfrm>
            <a:off x="7448550" y="5095875"/>
            <a:ext cx="2381250" cy="542925"/>
          </a:xfrm>
          <a:prstGeom prst="rect">
            <a:avLst/>
          </a:prstGeom>
          <a:solidFill>
            <a:srgbClr val="F6F7F8"/>
          </a:solidFill>
          <a:ln w="9525">
            <a:solidFill>
              <a:srgbClr val="B8BCC4"/>
            </a:solidFill>
            <a:prstDash val="solid"/>
          </a:ln>
        </p:spPr>
        <p:txBody>
          <a:bodyPr/>
          <a:lstStyle/>
          <a:p>
            <a:endParaRPr lang="es-ES"/>
          </a:p>
        </p:txBody>
      </p:sp>
      <p:sp>
        <p:nvSpPr>
          <p:cNvPr id="73" name="Rectángulo 72">
            <a:extLst>
              <a:ext uri="{FF2B5EF4-FFF2-40B4-BE49-F238E27FC236}">
                <a16:creationId xmlns:a16="http://schemas.microsoft.com/office/drawing/2014/main" id="{A1CD641A-0364-4667-9302-7C20ABF60108}"/>
              </a:ext>
            </a:extLst>
          </p:cNvPr>
          <p:cNvSpPr>
            <a:spLocks noGrp="1"/>
          </p:cNvSpPr>
          <p:nvPr/>
        </p:nvSpPr>
        <p:spPr>
          <a:xfrm>
            <a:off x="7562850" y="5248275"/>
            <a:ext cx="2152650" cy="266700"/>
          </a:xfrm>
          <a:prstGeom prst="rect">
            <a:avLst/>
          </a:prstGeom>
          <a:noFill/>
          <a:ln w="0">
            <a:noFill/>
            <a:prstDash val="solid"/>
          </a:ln>
        </p:spPr>
        <p:txBody>
          <a:bodyPr wrap="square" lIns="0" tIns="0" rIns="0" bIns="0" anchor="t">
            <a:normAutofit/>
          </a:bodyPr>
          <a:lstStyle/>
          <a:p>
            <a:pPr algn="ctr">
              <a:defRPr sz="1200" b="0">
                <a:solidFill>
                  <a:srgbClr val="565E6B"/>
                </a:solidFill>
                <a:latin typeface="Arial"/>
                <a:ea typeface="Arial"/>
                <a:cs typeface="Arial"/>
              </a:defRPr>
            </a:pPr>
            <a:r>
              <a:rPr sz="1200" b="0">
                <a:solidFill>
                  <a:srgbClr val="565E6B"/>
                </a:solidFill>
                <a:latin typeface="Arial"/>
                <a:ea typeface="Arial"/>
                <a:cs typeface="Arial"/>
              </a:rPr>
              <a:t>1:N</a:t>
            </a:r>
          </a:p>
        </p:txBody>
      </p:sp>
      <p:sp>
        <p:nvSpPr>
          <p:cNvPr id="74" name="Rectángulo 73">
            <a:extLst>
              <a:ext uri="{FF2B5EF4-FFF2-40B4-BE49-F238E27FC236}">
                <a16:creationId xmlns:a16="http://schemas.microsoft.com/office/drawing/2014/main" id="{24FA0494-65C5-43DB-8D89-82EA5DA9E1BF}"/>
              </a:ext>
            </a:extLst>
          </p:cNvPr>
          <p:cNvSpPr>
            <a:spLocks noGrp="1"/>
          </p:cNvSpPr>
          <p:nvPr/>
        </p:nvSpPr>
        <p:spPr>
          <a:xfrm>
            <a:off x="9829800" y="5095875"/>
            <a:ext cx="1962150" cy="542925"/>
          </a:xfrm>
          <a:prstGeom prst="rect">
            <a:avLst/>
          </a:prstGeom>
          <a:solidFill>
            <a:srgbClr val="F6F7F8"/>
          </a:solidFill>
          <a:ln w="9525">
            <a:solidFill>
              <a:srgbClr val="B8BCC4"/>
            </a:solidFill>
            <a:prstDash val="solid"/>
          </a:ln>
        </p:spPr>
        <p:txBody>
          <a:bodyPr/>
          <a:lstStyle/>
          <a:p>
            <a:endParaRPr lang="es-ES"/>
          </a:p>
        </p:txBody>
      </p:sp>
      <p:sp>
        <p:nvSpPr>
          <p:cNvPr id="75" name="Rectángulo 74">
            <a:extLst>
              <a:ext uri="{FF2B5EF4-FFF2-40B4-BE49-F238E27FC236}">
                <a16:creationId xmlns:a16="http://schemas.microsoft.com/office/drawing/2014/main" id="{E6ED8B07-6C4E-4EDC-A8FA-FAAA783D0F78}"/>
              </a:ext>
            </a:extLst>
          </p:cNvPr>
          <p:cNvSpPr>
            <a:spLocks noGrp="1"/>
          </p:cNvSpPr>
          <p:nvPr/>
        </p:nvSpPr>
        <p:spPr>
          <a:xfrm>
            <a:off x="9944100" y="5248275"/>
            <a:ext cx="1733550" cy="266700"/>
          </a:xfrm>
          <a:prstGeom prst="rect">
            <a:avLst/>
          </a:prstGeom>
          <a:noFill/>
          <a:ln w="0">
            <a:noFill/>
            <a:prstDash val="solid"/>
          </a:ln>
        </p:spPr>
        <p:txBody>
          <a:bodyPr wrap="square" lIns="0" tIns="0" rIns="0" bIns="0" anchor="t">
            <a:normAutofit/>
          </a:bodyPr>
          <a:lstStyle/>
          <a:p>
            <a:pPr algn="l">
              <a:defRPr sz="1200" b="0">
                <a:solidFill>
                  <a:srgbClr val="565E6B"/>
                </a:solidFill>
                <a:latin typeface="Arial"/>
                <a:ea typeface="Arial"/>
                <a:cs typeface="Arial"/>
              </a:defRPr>
            </a:pPr>
            <a:r>
              <a:rPr sz="1200" b="0">
                <a:solidFill>
                  <a:srgbClr val="565E6B"/>
                </a:solidFill>
                <a:latin typeface="Arial"/>
                <a:ea typeface="Arial"/>
                <a:cs typeface="Arial"/>
              </a:rPr>
              <a:t>Tokens de autenticación</a:t>
            </a:r>
          </a:p>
        </p:txBody>
      </p:sp>
    </p:spTree>
    <p:extLst>
      <p:ext uri="{BB962C8B-B14F-4D97-AF65-F5344CB8AC3E}">
        <p14:creationId xmlns:p14="http://schemas.microsoft.com/office/powerpoint/2010/main" val="721549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7B24D100-0B53-412E-BCA6-6857C9AD8439}"/>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3">
            <a:extLst>
              <a:ext uri="{FF2B5EF4-FFF2-40B4-BE49-F238E27FC236}">
                <a16:creationId xmlns:a16="http://schemas.microsoft.com/office/drawing/2014/main" id="{71E388A4-9030-42A0-BB81-0AB0DF80492C}"/>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El registro valida antes de guardar y autenticar</a:t>
            </a:r>
          </a:p>
        </p:txBody>
      </p:sp>
      <p:cxnSp>
        <p:nvCxnSpPr>
          <p:cNvPr id="28" name="Conector recto de flecha 27"/>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C4806E9A-A84C-44DF-9A4B-984267F09EAC}"/>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3ED81C53-0479-4734-9B23-DC0D6EECF509}"/>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13</a:t>
            </a:r>
          </a:p>
        </p:txBody>
      </p:sp>
      <p:cxnSp>
        <p:nvCxnSpPr>
          <p:cNvPr id="31" name="Conector recto de flecha 30"/>
          <p:cNvCxnSpPr/>
          <p:nvPr/>
        </p:nvCxnSpPr>
        <p:spPr>
          <a:xfrm>
            <a:off x="2575560" y="3438525"/>
            <a:ext cx="228600" cy="0"/>
          </a:xfrm>
          <a:prstGeom prst="straightConnector1">
            <a:avLst/>
          </a:prstGeom>
          <a:ln w="28575">
            <a:solidFill>
              <a:srgbClr val="3D8DFF"/>
            </a:solidFill>
            <a:prstDash val="solid"/>
          </a:ln>
        </p:spPr>
      </p:cxnSp>
      <p:cxnSp>
        <p:nvCxnSpPr>
          <p:cNvPr id="32" name="Conector recto de flecha 31"/>
          <p:cNvCxnSpPr/>
          <p:nvPr/>
        </p:nvCxnSpPr>
        <p:spPr>
          <a:xfrm>
            <a:off x="4846320" y="3438525"/>
            <a:ext cx="228600" cy="0"/>
          </a:xfrm>
          <a:prstGeom prst="straightConnector1">
            <a:avLst/>
          </a:prstGeom>
          <a:ln w="28575">
            <a:solidFill>
              <a:srgbClr val="3D8DFF"/>
            </a:solidFill>
            <a:prstDash val="solid"/>
          </a:ln>
        </p:spPr>
      </p:cxnSp>
      <p:cxnSp>
        <p:nvCxnSpPr>
          <p:cNvPr id="33" name="Conector recto de flecha 32"/>
          <p:cNvCxnSpPr/>
          <p:nvPr/>
        </p:nvCxnSpPr>
        <p:spPr>
          <a:xfrm>
            <a:off x="7117080" y="3438525"/>
            <a:ext cx="228600" cy="0"/>
          </a:xfrm>
          <a:prstGeom prst="straightConnector1">
            <a:avLst/>
          </a:prstGeom>
          <a:ln w="28575">
            <a:solidFill>
              <a:srgbClr val="3D8DFF"/>
            </a:solidFill>
            <a:prstDash val="solid"/>
          </a:ln>
        </p:spPr>
      </p:cxnSp>
      <p:cxnSp>
        <p:nvCxnSpPr>
          <p:cNvPr id="34" name="Conector recto de flecha 33"/>
          <p:cNvCxnSpPr/>
          <p:nvPr/>
        </p:nvCxnSpPr>
        <p:spPr>
          <a:xfrm>
            <a:off x="9387840" y="3438525"/>
            <a:ext cx="228600" cy="0"/>
          </a:xfrm>
          <a:prstGeom prst="straightConnector1">
            <a:avLst/>
          </a:prstGeom>
          <a:ln w="28575">
            <a:solidFill>
              <a:srgbClr val="3D8DFF"/>
            </a:solidFill>
            <a:prstDash val="solid"/>
          </a:ln>
        </p:spPr>
      </p:cxnSp>
      <p:sp>
        <p:nvSpPr>
          <p:cNvPr id="10" name="Rectángulo: esquinas redondeadas 9">
            <a:extLst>
              <a:ext uri="{FF2B5EF4-FFF2-40B4-BE49-F238E27FC236}">
                <a16:creationId xmlns:a16="http://schemas.microsoft.com/office/drawing/2014/main" id="{C89424A7-1598-4879-9C68-6A34B0BAD766}"/>
              </a:ext>
            </a:extLst>
          </p:cNvPr>
          <p:cNvSpPr>
            <a:spLocks noGrp="1"/>
          </p:cNvSpPr>
          <p:nvPr/>
        </p:nvSpPr>
        <p:spPr>
          <a:xfrm>
            <a:off x="533400" y="278130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1" name="Rectángulo 10">
            <a:extLst>
              <a:ext uri="{FF2B5EF4-FFF2-40B4-BE49-F238E27FC236}">
                <a16:creationId xmlns:a16="http://schemas.microsoft.com/office/drawing/2014/main" id="{5C30CE91-8117-4502-9FC2-050FA0CAE79D}"/>
              </a:ext>
            </a:extLst>
          </p:cNvPr>
          <p:cNvSpPr>
            <a:spLocks noGrp="1"/>
          </p:cNvSpPr>
          <p:nvPr/>
        </p:nvSpPr>
        <p:spPr>
          <a:xfrm>
            <a:off x="666750" y="29051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1</a:t>
            </a:r>
          </a:p>
        </p:txBody>
      </p:sp>
      <p:sp>
        <p:nvSpPr>
          <p:cNvPr id="12" name="Rectángulo 11">
            <a:extLst>
              <a:ext uri="{FF2B5EF4-FFF2-40B4-BE49-F238E27FC236}">
                <a16:creationId xmlns:a16="http://schemas.microsoft.com/office/drawing/2014/main" id="{0852A9B8-5CFA-4D79-8712-CA907CA0509B}"/>
              </a:ext>
            </a:extLst>
          </p:cNvPr>
          <p:cNvSpPr>
            <a:spLocks noGrp="1"/>
          </p:cNvSpPr>
          <p:nvPr/>
        </p:nvSpPr>
        <p:spPr>
          <a:xfrm>
            <a:off x="666750" y="323850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Formulario válido</a:t>
            </a:r>
          </a:p>
        </p:txBody>
      </p:sp>
      <p:sp>
        <p:nvSpPr>
          <p:cNvPr id="13" name="Rectángulo: esquinas redondeadas 12">
            <a:extLst>
              <a:ext uri="{FF2B5EF4-FFF2-40B4-BE49-F238E27FC236}">
                <a16:creationId xmlns:a16="http://schemas.microsoft.com/office/drawing/2014/main" id="{0E680512-75BB-4BA5-9183-D92CF2EEA73A}"/>
              </a:ext>
            </a:extLst>
          </p:cNvPr>
          <p:cNvSpPr>
            <a:spLocks noGrp="1"/>
          </p:cNvSpPr>
          <p:nvPr/>
        </p:nvSpPr>
        <p:spPr>
          <a:xfrm>
            <a:off x="2804160" y="278130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4" name="Rectángulo 13">
            <a:extLst>
              <a:ext uri="{FF2B5EF4-FFF2-40B4-BE49-F238E27FC236}">
                <a16:creationId xmlns:a16="http://schemas.microsoft.com/office/drawing/2014/main" id="{0A6B2899-BB5C-458E-A306-BA0E9B03C550}"/>
              </a:ext>
            </a:extLst>
          </p:cNvPr>
          <p:cNvSpPr>
            <a:spLocks noGrp="1"/>
          </p:cNvSpPr>
          <p:nvPr/>
        </p:nvSpPr>
        <p:spPr>
          <a:xfrm>
            <a:off x="2937510" y="29051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2</a:t>
            </a:r>
          </a:p>
        </p:txBody>
      </p:sp>
      <p:sp>
        <p:nvSpPr>
          <p:cNvPr id="15" name="Rectángulo 14">
            <a:extLst>
              <a:ext uri="{FF2B5EF4-FFF2-40B4-BE49-F238E27FC236}">
                <a16:creationId xmlns:a16="http://schemas.microsoft.com/office/drawing/2014/main" id="{8D000CB9-B8E5-4414-86D1-C60FC4F555D5}"/>
              </a:ext>
            </a:extLst>
          </p:cNvPr>
          <p:cNvSpPr>
            <a:spLocks noGrp="1"/>
          </p:cNvSpPr>
          <p:nvPr/>
        </p:nvSpPr>
        <p:spPr>
          <a:xfrm>
            <a:off x="2937510" y="323850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Crear usuario</a:t>
            </a:r>
          </a:p>
        </p:txBody>
      </p:sp>
      <p:sp>
        <p:nvSpPr>
          <p:cNvPr id="16" name="Rectángulo: esquinas redondeadas 15">
            <a:extLst>
              <a:ext uri="{FF2B5EF4-FFF2-40B4-BE49-F238E27FC236}">
                <a16:creationId xmlns:a16="http://schemas.microsoft.com/office/drawing/2014/main" id="{68BC30DA-1DE2-45F4-BFE3-A43D1CFDAD53}"/>
              </a:ext>
            </a:extLst>
          </p:cNvPr>
          <p:cNvSpPr>
            <a:spLocks noGrp="1"/>
          </p:cNvSpPr>
          <p:nvPr/>
        </p:nvSpPr>
        <p:spPr>
          <a:xfrm>
            <a:off x="5074920" y="278130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7" name="Rectángulo 16">
            <a:extLst>
              <a:ext uri="{FF2B5EF4-FFF2-40B4-BE49-F238E27FC236}">
                <a16:creationId xmlns:a16="http://schemas.microsoft.com/office/drawing/2014/main" id="{944CF9CA-2570-4AC0-95B8-6A62E0483892}"/>
              </a:ext>
            </a:extLst>
          </p:cNvPr>
          <p:cNvSpPr>
            <a:spLocks noGrp="1"/>
          </p:cNvSpPr>
          <p:nvPr/>
        </p:nvSpPr>
        <p:spPr>
          <a:xfrm>
            <a:off x="5208270" y="29051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3</a:t>
            </a:r>
          </a:p>
        </p:txBody>
      </p:sp>
      <p:sp>
        <p:nvSpPr>
          <p:cNvPr id="18" name="Rectángulo 17">
            <a:extLst>
              <a:ext uri="{FF2B5EF4-FFF2-40B4-BE49-F238E27FC236}">
                <a16:creationId xmlns:a16="http://schemas.microsoft.com/office/drawing/2014/main" id="{8EDBF4D6-5F30-44B2-9D5F-8940A9DA39CA}"/>
              </a:ext>
            </a:extLst>
          </p:cNvPr>
          <p:cNvSpPr>
            <a:spLocks noGrp="1"/>
          </p:cNvSpPr>
          <p:nvPr/>
        </p:nvSpPr>
        <p:spPr>
          <a:xfrm>
            <a:off x="5208270" y="323850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Hash de contraseña</a:t>
            </a:r>
          </a:p>
        </p:txBody>
      </p:sp>
      <p:sp>
        <p:nvSpPr>
          <p:cNvPr id="19" name="Rectángulo: esquinas redondeadas 18">
            <a:extLst>
              <a:ext uri="{FF2B5EF4-FFF2-40B4-BE49-F238E27FC236}">
                <a16:creationId xmlns:a16="http://schemas.microsoft.com/office/drawing/2014/main" id="{6DBF9FE1-63FE-4518-B709-E636E3ADF723}"/>
              </a:ext>
            </a:extLst>
          </p:cNvPr>
          <p:cNvSpPr>
            <a:spLocks noGrp="1"/>
          </p:cNvSpPr>
          <p:nvPr/>
        </p:nvSpPr>
        <p:spPr>
          <a:xfrm>
            <a:off x="7345680" y="278130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20" name="Rectángulo 19">
            <a:extLst>
              <a:ext uri="{FF2B5EF4-FFF2-40B4-BE49-F238E27FC236}">
                <a16:creationId xmlns:a16="http://schemas.microsoft.com/office/drawing/2014/main" id="{AA8038D5-49DE-48AC-9B5A-537AE3CCD9E7}"/>
              </a:ext>
            </a:extLst>
          </p:cNvPr>
          <p:cNvSpPr>
            <a:spLocks noGrp="1"/>
          </p:cNvSpPr>
          <p:nvPr/>
        </p:nvSpPr>
        <p:spPr>
          <a:xfrm>
            <a:off x="7479030" y="29051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4</a:t>
            </a:r>
          </a:p>
        </p:txBody>
      </p:sp>
      <p:sp>
        <p:nvSpPr>
          <p:cNvPr id="21" name="Rectángulo 20">
            <a:extLst>
              <a:ext uri="{FF2B5EF4-FFF2-40B4-BE49-F238E27FC236}">
                <a16:creationId xmlns:a16="http://schemas.microsoft.com/office/drawing/2014/main" id="{CAC1B949-2A75-4C13-A23B-91968BECFD92}"/>
              </a:ext>
            </a:extLst>
          </p:cNvPr>
          <p:cNvSpPr>
            <a:spLocks noGrp="1"/>
          </p:cNvSpPr>
          <p:nvPr/>
        </p:nvSpPr>
        <p:spPr>
          <a:xfrm>
            <a:off x="7479030" y="323850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Guardar</a:t>
            </a:r>
          </a:p>
        </p:txBody>
      </p:sp>
      <p:sp>
        <p:nvSpPr>
          <p:cNvPr id="22" name="Rectángulo: esquinas redondeadas 21">
            <a:extLst>
              <a:ext uri="{FF2B5EF4-FFF2-40B4-BE49-F238E27FC236}">
                <a16:creationId xmlns:a16="http://schemas.microsoft.com/office/drawing/2014/main" id="{3AA290B6-3551-4A4C-8F68-FA91E6AD278D}"/>
              </a:ext>
            </a:extLst>
          </p:cNvPr>
          <p:cNvSpPr>
            <a:spLocks noGrp="1"/>
          </p:cNvSpPr>
          <p:nvPr/>
        </p:nvSpPr>
        <p:spPr>
          <a:xfrm>
            <a:off x="9616440" y="2781300"/>
            <a:ext cx="2042160" cy="1314450"/>
          </a:xfrm>
          <a:prstGeom prst="roundRect">
            <a:avLst>
              <a:gd name="adj" fmla="val 8696"/>
            </a:avLst>
          </a:prstGeom>
          <a:solidFill>
            <a:srgbClr val="DCEEFF"/>
          </a:solidFill>
          <a:ln w="9525">
            <a:solidFill>
              <a:srgbClr val="B8BCC4"/>
            </a:solidFill>
            <a:prstDash val="solid"/>
          </a:ln>
        </p:spPr>
        <p:txBody>
          <a:bodyPr/>
          <a:lstStyle/>
          <a:p>
            <a:endParaRPr lang="es-ES"/>
          </a:p>
        </p:txBody>
      </p:sp>
      <p:sp>
        <p:nvSpPr>
          <p:cNvPr id="23" name="Rectángulo 22">
            <a:extLst>
              <a:ext uri="{FF2B5EF4-FFF2-40B4-BE49-F238E27FC236}">
                <a16:creationId xmlns:a16="http://schemas.microsoft.com/office/drawing/2014/main" id="{C215615C-764D-41E8-AE4F-DA35F720C647}"/>
              </a:ext>
            </a:extLst>
          </p:cNvPr>
          <p:cNvSpPr>
            <a:spLocks noGrp="1"/>
          </p:cNvSpPr>
          <p:nvPr/>
        </p:nvSpPr>
        <p:spPr>
          <a:xfrm>
            <a:off x="9749790" y="29051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5</a:t>
            </a:r>
          </a:p>
        </p:txBody>
      </p:sp>
      <p:sp>
        <p:nvSpPr>
          <p:cNvPr id="24" name="Rectángulo 23">
            <a:extLst>
              <a:ext uri="{FF2B5EF4-FFF2-40B4-BE49-F238E27FC236}">
                <a16:creationId xmlns:a16="http://schemas.microsoft.com/office/drawing/2014/main" id="{C5636EBC-51E9-487D-BE04-3E9F80E15A92}"/>
              </a:ext>
            </a:extLst>
          </p:cNvPr>
          <p:cNvSpPr>
            <a:spLocks noGrp="1"/>
          </p:cNvSpPr>
          <p:nvPr/>
        </p:nvSpPr>
        <p:spPr>
          <a:xfrm>
            <a:off x="9749790" y="323850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Entrar o confirmar</a:t>
            </a:r>
          </a:p>
        </p:txBody>
      </p:sp>
      <p:sp>
        <p:nvSpPr>
          <p:cNvPr id="25" name="Rectángulo 24">
            <a:extLst>
              <a:ext uri="{FF2B5EF4-FFF2-40B4-BE49-F238E27FC236}">
                <a16:creationId xmlns:a16="http://schemas.microsoft.com/office/drawing/2014/main" id="{A2C928DA-7B88-449E-AFD9-A7AEB7780ED5}"/>
              </a:ext>
            </a:extLst>
          </p:cNvPr>
          <p:cNvSpPr>
            <a:spLocks noGrp="1"/>
          </p:cNvSpPr>
          <p:nvPr/>
        </p:nvSpPr>
        <p:spPr>
          <a:xfrm>
            <a:off x="1143000" y="4667250"/>
            <a:ext cx="9906000" cy="495300"/>
          </a:xfrm>
          <a:prstGeom prst="rect">
            <a:avLst/>
          </a:prstGeom>
          <a:noFill/>
          <a:ln w="0">
            <a:noFill/>
            <a:prstDash val="solid"/>
          </a:ln>
        </p:spPr>
        <p:txBody>
          <a:bodyPr wrap="square" lIns="0" tIns="0" rIns="0" bIns="0" anchor="t">
            <a:normAutofit/>
          </a:bodyPr>
          <a:lstStyle/>
          <a:p>
            <a:pPr algn="ctr">
              <a:defRPr sz="1725" b="1">
                <a:solidFill>
                  <a:srgbClr val="000000"/>
                </a:solidFill>
                <a:latin typeface="Arial"/>
                <a:ea typeface="Arial"/>
                <a:cs typeface="Arial"/>
              </a:defRPr>
            </a:pPr>
            <a:r>
              <a:rPr sz="1725" b="1">
                <a:solidFill>
                  <a:srgbClr val="000000"/>
                </a:solidFill>
                <a:latin typeface="Arial"/>
                <a:ea typeface="Arial"/>
                <a:cs typeface="Arial"/>
              </a:rPr>
              <a:t>Si falla cualquier regla, no se crea la cuenta y se muestran IdentityResult.Errors.</a:t>
            </a:r>
          </a:p>
        </p:txBody>
      </p:sp>
    </p:spTree>
    <p:extLst>
      <p:ext uri="{BB962C8B-B14F-4D97-AF65-F5344CB8AC3E}">
        <p14:creationId xmlns:p14="http://schemas.microsoft.com/office/powerpoint/2010/main" val="946022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DF9B6F80-398C-4C6A-8626-EA3DD86B204F}"/>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4">
            <a:extLst>
              <a:ext uri="{FF2B5EF4-FFF2-40B4-BE49-F238E27FC236}">
                <a16:creationId xmlns:a16="http://schemas.microsoft.com/office/drawing/2014/main" id="{F8B08C3C-6C35-46B2-90FC-1685D8F8C210}"/>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UserManager crea la cuenta; SignInManager crea la sesión</a:t>
            </a:r>
          </a:p>
        </p:txBody>
      </p:sp>
      <p:cxnSp>
        <p:nvCxnSpPr>
          <p:cNvPr id="11" name="Conector recto de flecha 10"/>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EB02101C-2FBF-4F2A-A6F5-AD246574F7A5}"/>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EDBBD4B8-4ED7-4E99-8001-2E64BBAAB02E}"/>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14</a:t>
            </a:r>
          </a:p>
        </p:txBody>
      </p:sp>
      <p:sp>
        <p:nvSpPr>
          <p:cNvPr id="6" name="Rectángulo: esquinas redondeadas 5">
            <a:extLst>
              <a:ext uri="{FF2B5EF4-FFF2-40B4-BE49-F238E27FC236}">
                <a16:creationId xmlns:a16="http://schemas.microsoft.com/office/drawing/2014/main" id="{90FF8DFE-B53C-488F-A991-2740C71CDE6F}"/>
              </a:ext>
            </a:extLst>
          </p:cNvPr>
          <p:cNvSpPr>
            <a:spLocks noGrp="1"/>
          </p:cNvSpPr>
          <p:nvPr/>
        </p:nvSpPr>
        <p:spPr>
          <a:xfrm>
            <a:off x="400050" y="1809750"/>
            <a:ext cx="11391900" cy="4191000"/>
          </a:xfrm>
          <a:prstGeom prst="roundRect">
            <a:avLst>
              <a:gd name="adj" fmla="val 2727"/>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F361D755-293A-4909-9148-6AD977C24BA7}"/>
              </a:ext>
            </a:extLst>
          </p:cNvPr>
          <p:cNvSpPr>
            <a:spLocks noGrp="1"/>
          </p:cNvSpPr>
          <p:nvPr/>
        </p:nvSpPr>
        <p:spPr>
          <a:xfrm>
            <a:off x="628650" y="1981200"/>
            <a:ext cx="10934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REGISTRO · Register.cshtml.cs</a:t>
            </a:r>
          </a:p>
        </p:txBody>
      </p:sp>
      <p:sp>
        <p:nvSpPr>
          <p:cNvPr id="8" name="Rectángulo 7">
            <a:extLst>
              <a:ext uri="{FF2B5EF4-FFF2-40B4-BE49-F238E27FC236}">
                <a16:creationId xmlns:a16="http://schemas.microsoft.com/office/drawing/2014/main" id="{1C1ECEAF-6CAA-48F0-AA5C-AE986287EB87}"/>
              </a:ext>
            </a:extLst>
          </p:cNvPr>
          <p:cNvSpPr>
            <a:spLocks noGrp="1"/>
          </p:cNvSpPr>
          <p:nvPr/>
        </p:nvSpPr>
        <p:spPr>
          <a:xfrm>
            <a:off x="628650" y="2362200"/>
            <a:ext cx="10934700" cy="3448050"/>
          </a:xfrm>
          <a:prstGeom prst="rect">
            <a:avLst/>
          </a:prstGeom>
          <a:noFill/>
          <a:ln w="0">
            <a:noFill/>
            <a:prstDash val="solid"/>
          </a:ln>
        </p:spPr>
        <p:txBody>
          <a:bodyPr wrap="square" lIns="0" tIns="0" rIns="0" bIns="0" anchor="t">
            <a:normAutofit/>
          </a:bodyPr>
          <a:lstStyle/>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var usuario = new ApplicationUser</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    UserName = Input.Email,</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    Email = Input.Email</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a:t>
            </a:r>
          </a:p>
          <a:p>
            <a:endParaRPr sz="1238" b="0">
              <a:solidFill>
                <a:srgbClr val="14213D"/>
              </a:solidFill>
              <a:latin typeface="Consolas"/>
              <a:ea typeface="Consolas"/>
              <a:cs typeface="Consolas"/>
            </a:endParaRP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IdentityResult resultado =</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    await _userManager.CreateAsync(usuario, Input.Password);</a:t>
            </a:r>
          </a:p>
          <a:p>
            <a:endParaRPr sz="1238" b="0">
              <a:solidFill>
                <a:srgbClr val="14213D"/>
              </a:solidFill>
              <a:latin typeface="Consolas"/>
              <a:ea typeface="Consolas"/>
              <a:cs typeface="Consolas"/>
            </a:endParaRP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if (resultado.Succeeded)</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    await _signInManager.SignInAsync(usuario, isPersistent: false);</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    return LocalRedirect(returnUrl);</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a:t>
            </a:r>
          </a:p>
          <a:p>
            <a:endParaRPr sz="1238" b="0">
              <a:solidFill>
                <a:srgbClr val="14213D"/>
              </a:solidFill>
              <a:latin typeface="Consolas"/>
              <a:ea typeface="Consolas"/>
              <a:cs typeface="Consolas"/>
            </a:endParaRP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foreach (IdentityError error in resultado.Errors)</a:t>
            </a:r>
          </a:p>
          <a:p>
            <a:pPr algn="l">
              <a:defRPr sz="1238" b="0">
                <a:solidFill>
                  <a:srgbClr val="14213D"/>
                </a:solidFill>
                <a:latin typeface="Consolas"/>
                <a:ea typeface="Consolas"/>
                <a:cs typeface="Consolas"/>
              </a:defRPr>
            </a:pPr>
            <a:r>
              <a:rPr sz="1238" b="0">
                <a:solidFill>
                  <a:srgbClr val="14213D"/>
                </a:solidFill>
                <a:latin typeface="Consolas"/>
                <a:ea typeface="Consolas"/>
                <a:cs typeface="Consolas"/>
              </a:rPr>
              <a:t>    ModelState.AddModelError(string.Empty, error.Description);</a:t>
            </a:r>
          </a:p>
        </p:txBody>
      </p:sp>
    </p:spTree>
    <p:extLst>
      <p:ext uri="{BB962C8B-B14F-4D97-AF65-F5344CB8AC3E}">
        <p14:creationId xmlns:p14="http://schemas.microsoft.com/office/powerpoint/2010/main" val="1617870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68A40E33-8823-48B2-83D3-FD57CD44C321}"/>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5">
            <a:extLst>
              <a:ext uri="{FF2B5EF4-FFF2-40B4-BE49-F238E27FC236}">
                <a16:creationId xmlns:a16="http://schemas.microsoft.com/office/drawing/2014/main" id="{380968BE-031C-4FC8-912C-1ABF42BEAB0E}"/>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La contraseña nunca debe almacenarse en texto plano</a:t>
            </a:r>
          </a:p>
        </p:txBody>
      </p:sp>
      <p:cxnSp>
        <p:nvCxnSpPr>
          <p:cNvPr id="15" name="Conector recto de flecha 14"/>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4A34FD26-9255-4B01-8793-FF6E8BAEC5D9}"/>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7E8A955F-CB24-4E4A-BE34-4E0611B16B0E}"/>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15</a:t>
            </a:r>
          </a:p>
        </p:txBody>
      </p:sp>
      <p:sp>
        <p:nvSpPr>
          <p:cNvPr id="6" name="Rectángulo 5">
            <a:extLst>
              <a:ext uri="{FF2B5EF4-FFF2-40B4-BE49-F238E27FC236}">
                <a16:creationId xmlns:a16="http://schemas.microsoft.com/office/drawing/2014/main" id="{04F259EC-C70F-4C67-B89D-80D2E6157856}"/>
              </a:ext>
            </a:extLst>
          </p:cNvPr>
          <p:cNvSpPr>
            <a:spLocks noGrp="1"/>
          </p:cNvSpPr>
          <p:nvPr/>
        </p:nvSpPr>
        <p:spPr>
          <a:xfrm>
            <a:off x="400050" y="2190750"/>
            <a:ext cx="5286375"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Lo que entra</a:t>
            </a:r>
          </a:p>
        </p:txBody>
      </p:sp>
      <p:sp>
        <p:nvSpPr>
          <p:cNvPr id="7" name="Rectángulo 6">
            <a:extLst>
              <a:ext uri="{FF2B5EF4-FFF2-40B4-BE49-F238E27FC236}">
                <a16:creationId xmlns:a16="http://schemas.microsoft.com/office/drawing/2014/main" id="{248A59E0-8217-4243-9C8F-DEA17DEDF4DE}"/>
              </a:ext>
            </a:extLst>
          </p:cNvPr>
          <p:cNvSpPr>
            <a:spLocks noGrp="1"/>
          </p:cNvSpPr>
          <p:nvPr/>
        </p:nvSpPr>
        <p:spPr>
          <a:xfrm>
            <a:off x="400050" y="2781300"/>
            <a:ext cx="5286375" cy="2362200"/>
          </a:xfrm>
          <a:prstGeom prst="rect">
            <a:avLst/>
          </a:prstGeom>
          <a:noFill/>
          <a:ln w="0">
            <a:noFill/>
            <a:prstDash val="solid"/>
          </a:ln>
        </p:spPr>
        <p:txBody>
          <a:bodyPr wrap="square" lIns="0" tIns="0" rIns="0" bIns="0" anchor="t">
            <a:normAutofit/>
          </a:bodyPr>
          <a:lstStyle/>
          <a:p>
            <a:pPr algn="l">
              <a:defRPr sz="1800" b="0">
                <a:solidFill>
                  <a:srgbClr val="565E6B"/>
                </a:solidFill>
                <a:latin typeface="Arial"/>
                <a:ea typeface="Arial"/>
                <a:cs typeface="Arial"/>
              </a:defRPr>
            </a:pPr>
            <a:r>
              <a:rPr sz="1800" b="0">
                <a:solidFill>
                  <a:srgbClr val="565E6B"/>
                </a:solidFill>
                <a:latin typeface="Arial"/>
                <a:ea typeface="Arial"/>
                <a:cs typeface="Arial"/>
              </a:rPr>
              <a:t>Contraseña escrita por el usuario</a:t>
            </a:r>
          </a:p>
          <a:p>
            <a:endParaRPr sz="1800" b="0">
              <a:solidFill>
                <a:srgbClr val="565E6B"/>
              </a:solidFill>
              <a:latin typeface="Arial"/>
              <a:ea typeface="Arial"/>
              <a:cs typeface="Arial"/>
            </a:endParaRPr>
          </a:p>
          <a:p>
            <a:pPr algn="l">
              <a:defRPr sz="1800" b="0">
                <a:solidFill>
                  <a:srgbClr val="565E6B"/>
                </a:solidFill>
                <a:latin typeface="Arial"/>
                <a:ea typeface="Arial"/>
                <a:cs typeface="Arial"/>
              </a:defRPr>
            </a:pPr>
            <a:r>
              <a:rPr sz="1800" b="0">
                <a:solidFill>
                  <a:srgbClr val="565E6B"/>
                </a:solidFill>
                <a:latin typeface="Arial"/>
                <a:ea typeface="Arial"/>
                <a:cs typeface="Arial"/>
              </a:rPr>
              <a:t>«MiClaveSegura!»</a:t>
            </a:r>
          </a:p>
        </p:txBody>
      </p:sp>
      <p:cxnSp>
        <p:nvCxnSpPr>
          <p:cNvPr id="20" name="Conector recto de flecha 19"/>
          <p:cNvCxnSpPr/>
          <p:nvPr/>
        </p:nvCxnSpPr>
        <p:spPr>
          <a:xfrm>
            <a:off x="5943600" y="2190750"/>
            <a:ext cx="0" cy="2952750"/>
          </a:xfrm>
          <a:prstGeom prst="straightConnector1">
            <a:avLst/>
          </a:prstGeom>
          <a:ln w="9525">
            <a:solidFill>
              <a:srgbClr val="B8BCC4"/>
            </a:solidFill>
            <a:prstDash val="solid"/>
          </a:ln>
        </p:spPr>
      </p:cxnSp>
      <p:sp>
        <p:nvSpPr>
          <p:cNvPr id="9" name="Rectángulo 8">
            <a:extLst>
              <a:ext uri="{FF2B5EF4-FFF2-40B4-BE49-F238E27FC236}">
                <a16:creationId xmlns:a16="http://schemas.microsoft.com/office/drawing/2014/main" id="{31410060-8A86-4629-BAB8-AB719A999359}"/>
              </a:ext>
            </a:extLst>
          </p:cNvPr>
          <p:cNvSpPr>
            <a:spLocks noGrp="1"/>
          </p:cNvSpPr>
          <p:nvPr/>
        </p:nvSpPr>
        <p:spPr>
          <a:xfrm>
            <a:off x="6343650" y="2190750"/>
            <a:ext cx="5448300"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Lo que se guarda</a:t>
            </a:r>
          </a:p>
        </p:txBody>
      </p:sp>
      <p:sp>
        <p:nvSpPr>
          <p:cNvPr id="10" name="Rectángulo 9">
            <a:extLst>
              <a:ext uri="{FF2B5EF4-FFF2-40B4-BE49-F238E27FC236}">
                <a16:creationId xmlns:a16="http://schemas.microsoft.com/office/drawing/2014/main" id="{38D0DE20-5CB7-4090-91B2-21785249A08E}"/>
              </a:ext>
            </a:extLst>
          </p:cNvPr>
          <p:cNvSpPr>
            <a:spLocks noGrp="1"/>
          </p:cNvSpPr>
          <p:nvPr/>
        </p:nvSpPr>
        <p:spPr>
          <a:xfrm>
            <a:off x="6343650" y="2781300"/>
            <a:ext cx="5448300" cy="2362200"/>
          </a:xfrm>
          <a:prstGeom prst="rect">
            <a:avLst/>
          </a:prstGeom>
          <a:noFill/>
          <a:ln w="0">
            <a:noFill/>
            <a:prstDash val="solid"/>
          </a:ln>
        </p:spPr>
        <p:txBody>
          <a:bodyPr wrap="square" lIns="0" tIns="0" rIns="0" bIns="0" anchor="t">
            <a:normAutofit/>
          </a:bodyPr>
          <a:lstStyle/>
          <a:p>
            <a:pPr algn="l">
              <a:defRPr sz="1800" b="0">
                <a:solidFill>
                  <a:srgbClr val="565E6B"/>
                </a:solidFill>
                <a:latin typeface="Arial"/>
                <a:ea typeface="Arial"/>
                <a:cs typeface="Arial"/>
              </a:defRPr>
            </a:pPr>
            <a:r>
              <a:rPr sz="1800" b="0">
                <a:solidFill>
                  <a:srgbClr val="565E6B"/>
                </a:solidFill>
                <a:latin typeface="Arial"/>
                <a:ea typeface="Arial"/>
                <a:cs typeface="Arial"/>
              </a:rPr>
              <a:t>Hash de contraseña</a:t>
            </a:r>
          </a:p>
          <a:p>
            <a:pPr algn="l">
              <a:defRPr sz="1800" b="0">
                <a:solidFill>
                  <a:srgbClr val="565E6B"/>
                </a:solidFill>
                <a:latin typeface="Arial"/>
                <a:ea typeface="Arial"/>
                <a:cs typeface="Arial"/>
              </a:defRPr>
            </a:pPr>
            <a:r>
              <a:rPr sz="1800" b="0">
                <a:solidFill>
                  <a:srgbClr val="565E6B"/>
                </a:solidFill>
                <a:latin typeface="Arial"/>
                <a:ea typeface="Arial"/>
                <a:cs typeface="Arial"/>
              </a:rPr>
              <a:t>+ salt</a:t>
            </a:r>
          </a:p>
          <a:p>
            <a:pPr algn="l">
              <a:defRPr sz="1800" b="0">
                <a:solidFill>
                  <a:srgbClr val="565E6B"/>
                </a:solidFill>
                <a:latin typeface="Arial"/>
                <a:ea typeface="Arial"/>
                <a:cs typeface="Arial"/>
              </a:defRPr>
            </a:pPr>
            <a:r>
              <a:rPr sz="1800" b="0">
                <a:solidFill>
                  <a:srgbClr val="565E6B"/>
                </a:solidFill>
                <a:latin typeface="Arial"/>
                <a:ea typeface="Arial"/>
                <a:cs typeface="Arial"/>
              </a:rPr>
              <a:t>+ versión y parámetros</a:t>
            </a:r>
          </a:p>
          <a:p>
            <a:endParaRPr sz="1800" b="0">
              <a:solidFill>
                <a:srgbClr val="565E6B"/>
              </a:solidFill>
              <a:latin typeface="Arial"/>
              <a:ea typeface="Arial"/>
              <a:cs typeface="Arial"/>
            </a:endParaRPr>
          </a:p>
          <a:p>
            <a:pPr algn="l">
              <a:defRPr sz="1800" b="0">
                <a:solidFill>
                  <a:srgbClr val="565E6B"/>
                </a:solidFill>
                <a:latin typeface="Arial"/>
                <a:ea typeface="Arial"/>
                <a:cs typeface="Arial"/>
              </a:defRPr>
            </a:pPr>
            <a:r>
              <a:rPr sz="1800" b="0">
                <a:solidFill>
                  <a:srgbClr val="565E6B"/>
                </a:solidFill>
                <a:latin typeface="Arial"/>
                <a:ea typeface="Arial"/>
                <a:cs typeface="Arial"/>
              </a:rPr>
              <a:t>No permite recuperar la contraseña original.</a:t>
            </a:r>
          </a:p>
        </p:txBody>
      </p:sp>
      <p:sp>
        <p:nvSpPr>
          <p:cNvPr id="11" name="Rectángulo: esquinas redondeadas 10">
            <a:extLst>
              <a:ext uri="{FF2B5EF4-FFF2-40B4-BE49-F238E27FC236}">
                <a16:creationId xmlns:a16="http://schemas.microsoft.com/office/drawing/2014/main" id="{C86881D2-A13F-4D4B-AD3B-4A3AD6B13B7C}"/>
              </a:ext>
            </a:extLst>
          </p:cNvPr>
          <p:cNvSpPr>
            <a:spLocks noGrp="1"/>
          </p:cNvSpPr>
          <p:nvPr/>
        </p:nvSpPr>
        <p:spPr>
          <a:xfrm>
            <a:off x="4286250" y="5238750"/>
            <a:ext cx="3619500" cy="523875"/>
          </a:xfrm>
          <a:prstGeom prst="roundRect">
            <a:avLst>
              <a:gd name="adj" fmla="val 21818"/>
            </a:avLst>
          </a:prstGeom>
          <a:solidFill>
            <a:srgbClr val="D9F3E6"/>
          </a:solidFill>
          <a:ln w="0">
            <a:noFill/>
            <a:prstDash val="solid"/>
          </a:ln>
        </p:spPr>
        <p:txBody>
          <a:bodyPr/>
          <a:lstStyle/>
          <a:p>
            <a:endParaRPr lang="es-ES"/>
          </a:p>
        </p:txBody>
      </p:sp>
      <p:sp>
        <p:nvSpPr>
          <p:cNvPr id="12" name="Rectángulo 11">
            <a:extLst>
              <a:ext uri="{FF2B5EF4-FFF2-40B4-BE49-F238E27FC236}">
                <a16:creationId xmlns:a16="http://schemas.microsoft.com/office/drawing/2014/main" id="{48E6E953-B741-4ADF-A6B3-34702363B944}"/>
              </a:ext>
            </a:extLst>
          </p:cNvPr>
          <p:cNvSpPr>
            <a:spLocks noGrp="1"/>
          </p:cNvSpPr>
          <p:nvPr/>
        </p:nvSpPr>
        <p:spPr>
          <a:xfrm>
            <a:off x="4476750" y="5381625"/>
            <a:ext cx="3238500" cy="266700"/>
          </a:xfrm>
          <a:prstGeom prst="rect">
            <a:avLst/>
          </a:prstGeom>
          <a:noFill/>
          <a:ln w="0">
            <a:noFill/>
            <a:prstDash val="solid"/>
          </a:ln>
        </p:spPr>
        <p:txBody>
          <a:bodyPr wrap="square" lIns="0" tIns="0" rIns="0" bIns="0" anchor="t">
            <a:norm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Se compara; no se descifra.</a:t>
            </a:r>
          </a:p>
        </p:txBody>
      </p:sp>
    </p:spTree>
    <p:extLst>
      <p:ext uri="{BB962C8B-B14F-4D97-AF65-F5344CB8AC3E}">
        <p14:creationId xmlns:p14="http://schemas.microsoft.com/office/powerpoint/2010/main" val="928274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D67F82D3-370B-40F1-88BC-2F1D49852510}"/>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6">
            <a:extLst>
              <a:ext uri="{FF2B5EF4-FFF2-40B4-BE49-F238E27FC236}">
                <a16:creationId xmlns:a16="http://schemas.microsoft.com/office/drawing/2014/main" id="{6FCD9CF4-FA87-4257-8B26-EA7C36EF6FBF}"/>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El login decide entre éxito, rechazo, bloqueo o 2FA</a:t>
            </a:r>
          </a:p>
        </p:txBody>
      </p:sp>
      <p:cxnSp>
        <p:nvCxnSpPr>
          <p:cNvPr id="28" name="Conector recto de flecha 27"/>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D4D59030-5CD8-40F4-AFC9-3D86908CC045}"/>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075EA6AB-E037-4BE9-A7CC-FD52DF2E902F}"/>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16</a:t>
            </a:r>
          </a:p>
        </p:txBody>
      </p:sp>
      <p:cxnSp>
        <p:nvCxnSpPr>
          <p:cNvPr id="31" name="Conector recto de flecha 30"/>
          <p:cNvCxnSpPr/>
          <p:nvPr/>
        </p:nvCxnSpPr>
        <p:spPr>
          <a:xfrm>
            <a:off x="2575560" y="3381375"/>
            <a:ext cx="228600" cy="0"/>
          </a:xfrm>
          <a:prstGeom prst="straightConnector1">
            <a:avLst/>
          </a:prstGeom>
          <a:ln w="28575">
            <a:solidFill>
              <a:srgbClr val="3D8DFF"/>
            </a:solidFill>
            <a:prstDash val="solid"/>
          </a:ln>
        </p:spPr>
      </p:cxnSp>
      <p:cxnSp>
        <p:nvCxnSpPr>
          <p:cNvPr id="32" name="Conector recto de flecha 31"/>
          <p:cNvCxnSpPr/>
          <p:nvPr/>
        </p:nvCxnSpPr>
        <p:spPr>
          <a:xfrm>
            <a:off x="4846320" y="3381375"/>
            <a:ext cx="228600" cy="0"/>
          </a:xfrm>
          <a:prstGeom prst="straightConnector1">
            <a:avLst/>
          </a:prstGeom>
          <a:ln w="28575">
            <a:solidFill>
              <a:srgbClr val="3D8DFF"/>
            </a:solidFill>
            <a:prstDash val="solid"/>
          </a:ln>
        </p:spPr>
      </p:cxnSp>
      <p:cxnSp>
        <p:nvCxnSpPr>
          <p:cNvPr id="33" name="Conector recto de flecha 32"/>
          <p:cNvCxnSpPr/>
          <p:nvPr/>
        </p:nvCxnSpPr>
        <p:spPr>
          <a:xfrm>
            <a:off x="7117080" y="3381375"/>
            <a:ext cx="228600" cy="0"/>
          </a:xfrm>
          <a:prstGeom prst="straightConnector1">
            <a:avLst/>
          </a:prstGeom>
          <a:ln w="28575">
            <a:solidFill>
              <a:srgbClr val="3D8DFF"/>
            </a:solidFill>
            <a:prstDash val="solid"/>
          </a:ln>
        </p:spPr>
      </p:cxnSp>
      <p:cxnSp>
        <p:nvCxnSpPr>
          <p:cNvPr id="34" name="Conector recto de flecha 33"/>
          <p:cNvCxnSpPr/>
          <p:nvPr/>
        </p:nvCxnSpPr>
        <p:spPr>
          <a:xfrm>
            <a:off x="9387840" y="3381375"/>
            <a:ext cx="228600" cy="0"/>
          </a:xfrm>
          <a:prstGeom prst="straightConnector1">
            <a:avLst/>
          </a:prstGeom>
          <a:ln w="28575">
            <a:solidFill>
              <a:srgbClr val="3D8DFF"/>
            </a:solidFill>
            <a:prstDash val="solid"/>
          </a:ln>
        </p:spPr>
      </p:cxnSp>
      <p:sp>
        <p:nvSpPr>
          <p:cNvPr id="10" name="Rectángulo: esquinas redondeadas 9">
            <a:extLst>
              <a:ext uri="{FF2B5EF4-FFF2-40B4-BE49-F238E27FC236}">
                <a16:creationId xmlns:a16="http://schemas.microsoft.com/office/drawing/2014/main" id="{1178CBEE-A59D-4C46-AB52-F5F1D18D4932}"/>
              </a:ext>
            </a:extLst>
          </p:cNvPr>
          <p:cNvSpPr>
            <a:spLocks noGrp="1"/>
          </p:cNvSpPr>
          <p:nvPr/>
        </p:nvSpPr>
        <p:spPr>
          <a:xfrm>
            <a:off x="53340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1" name="Rectángulo 10">
            <a:extLst>
              <a:ext uri="{FF2B5EF4-FFF2-40B4-BE49-F238E27FC236}">
                <a16:creationId xmlns:a16="http://schemas.microsoft.com/office/drawing/2014/main" id="{C24B22B9-3531-4779-98BE-7E6856CA9EA7}"/>
              </a:ext>
            </a:extLst>
          </p:cNvPr>
          <p:cNvSpPr>
            <a:spLocks noGrp="1"/>
          </p:cNvSpPr>
          <p:nvPr/>
        </p:nvSpPr>
        <p:spPr>
          <a:xfrm>
            <a:off x="66675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1</a:t>
            </a:r>
          </a:p>
        </p:txBody>
      </p:sp>
      <p:sp>
        <p:nvSpPr>
          <p:cNvPr id="12" name="Rectángulo 11">
            <a:extLst>
              <a:ext uri="{FF2B5EF4-FFF2-40B4-BE49-F238E27FC236}">
                <a16:creationId xmlns:a16="http://schemas.microsoft.com/office/drawing/2014/main" id="{16B6B026-1071-40BF-AF6E-7468837529BC}"/>
              </a:ext>
            </a:extLst>
          </p:cNvPr>
          <p:cNvSpPr>
            <a:spLocks noGrp="1"/>
          </p:cNvSpPr>
          <p:nvPr/>
        </p:nvSpPr>
        <p:spPr>
          <a:xfrm>
            <a:off x="66675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Buscar cuenta</a:t>
            </a:r>
          </a:p>
        </p:txBody>
      </p:sp>
      <p:sp>
        <p:nvSpPr>
          <p:cNvPr id="13" name="Rectángulo: esquinas redondeadas 12">
            <a:extLst>
              <a:ext uri="{FF2B5EF4-FFF2-40B4-BE49-F238E27FC236}">
                <a16:creationId xmlns:a16="http://schemas.microsoft.com/office/drawing/2014/main" id="{3D76F6C9-17D4-42EA-A0DE-7C33E2FBA04D}"/>
              </a:ext>
            </a:extLst>
          </p:cNvPr>
          <p:cNvSpPr>
            <a:spLocks noGrp="1"/>
          </p:cNvSpPr>
          <p:nvPr/>
        </p:nvSpPr>
        <p:spPr>
          <a:xfrm>
            <a:off x="280416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4" name="Rectángulo 13">
            <a:extLst>
              <a:ext uri="{FF2B5EF4-FFF2-40B4-BE49-F238E27FC236}">
                <a16:creationId xmlns:a16="http://schemas.microsoft.com/office/drawing/2014/main" id="{19BF66A9-3575-413C-B780-D42EB5AA54A0}"/>
              </a:ext>
            </a:extLst>
          </p:cNvPr>
          <p:cNvSpPr>
            <a:spLocks noGrp="1"/>
          </p:cNvSpPr>
          <p:nvPr/>
        </p:nvSpPr>
        <p:spPr>
          <a:xfrm>
            <a:off x="293751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2</a:t>
            </a:r>
          </a:p>
        </p:txBody>
      </p:sp>
      <p:sp>
        <p:nvSpPr>
          <p:cNvPr id="15" name="Rectángulo 14">
            <a:extLst>
              <a:ext uri="{FF2B5EF4-FFF2-40B4-BE49-F238E27FC236}">
                <a16:creationId xmlns:a16="http://schemas.microsoft.com/office/drawing/2014/main" id="{9922BEC3-71C1-482E-86F6-B5751A780E57}"/>
              </a:ext>
            </a:extLst>
          </p:cNvPr>
          <p:cNvSpPr>
            <a:spLocks noGrp="1"/>
          </p:cNvSpPr>
          <p:nvPr/>
        </p:nvSpPr>
        <p:spPr>
          <a:xfrm>
            <a:off x="293751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Validar contraseña</a:t>
            </a:r>
          </a:p>
        </p:txBody>
      </p:sp>
      <p:sp>
        <p:nvSpPr>
          <p:cNvPr id="16" name="Rectángulo: esquinas redondeadas 15">
            <a:extLst>
              <a:ext uri="{FF2B5EF4-FFF2-40B4-BE49-F238E27FC236}">
                <a16:creationId xmlns:a16="http://schemas.microsoft.com/office/drawing/2014/main" id="{8BB9EEDC-96BF-4951-B5FD-C22BF439763B}"/>
              </a:ext>
            </a:extLst>
          </p:cNvPr>
          <p:cNvSpPr>
            <a:spLocks noGrp="1"/>
          </p:cNvSpPr>
          <p:nvPr/>
        </p:nvSpPr>
        <p:spPr>
          <a:xfrm>
            <a:off x="507492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7" name="Rectángulo 16">
            <a:extLst>
              <a:ext uri="{FF2B5EF4-FFF2-40B4-BE49-F238E27FC236}">
                <a16:creationId xmlns:a16="http://schemas.microsoft.com/office/drawing/2014/main" id="{3DF69DB6-66F2-4EC3-85CC-23356CC81CC0}"/>
              </a:ext>
            </a:extLst>
          </p:cNvPr>
          <p:cNvSpPr>
            <a:spLocks noGrp="1"/>
          </p:cNvSpPr>
          <p:nvPr/>
        </p:nvSpPr>
        <p:spPr>
          <a:xfrm>
            <a:off x="520827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3</a:t>
            </a:r>
          </a:p>
        </p:txBody>
      </p:sp>
      <p:sp>
        <p:nvSpPr>
          <p:cNvPr id="18" name="Rectángulo 17">
            <a:extLst>
              <a:ext uri="{FF2B5EF4-FFF2-40B4-BE49-F238E27FC236}">
                <a16:creationId xmlns:a16="http://schemas.microsoft.com/office/drawing/2014/main" id="{2927CE9B-20EE-4A4C-841F-825B4F6F8769}"/>
              </a:ext>
            </a:extLst>
          </p:cNvPr>
          <p:cNvSpPr>
            <a:spLocks noGrp="1"/>
          </p:cNvSpPr>
          <p:nvPr/>
        </p:nvSpPr>
        <p:spPr>
          <a:xfrm>
            <a:off x="520827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Comprobar bloqueo</a:t>
            </a:r>
          </a:p>
        </p:txBody>
      </p:sp>
      <p:sp>
        <p:nvSpPr>
          <p:cNvPr id="19" name="Rectángulo: esquinas redondeadas 18">
            <a:extLst>
              <a:ext uri="{FF2B5EF4-FFF2-40B4-BE49-F238E27FC236}">
                <a16:creationId xmlns:a16="http://schemas.microsoft.com/office/drawing/2014/main" id="{EC0AD49D-FD8C-4E18-B45B-795EF5417488}"/>
              </a:ext>
            </a:extLst>
          </p:cNvPr>
          <p:cNvSpPr>
            <a:spLocks noGrp="1"/>
          </p:cNvSpPr>
          <p:nvPr/>
        </p:nvSpPr>
        <p:spPr>
          <a:xfrm>
            <a:off x="734568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20" name="Rectángulo 19">
            <a:extLst>
              <a:ext uri="{FF2B5EF4-FFF2-40B4-BE49-F238E27FC236}">
                <a16:creationId xmlns:a16="http://schemas.microsoft.com/office/drawing/2014/main" id="{39F79839-E26E-4A98-82C0-C20F6ED66196}"/>
              </a:ext>
            </a:extLst>
          </p:cNvPr>
          <p:cNvSpPr>
            <a:spLocks noGrp="1"/>
          </p:cNvSpPr>
          <p:nvPr/>
        </p:nvSpPr>
        <p:spPr>
          <a:xfrm>
            <a:off x="747903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4</a:t>
            </a:r>
          </a:p>
        </p:txBody>
      </p:sp>
      <p:sp>
        <p:nvSpPr>
          <p:cNvPr id="21" name="Rectángulo 20">
            <a:extLst>
              <a:ext uri="{FF2B5EF4-FFF2-40B4-BE49-F238E27FC236}">
                <a16:creationId xmlns:a16="http://schemas.microsoft.com/office/drawing/2014/main" id="{7761BE1C-4168-405E-9727-2D3A276D1E89}"/>
              </a:ext>
            </a:extLst>
          </p:cNvPr>
          <p:cNvSpPr>
            <a:spLocks noGrp="1"/>
          </p:cNvSpPr>
          <p:nvPr/>
        </p:nvSpPr>
        <p:spPr>
          <a:xfrm>
            <a:off x="747903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Comprobar 2FA</a:t>
            </a:r>
          </a:p>
        </p:txBody>
      </p:sp>
      <p:sp>
        <p:nvSpPr>
          <p:cNvPr id="22" name="Rectángulo: esquinas redondeadas 21">
            <a:extLst>
              <a:ext uri="{FF2B5EF4-FFF2-40B4-BE49-F238E27FC236}">
                <a16:creationId xmlns:a16="http://schemas.microsoft.com/office/drawing/2014/main" id="{215F64A2-8C9B-4D7B-A3B8-ED2CF333BB92}"/>
              </a:ext>
            </a:extLst>
          </p:cNvPr>
          <p:cNvSpPr>
            <a:spLocks noGrp="1"/>
          </p:cNvSpPr>
          <p:nvPr/>
        </p:nvSpPr>
        <p:spPr>
          <a:xfrm>
            <a:off x="9616440" y="2724150"/>
            <a:ext cx="2042160" cy="1314450"/>
          </a:xfrm>
          <a:prstGeom prst="roundRect">
            <a:avLst>
              <a:gd name="adj" fmla="val 8696"/>
            </a:avLst>
          </a:prstGeom>
          <a:solidFill>
            <a:srgbClr val="DCEEFF"/>
          </a:solidFill>
          <a:ln w="9525">
            <a:solidFill>
              <a:srgbClr val="B8BCC4"/>
            </a:solidFill>
            <a:prstDash val="solid"/>
          </a:ln>
        </p:spPr>
        <p:txBody>
          <a:bodyPr/>
          <a:lstStyle/>
          <a:p>
            <a:endParaRPr lang="es-ES"/>
          </a:p>
        </p:txBody>
      </p:sp>
      <p:sp>
        <p:nvSpPr>
          <p:cNvPr id="23" name="Rectángulo 22">
            <a:extLst>
              <a:ext uri="{FF2B5EF4-FFF2-40B4-BE49-F238E27FC236}">
                <a16:creationId xmlns:a16="http://schemas.microsoft.com/office/drawing/2014/main" id="{36294B83-E16B-4933-9814-7A98FED65D78}"/>
              </a:ext>
            </a:extLst>
          </p:cNvPr>
          <p:cNvSpPr>
            <a:spLocks noGrp="1"/>
          </p:cNvSpPr>
          <p:nvPr/>
        </p:nvSpPr>
        <p:spPr>
          <a:xfrm>
            <a:off x="974979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5</a:t>
            </a:r>
          </a:p>
        </p:txBody>
      </p:sp>
      <p:sp>
        <p:nvSpPr>
          <p:cNvPr id="24" name="Rectángulo 23">
            <a:extLst>
              <a:ext uri="{FF2B5EF4-FFF2-40B4-BE49-F238E27FC236}">
                <a16:creationId xmlns:a16="http://schemas.microsoft.com/office/drawing/2014/main" id="{F5623D11-2E33-4437-B0AE-AC77828E6581}"/>
              </a:ext>
            </a:extLst>
          </p:cNvPr>
          <p:cNvSpPr>
            <a:spLocks noGrp="1"/>
          </p:cNvSpPr>
          <p:nvPr/>
        </p:nvSpPr>
        <p:spPr>
          <a:xfrm>
            <a:off x="974979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Crear cookie</a:t>
            </a:r>
          </a:p>
        </p:txBody>
      </p:sp>
      <p:sp>
        <p:nvSpPr>
          <p:cNvPr id="25" name="Rectángulo 24">
            <a:extLst>
              <a:ext uri="{FF2B5EF4-FFF2-40B4-BE49-F238E27FC236}">
                <a16:creationId xmlns:a16="http://schemas.microsoft.com/office/drawing/2014/main" id="{9D84F6D6-5C6B-4E5C-AA09-ADD74B8D3AD0}"/>
              </a:ext>
            </a:extLst>
          </p:cNvPr>
          <p:cNvSpPr>
            <a:spLocks noGrp="1"/>
          </p:cNvSpPr>
          <p:nvPr/>
        </p:nvSpPr>
        <p:spPr>
          <a:xfrm>
            <a:off x="1257300" y="4552950"/>
            <a:ext cx="9677400" cy="514350"/>
          </a:xfrm>
          <a:prstGeom prst="rect">
            <a:avLst/>
          </a:prstGeom>
          <a:noFill/>
          <a:ln w="0">
            <a:noFill/>
            <a:prstDash val="solid"/>
          </a:ln>
        </p:spPr>
        <p:txBody>
          <a:bodyPr wrap="square" lIns="0" tIns="0" rIns="0" bIns="0" anchor="t">
            <a:normAutofit/>
          </a:bodyPr>
          <a:lstStyle/>
          <a:p>
            <a:pPr algn="ctr">
              <a:defRPr sz="1725" b="1">
                <a:solidFill>
                  <a:srgbClr val="000000"/>
                </a:solidFill>
                <a:latin typeface="Arial"/>
                <a:ea typeface="Arial"/>
                <a:cs typeface="Arial"/>
              </a:defRPr>
            </a:pPr>
            <a:r>
              <a:rPr sz="1725" b="1">
                <a:solidFill>
                  <a:srgbClr val="000000"/>
                </a:solidFill>
                <a:latin typeface="Arial"/>
                <a:ea typeface="Arial"/>
                <a:cs typeface="Arial"/>
              </a:rPr>
              <a:t>El resultado puede ser Succeeded, IsLockedOut, RequiresTwoFactor o Failed.</a:t>
            </a:r>
          </a:p>
        </p:txBody>
      </p:sp>
    </p:spTree>
    <p:extLst>
      <p:ext uri="{BB962C8B-B14F-4D97-AF65-F5344CB8AC3E}">
        <p14:creationId xmlns:p14="http://schemas.microsoft.com/office/powerpoint/2010/main" val="1837660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0B2823A7-7A24-4AE4-A60A-830990A6ADB3}"/>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7">
            <a:extLst>
              <a:ext uri="{FF2B5EF4-FFF2-40B4-BE49-F238E27FC236}">
                <a16:creationId xmlns:a16="http://schemas.microsoft.com/office/drawing/2014/main" id="{09FCC9D2-C3E1-4680-A7B6-0763354B5DBE}"/>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SignInManager controla el login</a:t>
            </a:r>
          </a:p>
        </p:txBody>
      </p:sp>
      <p:cxnSp>
        <p:nvCxnSpPr>
          <p:cNvPr id="11" name="Conector recto de flecha 10"/>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066DCB0B-3B5C-47ED-9D27-62519FF6A96C}"/>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04707A09-1A7C-4648-9C0F-23A37CE3B277}"/>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17</a:t>
            </a:r>
          </a:p>
        </p:txBody>
      </p:sp>
      <p:sp>
        <p:nvSpPr>
          <p:cNvPr id="6" name="Rectángulo: esquinas redondeadas 5">
            <a:extLst>
              <a:ext uri="{FF2B5EF4-FFF2-40B4-BE49-F238E27FC236}">
                <a16:creationId xmlns:a16="http://schemas.microsoft.com/office/drawing/2014/main" id="{F199B108-382B-439A-8CD3-BB74E7D0B9A4}"/>
              </a:ext>
            </a:extLst>
          </p:cNvPr>
          <p:cNvSpPr>
            <a:spLocks noGrp="1"/>
          </p:cNvSpPr>
          <p:nvPr/>
        </p:nvSpPr>
        <p:spPr>
          <a:xfrm>
            <a:off x="400050" y="1809750"/>
            <a:ext cx="11391900" cy="4191000"/>
          </a:xfrm>
          <a:prstGeom prst="roundRect">
            <a:avLst>
              <a:gd name="adj" fmla="val 2727"/>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F86373E7-EB2C-4FD6-BDAF-02D3B8FF494C}"/>
              </a:ext>
            </a:extLst>
          </p:cNvPr>
          <p:cNvSpPr>
            <a:spLocks noGrp="1"/>
          </p:cNvSpPr>
          <p:nvPr/>
        </p:nvSpPr>
        <p:spPr>
          <a:xfrm>
            <a:off x="628650" y="1981200"/>
            <a:ext cx="10934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LOGIN · Login.cshtml.cs</a:t>
            </a:r>
          </a:p>
        </p:txBody>
      </p:sp>
      <p:sp>
        <p:nvSpPr>
          <p:cNvPr id="8" name="Rectángulo 7">
            <a:extLst>
              <a:ext uri="{FF2B5EF4-FFF2-40B4-BE49-F238E27FC236}">
                <a16:creationId xmlns:a16="http://schemas.microsoft.com/office/drawing/2014/main" id="{09EA30A0-12E7-4ED4-97EE-F9E005C74273}"/>
              </a:ext>
            </a:extLst>
          </p:cNvPr>
          <p:cNvSpPr>
            <a:spLocks noGrp="1"/>
          </p:cNvSpPr>
          <p:nvPr/>
        </p:nvSpPr>
        <p:spPr>
          <a:xfrm>
            <a:off x="628650" y="2362200"/>
            <a:ext cx="10934700" cy="3448050"/>
          </a:xfrm>
          <a:prstGeom prst="rect">
            <a:avLst/>
          </a:prstGeom>
          <a:noFill/>
          <a:ln w="0">
            <a:noFill/>
            <a:prstDash val="solid"/>
          </a:ln>
        </p:spPr>
        <p:txBody>
          <a:bodyPr wrap="square" lIns="0" tIns="0" rIns="0" bIns="0" anchor="t">
            <a:normAutofit/>
          </a:bodyPr>
          <a:lstStyle/>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var resultado = await _signInManager.PasswordSignInAsync(</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        Input.Email,</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        Input.Password,</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        Input.RememberMe,</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        lockoutOnFailure: true);</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if (resultado.Succeeded)</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    return LocalRedirect(returnUrl);</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if (resultado.RequiresTwoFactor)</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    return RedirectToPage("./LoginWith2fa");</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if (resultado.IsLockedOut)</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    return RedirectToPage("./Lockout");</a:t>
            </a:r>
          </a:p>
          <a:p>
            <a:pPr algn="l">
              <a:defRPr sz="1275" b="0">
                <a:solidFill>
                  <a:srgbClr val="14213D"/>
                </a:solidFill>
                <a:latin typeface="Consolas"/>
                <a:ea typeface="Consolas"/>
                <a:cs typeface="Consolas"/>
              </a:defRPr>
            </a:pPr>
            <a:r>
              <a:rPr sz="1275" b="0">
                <a:solidFill>
                  <a:srgbClr val="14213D"/>
                </a:solidFill>
                <a:latin typeface="Consolas"/>
                <a:ea typeface="Consolas"/>
                <a:cs typeface="Consolas"/>
              </a:rPr>
              <a:t>ModelState.AddModelError(string.Empty, "Inicio de sesión incorrecto.");</a:t>
            </a:r>
          </a:p>
        </p:txBody>
      </p:sp>
    </p:spTree>
    <p:extLst>
      <p:ext uri="{BB962C8B-B14F-4D97-AF65-F5344CB8AC3E}">
        <p14:creationId xmlns:p14="http://schemas.microsoft.com/office/powerpoint/2010/main" val="873339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B8D9671-81D6-4D81-A829-213136D7B720}"/>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8">
            <a:extLst>
              <a:ext uri="{FF2B5EF4-FFF2-40B4-BE49-F238E27FC236}">
                <a16:creationId xmlns:a16="http://schemas.microsoft.com/office/drawing/2014/main" id="{AAC9CCB0-63D5-4761-9D2D-CBB407478252}"/>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La cookie mantiene la sesión entre peticiones</a:t>
            </a:r>
          </a:p>
        </p:txBody>
      </p:sp>
      <p:cxnSp>
        <p:nvCxnSpPr>
          <p:cNvPr id="18" name="Conector recto de flecha 17"/>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CE192C97-C1D8-4B26-8FC5-87C23A4CDD9B}"/>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016A8B60-9FFE-42FC-8A01-FEF553BB65CE}"/>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18</a:t>
            </a:r>
          </a:p>
        </p:txBody>
      </p:sp>
      <p:sp>
        <p:nvSpPr>
          <p:cNvPr id="6" name="Rectángulo 5">
            <a:extLst>
              <a:ext uri="{FF2B5EF4-FFF2-40B4-BE49-F238E27FC236}">
                <a16:creationId xmlns:a16="http://schemas.microsoft.com/office/drawing/2014/main" id="{E363CA3C-46EA-46AC-9ECC-66071EE38CA2}"/>
              </a:ext>
            </a:extLst>
          </p:cNvPr>
          <p:cNvSpPr>
            <a:spLocks noGrp="1"/>
          </p:cNvSpPr>
          <p:nvPr/>
        </p:nvSpPr>
        <p:spPr>
          <a:xfrm>
            <a:off x="400050" y="21526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1 · SERVIDOR</a:t>
            </a:r>
          </a:p>
        </p:txBody>
      </p:sp>
      <p:sp>
        <p:nvSpPr>
          <p:cNvPr id="7" name="Rectángulo 6">
            <a:extLst>
              <a:ext uri="{FF2B5EF4-FFF2-40B4-BE49-F238E27FC236}">
                <a16:creationId xmlns:a16="http://schemas.microsoft.com/office/drawing/2014/main" id="{B5D5ACAF-B10E-4B6E-890A-665C7E6F8E82}"/>
              </a:ext>
            </a:extLst>
          </p:cNvPr>
          <p:cNvSpPr>
            <a:spLocks noGrp="1"/>
          </p:cNvSpPr>
          <p:nvPr/>
        </p:nvSpPr>
        <p:spPr>
          <a:xfrm>
            <a:off x="400050" y="25527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Emite</a:t>
            </a:r>
          </a:p>
        </p:txBody>
      </p:sp>
      <p:sp>
        <p:nvSpPr>
          <p:cNvPr id="8" name="Rectángulo 7">
            <a:extLst>
              <a:ext uri="{FF2B5EF4-FFF2-40B4-BE49-F238E27FC236}">
                <a16:creationId xmlns:a16="http://schemas.microsoft.com/office/drawing/2014/main" id="{B46ECFD5-46D7-483F-BDEA-A7E89F2E61EE}"/>
              </a:ext>
            </a:extLst>
          </p:cNvPr>
          <p:cNvSpPr>
            <a:spLocks noGrp="1"/>
          </p:cNvSpPr>
          <p:nvPr/>
        </p:nvSpPr>
        <p:spPr>
          <a:xfrm>
            <a:off x="400050" y="3257550"/>
            <a:ext cx="3568700" cy="20383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Tras el login correcto, Identity crea una cookie de autenticación protegida.</a:t>
            </a:r>
          </a:p>
        </p:txBody>
      </p:sp>
      <p:sp>
        <p:nvSpPr>
          <p:cNvPr id="9" name="Rectángulo 8">
            <a:extLst>
              <a:ext uri="{FF2B5EF4-FFF2-40B4-BE49-F238E27FC236}">
                <a16:creationId xmlns:a16="http://schemas.microsoft.com/office/drawing/2014/main" id="{BBC763AC-AB0D-48FD-9F24-DDDF7F2F30FD}"/>
              </a:ext>
            </a:extLst>
          </p:cNvPr>
          <p:cNvSpPr>
            <a:spLocks noGrp="1"/>
          </p:cNvSpPr>
          <p:nvPr/>
        </p:nvSpPr>
        <p:spPr>
          <a:xfrm>
            <a:off x="4311650" y="21526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2 · NAVEGADOR</a:t>
            </a:r>
          </a:p>
        </p:txBody>
      </p:sp>
      <p:sp>
        <p:nvSpPr>
          <p:cNvPr id="10" name="Rectángulo 9">
            <a:extLst>
              <a:ext uri="{FF2B5EF4-FFF2-40B4-BE49-F238E27FC236}">
                <a16:creationId xmlns:a16="http://schemas.microsoft.com/office/drawing/2014/main" id="{4C0F4EC2-731B-44E7-989D-302C14E14683}"/>
              </a:ext>
            </a:extLst>
          </p:cNvPr>
          <p:cNvSpPr>
            <a:spLocks noGrp="1"/>
          </p:cNvSpPr>
          <p:nvPr/>
        </p:nvSpPr>
        <p:spPr>
          <a:xfrm>
            <a:off x="4311650" y="25527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Conserva y envía</a:t>
            </a:r>
          </a:p>
        </p:txBody>
      </p:sp>
      <p:sp>
        <p:nvSpPr>
          <p:cNvPr id="11" name="Rectángulo 10">
            <a:extLst>
              <a:ext uri="{FF2B5EF4-FFF2-40B4-BE49-F238E27FC236}">
                <a16:creationId xmlns:a16="http://schemas.microsoft.com/office/drawing/2014/main" id="{7F19F894-3B92-4F62-91F6-14332C3F61AB}"/>
              </a:ext>
            </a:extLst>
          </p:cNvPr>
          <p:cNvSpPr>
            <a:spLocks noGrp="1"/>
          </p:cNvSpPr>
          <p:nvPr/>
        </p:nvSpPr>
        <p:spPr>
          <a:xfrm>
            <a:off x="4311650" y="3257550"/>
            <a:ext cx="3568700" cy="20383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La cookie viaja automáticamente en peticiones posteriores al sitio.</a:t>
            </a:r>
          </a:p>
        </p:txBody>
      </p:sp>
      <p:sp>
        <p:nvSpPr>
          <p:cNvPr id="12" name="Rectángulo 11">
            <a:extLst>
              <a:ext uri="{FF2B5EF4-FFF2-40B4-BE49-F238E27FC236}">
                <a16:creationId xmlns:a16="http://schemas.microsoft.com/office/drawing/2014/main" id="{C05962E4-AC14-4526-BFCB-3CE161DC2560}"/>
              </a:ext>
            </a:extLst>
          </p:cNvPr>
          <p:cNvSpPr>
            <a:spLocks noGrp="1"/>
          </p:cNvSpPr>
          <p:nvPr/>
        </p:nvSpPr>
        <p:spPr>
          <a:xfrm>
            <a:off x="8223250" y="21526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3 · MIDDLEWARE</a:t>
            </a:r>
          </a:p>
        </p:txBody>
      </p:sp>
      <p:sp>
        <p:nvSpPr>
          <p:cNvPr id="13" name="Rectángulo 12">
            <a:extLst>
              <a:ext uri="{FF2B5EF4-FFF2-40B4-BE49-F238E27FC236}">
                <a16:creationId xmlns:a16="http://schemas.microsoft.com/office/drawing/2014/main" id="{145F2C64-065B-45D9-A2D5-621AF1BE65E8}"/>
              </a:ext>
            </a:extLst>
          </p:cNvPr>
          <p:cNvSpPr>
            <a:spLocks noGrp="1"/>
          </p:cNvSpPr>
          <p:nvPr/>
        </p:nvSpPr>
        <p:spPr>
          <a:xfrm>
            <a:off x="8223250" y="25527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Valida</a:t>
            </a:r>
          </a:p>
        </p:txBody>
      </p:sp>
      <p:sp>
        <p:nvSpPr>
          <p:cNvPr id="14" name="Rectángulo 13">
            <a:extLst>
              <a:ext uri="{FF2B5EF4-FFF2-40B4-BE49-F238E27FC236}">
                <a16:creationId xmlns:a16="http://schemas.microsoft.com/office/drawing/2014/main" id="{10B94B2F-DCD0-47C8-8CFF-CB9154F2D718}"/>
              </a:ext>
            </a:extLst>
          </p:cNvPr>
          <p:cNvSpPr>
            <a:spLocks noGrp="1"/>
          </p:cNvSpPr>
          <p:nvPr/>
        </p:nvSpPr>
        <p:spPr>
          <a:xfrm>
            <a:off x="8223250" y="3257550"/>
            <a:ext cx="3568700" cy="20383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Reconstruye User y sus claims; después se evalúa la autorización.</a:t>
            </a:r>
          </a:p>
        </p:txBody>
      </p:sp>
      <p:sp>
        <p:nvSpPr>
          <p:cNvPr id="15" name="Rectángulo 14">
            <a:extLst>
              <a:ext uri="{FF2B5EF4-FFF2-40B4-BE49-F238E27FC236}">
                <a16:creationId xmlns:a16="http://schemas.microsoft.com/office/drawing/2014/main" id="{E3C0E947-93C6-4ED1-80C4-82B30F8471CE}"/>
              </a:ext>
            </a:extLst>
          </p:cNvPr>
          <p:cNvSpPr>
            <a:spLocks noGrp="1"/>
          </p:cNvSpPr>
          <p:nvPr/>
        </p:nvSpPr>
        <p:spPr>
          <a:xfrm>
            <a:off x="781050" y="5467350"/>
            <a:ext cx="10629900" cy="419100"/>
          </a:xfrm>
          <a:prstGeom prst="rect">
            <a:avLst/>
          </a:prstGeom>
          <a:noFill/>
          <a:ln w="0">
            <a:noFill/>
            <a:prstDash val="solid"/>
          </a:ln>
        </p:spPr>
        <p:txBody>
          <a:bodyPr wrap="square" lIns="0" tIns="0" rIns="0" bIns="0" anchor="t">
            <a:normAutofit/>
          </a:bodyPr>
          <a:lstStyle/>
          <a:p>
            <a:pPr algn="ctr">
              <a:defRPr sz="1425" b="0">
                <a:solidFill>
                  <a:srgbClr val="565E6B"/>
                </a:solidFill>
                <a:latin typeface="Arial"/>
                <a:ea typeface="Arial"/>
                <a:cs typeface="Arial"/>
              </a:defRPr>
            </a:pPr>
            <a:r>
              <a:rPr sz="1425" b="0">
                <a:solidFill>
                  <a:srgbClr val="565E6B"/>
                </a:solidFill>
                <a:latin typeface="Arial"/>
                <a:ea typeface="Arial"/>
                <a:cs typeface="Arial"/>
              </a:rPr>
              <a:t>Para aplicaciones web en navegador, Microsoft recomienda cookies frente a exponer tokens a JavaScript.</a:t>
            </a:r>
          </a:p>
        </p:txBody>
      </p:sp>
    </p:spTree>
    <p:extLst>
      <p:ext uri="{BB962C8B-B14F-4D97-AF65-F5344CB8AC3E}">
        <p14:creationId xmlns:p14="http://schemas.microsoft.com/office/powerpoint/2010/main" val="932414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28CBF95-8565-4F01-9C9E-F6E70DF98574}"/>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19">
            <a:extLst>
              <a:ext uri="{FF2B5EF4-FFF2-40B4-BE49-F238E27FC236}">
                <a16:creationId xmlns:a16="http://schemas.microsoft.com/office/drawing/2014/main" id="{CE8A0419-EEFF-4208-938A-2084C31F13CD}"/>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Cerrar sesión elimina la cookie de autenticación</a:t>
            </a:r>
          </a:p>
        </p:txBody>
      </p:sp>
      <p:cxnSp>
        <p:nvCxnSpPr>
          <p:cNvPr id="14" name="Conector recto de flecha 13"/>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8A148023-09B8-4C1B-B89E-BF7018005D9B}"/>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8F038C37-3F73-4A61-9691-5E971CBCA5D3}"/>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19</a:t>
            </a:r>
          </a:p>
        </p:txBody>
      </p:sp>
      <p:sp>
        <p:nvSpPr>
          <p:cNvPr id="6" name="Rectángulo: esquinas redondeadas 5">
            <a:extLst>
              <a:ext uri="{FF2B5EF4-FFF2-40B4-BE49-F238E27FC236}">
                <a16:creationId xmlns:a16="http://schemas.microsoft.com/office/drawing/2014/main" id="{C7B4309B-9A3C-4C95-ABC3-DA5ECE88A5D4}"/>
              </a:ext>
            </a:extLst>
          </p:cNvPr>
          <p:cNvSpPr>
            <a:spLocks noGrp="1"/>
          </p:cNvSpPr>
          <p:nvPr/>
        </p:nvSpPr>
        <p:spPr>
          <a:xfrm>
            <a:off x="400050" y="2095500"/>
            <a:ext cx="6667500" cy="3238500"/>
          </a:xfrm>
          <a:prstGeom prst="roundRect">
            <a:avLst>
              <a:gd name="adj" fmla="val 3529"/>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5ABB03E9-C586-4C4B-B572-1FEEB7B7CF20}"/>
              </a:ext>
            </a:extLst>
          </p:cNvPr>
          <p:cNvSpPr>
            <a:spLocks noGrp="1"/>
          </p:cNvSpPr>
          <p:nvPr/>
        </p:nvSpPr>
        <p:spPr>
          <a:xfrm>
            <a:off x="628650" y="2266950"/>
            <a:ext cx="62103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LOGOUT · Logout.cshtml.cs</a:t>
            </a:r>
          </a:p>
        </p:txBody>
      </p:sp>
      <p:sp>
        <p:nvSpPr>
          <p:cNvPr id="8" name="Rectángulo 7">
            <a:extLst>
              <a:ext uri="{FF2B5EF4-FFF2-40B4-BE49-F238E27FC236}">
                <a16:creationId xmlns:a16="http://schemas.microsoft.com/office/drawing/2014/main" id="{CE6B2FCB-6D3A-48C2-96D3-A26371E3D179}"/>
              </a:ext>
            </a:extLst>
          </p:cNvPr>
          <p:cNvSpPr>
            <a:spLocks noGrp="1"/>
          </p:cNvSpPr>
          <p:nvPr/>
        </p:nvSpPr>
        <p:spPr>
          <a:xfrm>
            <a:off x="628650" y="2647950"/>
            <a:ext cx="6210300" cy="2495550"/>
          </a:xfrm>
          <a:prstGeom prst="rect">
            <a:avLst/>
          </a:prstGeom>
          <a:noFill/>
          <a:ln w="0">
            <a:noFill/>
            <a:prstDash val="solid"/>
          </a:ln>
        </p:spPr>
        <p:txBody>
          <a:bodyPr wrap="square" lIns="0" tIns="0" rIns="0" bIns="0" anchor="t">
            <a:normAutofit/>
          </a:bodyPr>
          <a:lstStyle/>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public async Task&lt;IActionResult&gt; OnPostAsync(string? returnUrl = null)</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    await _signInManager.SignOutAsync();</a:t>
            </a:r>
          </a:p>
          <a:p>
            <a:endParaRPr sz="1500" b="0">
              <a:solidFill>
                <a:srgbClr val="14213D"/>
              </a:solidFill>
              <a:latin typeface="Consolas"/>
              <a:ea typeface="Consolas"/>
              <a:cs typeface="Consolas"/>
            </a:endParaRP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    if (returnUrl is not null)</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        return LocalRedirect(returnUrl);</a:t>
            </a:r>
          </a:p>
          <a:p>
            <a:endParaRPr sz="1500" b="0">
              <a:solidFill>
                <a:srgbClr val="14213D"/>
              </a:solidFill>
              <a:latin typeface="Consolas"/>
              <a:ea typeface="Consolas"/>
              <a:cs typeface="Consolas"/>
            </a:endParaRP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    return RedirectToPage("/Index");</a:t>
            </a:r>
          </a:p>
          <a:p>
            <a:pPr algn="l">
              <a:defRPr sz="1500" b="0">
                <a:solidFill>
                  <a:srgbClr val="14213D"/>
                </a:solidFill>
                <a:latin typeface="Consolas"/>
                <a:ea typeface="Consolas"/>
                <a:cs typeface="Consolas"/>
              </a:defRPr>
            </a:pPr>
            <a:r>
              <a:rPr sz="1500" b="0">
                <a:solidFill>
                  <a:srgbClr val="14213D"/>
                </a:solidFill>
                <a:latin typeface="Consolas"/>
                <a:ea typeface="Consolas"/>
                <a:cs typeface="Consolas"/>
              </a:rPr>
              <a:t>}</a:t>
            </a:r>
          </a:p>
        </p:txBody>
      </p:sp>
      <p:sp>
        <p:nvSpPr>
          <p:cNvPr id="9" name="Rectángulo: esquinas redondeadas 8">
            <a:extLst>
              <a:ext uri="{FF2B5EF4-FFF2-40B4-BE49-F238E27FC236}">
                <a16:creationId xmlns:a16="http://schemas.microsoft.com/office/drawing/2014/main" id="{2A2B3FE9-729F-4BE8-85ED-97C026C8F6B8}"/>
              </a:ext>
            </a:extLst>
          </p:cNvPr>
          <p:cNvSpPr>
            <a:spLocks noGrp="1"/>
          </p:cNvSpPr>
          <p:nvPr/>
        </p:nvSpPr>
        <p:spPr>
          <a:xfrm>
            <a:off x="7543800" y="2095500"/>
            <a:ext cx="4248150" cy="3238500"/>
          </a:xfrm>
          <a:prstGeom prst="roundRect">
            <a:avLst>
              <a:gd name="adj" fmla="val 3529"/>
            </a:avLst>
          </a:prstGeom>
          <a:solidFill>
            <a:srgbClr val="F6F7F8"/>
          </a:solidFill>
          <a:ln w="0">
            <a:noFill/>
            <a:prstDash val="solid"/>
          </a:ln>
        </p:spPr>
        <p:txBody>
          <a:bodyPr/>
          <a:lstStyle/>
          <a:p>
            <a:endParaRPr lang="es-ES"/>
          </a:p>
        </p:txBody>
      </p:sp>
      <p:sp>
        <p:nvSpPr>
          <p:cNvPr id="10" name="Rectángulo 9">
            <a:extLst>
              <a:ext uri="{FF2B5EF4-FFF2-40B4-BE49-F238E27FC236}">
                <a16:creationId xmlns:a16="http://schemas.microsoft.com/office/drawing/2014/main" id="{9744551F-D79A-4522-9E5E-1A3BC6193C15}"/>
              </a:ext>
            </a:extLst>
          </p:cNvPr>
          <p:cNvSpPr>
            <a:spLocks noGrp="1"/>
          </p:cNvSpPr>
          <p:nvPr/>
        </p:nvSpPr>
        <p:spPr>
          <a:xfrm>
            <a:off x="7867650" y="2457450"/>
            <a:ext cx="3600450" cy="400050"/>
          </a:xfrm>
          <a:prstGeom prst="rect">
            <a:avLst/>
          </a:prstGeom>
          <a:noFill/>
          <a:ln w="0">
            <a:noFill/>
            <a:prstDash val="solid"/>
          </a:ln>
        </p:spPr>
        <p:txBody>
          <a:bodyPr wrap="square" lIns="0" tIns="0" rIns="0" bIns="0" anchor="t">
            <a:normAutofit/>
          </a:bodyPr>
          <a:lstStyle/>
          <a:p>
            <a:pPr algn="l">
              <a:defRPr sz="1950" b="1">
                <a:solidFill>
                  <a:srgbClr val="000000"/>
                </a:solidFill>
                <a:latin typeface="Arial"/>
                <a:ea typeface="Arial"/>
                <a:cs typeface="Arial"/>
              </a:defRPr>
            </a:pPr>
            <a:r>
              <a:rPr sz="1950" b="1">
                <a:solidFill>
                  <a:srgbClr val="000000"/>
                </a:solidFill>
                <a:latin typeface="Arial"/>
                <a:ea typeface="Arial"/>
                <a:cs typeface="Arial"/>
              </a:rPr>
              <a:t>Regla práctica</a:t>
            </a:r>
          </a:p>
        </p:txBody>
      </p:sp>
      <p:sp>
        <p:nvSpPr>
          <p:cNvPr id="11" name="Rectángulo 10">
            <a:extLst>
              <a:ext uri="{FF2B5EF4-FFF2-40B4-BE49-F238E27FC236}">
                <a16:creationId xmlns:a16="http://schemas.microsoft.com/office/drawing/2014/main" id="{59390545-4F50-4E42-BAB0-58D2E5B963D8}"/>
              </a:ext>
            </a:extLst>
          </p:cNvPr>
          <p:cNvSpPr>
            <a:spLocks noGrp="1"/>
          </p:cNvSpPr>
          <p:nvPr/>
        </p:nvSpPr>
        <p:spPr>
          <a:xfrm>
            <a:off x="7867650" y="3105150"/>
            <a:ext cx="3600450" cy="1695450"/>
          </a:xfrm>
          <a:prstGeom prst="rect">
            <a:avLst/>
          </a:prstGeom>
          <a:noFill/>
          <a:ln w="0">
            <a:noFill/>
            <a:prstDash val="solid"/>
          </a:ln>
        </p:spPr>
        <p:txBody>
          <a:bodyPr wrap="square" lIns="0" tIns="0" rIns="0" bIns="0" anchor="t">
            <a:normAutofit/>
          </a:bodyPr>
          <a:lstStyle/>
          <a:p>
            <a:pPr algn="l">
              <a:defRPr sz="1575" b="0">
                <a:solidFill>
                  <a:srgbClr val="565E6B"/>
                </a:solidFill>
                <a:latin typeface="Arial"/>
                <a:ea typeface="Arial"/>
                <a:cs typeface="Arial"/>
              </a:defRPr>
            </a:pPr>
            <a:r>
              <a:rPr sz="1575" b="0">
                <a:solidFill>
                  <a:srgbClr val="565E6B"/>
                </a:solidFill>
                <a:latin typeface="Arial"/>
                <a:ea typeface="Arial"/>
                <a:cs typeface="Arial"/>
              </a:rPr>
              <a:t>• Usar un formulario POST</a:t>
            </a:r>
          </a:p>
          <a:p>
            <a:pPr algn="l">
              <a:defRPr sz="1575" b="0">
                <a:solidFill>
                  <a:srgbClr val="565E6B"/>
                </a:solidFill>
                <a:latin typeface="Arial"/>
                <a:ea typeface="Arial"/>
                <a:cs typeface="Arial"/>
              </a:defRPr>
            </a:pPr>
            <a:r>
              <a:rPr sz="1575" b="0">
                <a:solidFill>
                  <a:srgbClr val="565E6B"/>
                </a:solidFill>
                <a:latin typeface="Arial"/>
                <a:ea typeface="Arial"/>
                <a:cs typeface="Arial"/>
              </a:rPr>
              <a:t>• Mantener el token antiforgery</a:t>
            </a:r>
          </a:p>
          <a:p>
            <a:pPr algn="l">
              <a:defRPr sz="1575" b="0">
                <a:solidFill>
                  <a:srgbClr val="565E6B"/>
                </a:solidFill>
                <a:latin typeface="Arial"/>
                <a:ea typeface="Arial"/>
                <a:cs typeface="Arial"/>
              </a:defRPr>
            </a:pPr>
            <a:r>
              <a:rPr sz="1575" b="0">
                <a:solidFill>
                  <a:srgbClr val="565E6B"/>
                </a:solidFill>
                <a:latin typeface="Arial"/>
                <a:ea typeface="Arial"/>
                <a:cs typeface="Arial"/>
              </a:rPr>
              <a:t>• Redirigir a una URL local</a:t>
            </a:r>
          </a:p>
          <a:p>
            <a:pPr algn="l">
              <a:defRPr sz="1575" b="0">
                <a:solidFill>
                  <a:srgbClr val="565E6B"/>
                </a:solidFill>
                <a:latin typeface="Arial"/>
                <a:ea typeface="Arial"/>
                <a:cs typeface="Arial"/>
              </a:defRPr>
            </a:pPr>
            <a:r>
              <a:rPr sz="1575" b="0">
                <a:solidFill>
                  <a:srgbClr val="565E6B"/>
                </a:solidFill>
                <a:latin typeface="Arial"/>
                <a:ea typeface="Arial"/>
                <a:cs typeface="Arial"/>
              </a:rPr>
              <a:t>• No borrar datos de usuario</a:t>
            </a:r>
          </a:p>
        </p:txBody>
      </p:sp>
    </p:spTree>
    <p:extLst>
      <p:ext uri="{BB962C8B-B14F-4D97-AF65-F5344CB8AC3E}">
        <p14:creationId xmlns:p14="http://schemas.microsoft.com/office/powerpoint/2010/main" val="1180659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ED5ACC1-9D8A-40EF-A31D-26EC37402B5A}"/>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0">
            <a:extLst>
              <a:ext uri="{FF2B5EF4-FFF2-40B4-BE49-F238E27FC236}">
                <a16:creationId xmlns:a16="http://schemas.microsoft.com/office/drawing/2014/main" id="{74702189-06DD-4E13-B0F2-E01186CE6942}"/>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fontScale="91601"/>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[Authorize] protege páginas; [AllowAnonymous] abre excepciones</a:t>
            </a:r>
          </a:p>
        </p:txBody>
      </p:sp>
      <p:cxnSp>
        <p:nvCxnSpPr>
          <p:cNvPr id="15" name="Conector recto de flecha 14"/>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30DAD1FA-9990-4FFF-BAD4-2084068A95DA}"/>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3047EC35-3EA6-4C21-8324-44CE5A9F128B}"/>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20</a:t>
            </a:r>
          </a:p>
        </p:txBody>
      </p:sp>
      <p:sp>
        <p:nvSpPr>
          <p:cNvPr id="6" name="Rectángulo 5">
            <a:extLst>
              <a:ext uri="{FF2B5EF4-FFF2-40B4-BE49-F238E27FC236}">
                <a16:creationId xmlns:a16="http://schemas.microsoft.com/office/drawing/2014/main" id="{96984B4A-07E3-4CD6-84A2-DA7AA94872B6}"/>
              </a:ext>
            </a:extLst>
          </p:cNvPr>
          <p:cNvSpPr>
            <a:spLocks noGrp="1"/>
          </p:cNvSpPr>
          <p:nvPr/>
        </p:nvSpPr>
        <p:spPr>
          <a:xfrm>
            <a:off x="400050" y="2038350"/>
            <a:ext cx="5286375"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En el PageModel</a:t>
            </a:r>
          </a:p>
        </p:txBody>
      </p:sp>
      <p:sp>
        <p:nvSpPr>
          <p:cNvPr id="7" name="Rectángulo 6">
            <a:extLst>
              <a:ext uri="{FF2B5EF4-FFF2-40B4-BE49-F238E27FC236}">
                <a16:creationId xmlns:a16="http://schemas.microsoft.com/office/drawing/2014/main" id="{EB313E87-5D52-4DA6-84D3-2BDBE082A79B}"/>
              </a:ext>
            </a:extLst>
          </p:cNvPr>
          <p:cNvSpPr>
            <a:spLocks noGrp="1"/>
          </p:cNvSpPr>
          <p:nvPr/>
        </p:nvSpPr>
        <p:spPr>
          <a:xfrm>
            <a:off x="400050" y="2628900"/>
            <a:ext cx="5286375" cy="2552700"/>
          </a:xfrm>
          <a:prstGeom prst="rect">
            <a:avLst/>
          </a:prstGeom>
          <a:noFill/>
          <a:ln w="0">
            <a:noFill/>
            <a:prstDash val="solid"/>
          </a:ln>
        </p:spPr>
        <p:txBody>
          <a:bodyPr wrap="square" lIns="0" tIns="0" rIns="0" bIns="0" anchor="t">
            <a:normAutofit/>
          </a:bodyPr>
          <a:lstStyle/>
          <a:p>
            <a:pPr algn="l">
              <a:defRPr sz="1500" b="0">
                <a:solidFill>
                  <a:srgbClr val="565E6B"/>
                </a:solidFill>
                <a:latin typeface="Arial"/>
                <a:ea typeface="Arial"/>
                <a:cs typeface="Arial"/>
              </a:defRPr>
            </a:pPr>
            <a:r>
              <a:rPr sz="1500" b="0">
                <a:solidFill>
                  <a:srgbClr val="565E6B"/>
                </a:solidFill>
                <a:latin typeface="Arial"/>
                <a:ea typeface="Arial"/>
                <a:cs typeface="Arial"/>
              </a:rPr>
              <a:t>[Authorize]</a:t>
            </a:r>
          </a:p>
          <a:p>
            <a:pPr algn="l">
              <a:defRPr sz="1500" b="0">
                <a:solidFill>
                  <a:srgbClr val="565E6B"/>
                </a:solidFill>
                <a:latin typeface="Arial"/>
                <a:ea typeface="Arial"/>
                <a:cs typeface="Arial"/>
              </a:defRPr>
            </a:pPr>
            <a:r>
              <a:rPr sz="1500" b="0">
                <a:solidFill>
                  <a:srgbClr val="565E6B"/>
                </a:solidFill>
                <a:latin typeface="Arial"/>
                <a:ea typeface="Arial"/>
                <a:cs typeface="Arial"/>
              </a:rPr>
              <a:t>public class FavoritasModel : PageModel</a:t>
            </a:r>
          </a:p>
          <a:p>
            <a:pPr algn="l">
              <a:defRPr sz="1500" b="0">
                <a:solidFill>
                  <a:srgbClr val="565E6B"/>
                </a:solidFill>
                <a:latin typeface="Arial"/>
                <a:ea typeface="Arial"/>
                <a:cs typeface="Arial"/>
              </a:defRPr>
            </a:pPr>
            <a:r>
              <a:rPr sz="1500" b="0">
                <a:solidFill>
                  <a:srgbClr val="565E6B"/>
                </a:solidFill>
                <a:latin typeface="Arial"/>
                <a:ea typeface="Arial"/>
                <a:cs typeface="Arial"/>
              </a:rPr>
              <a:t>{</a:t>
            </a:r>
          </a:p>
          <a:p>
            <a:pPr algn="l">
              <a:defRPr sz="1500" b="0">
                <a:solidFill>
                  <a:srgbClr val="565E6B"/>
                </a:solidFill>
                <a:latin typeface="Arial"/>
                <a:ea typeface="Arial"/>
                <a:cs typeface="Arial"/>
              </a:defRPr>
            </a:pPr>
            <a:r>
              <a:rPr sz="1500" b="0">
                <a:solidFill>
                  <a:srgbClr val="565E6B"/>
                </a:solidFill>
                <a:latin typeface="Arial"/>
                <a:ea typeface="Arial"/>
                <a:cs typeface="Arial"/>
              </a:rPr>
              <a:t>    public void OnGet() { }</a:t>
            </a:r>
          </a:p>
          <a:p>
            <a:pPr algn="l">
              <a:defRPr sz="1500" b="0">
                <a:solidFill>
                  <a:srgbClr val="565E6B"/>
                </a:solidFill>
                <a:latin typeface="Arial"/>
                <a:ea typeface="Arial"/>
                <a:cs typeface="Arial"/>
              </a:defRPr>
            </a:pPr>
            <a:r>
              <a:rPr sz="1500" b="0">
                <a:solidFill>
                  <a:srgbClr val="565E6B"/>
                </a:solidFill>
                <a:latin typeface="Arial"/>
                <a:ea typeface="Arial"/>
                <a:cs typeface="Arial"/>
              </a:rPr>
              <a:t>}</a:t>
            </a:r>
          </a:p>
        </p:txBody>
      </p:sp>
      <p:cxnSp>
        <p:nvCxnSpPr>
          <p:cNvPr id="20" name="Conector recto de flecha 19"/>
          <p:cNvCxnSpPr/>
          <p:nvPr/>
        </p:nvCxnSpPr>
        <p:spPr>
          <a:xfrm>
            <a:off x="5943600" y="2038350"/>
            <a:ext cx="0" cy="3143250"/>
          </a:xfrm>
          <a:prstGeom prst="straightConnector1">
            <a:avLst/>
          </a:prstGeom>
          <a:ln w="9525">
            <a:solidFill>
              <a:srgbClr val="B8BCC4"/>
            </a:solidFill>
            <a:prstDash val="solid"/>
          </a:ln>
        </p:spPr>
      </p:cxnSp>
      <p:sp>
        <p:nvSpPr>
          <p:cNvPr id="9" name="Rectángulo 8">
            <a:extLst>
              <a:ext uri="{FF2B5EF4-FFF2-40B4-BE49-F238E27FC236}">
                <a16:creationId xmlns:a16="http://schemas.microsoft.com/office/drawing/2014/main" id="{DB726BAD-1429-464A-ABD5-3B95AED41FDD}"/>
              </a:ext>
            </a:extLst>
          </p:cNvPr>
          <p:cNvSpPr>
            <a:spLocks noGrp="1"/>
          </p:cNvSpPr>
          <p:nvPr/>
        </p:nvSpPr>
        <p:spPr>
          <a:xfrm>
            <a:off x="6343650" y="2038350"/>
            <a:ext cx="5448300"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Mediante convenciones</a:t>
            </a:r>
          </a:p>
        </p:txBody>
      </p:sp>
      <p:sp>
        <p:nvSpPr>
          <p:cNvPr id="10" name="Rectángulo 9">
            <a:extLst>
              <a:ext uri="{FF2B5EF4-FFF2-40B4-BE49-F238E27FC236}">
                <a16:creationId xmlns:a16="http://schemas.microsoft.com/office/drawing/2014/main" id="{D0E887E9-FCD2-451B-8687-B93A17F2A08B}"/>
              </a:ext>
            </a:extLst>
          </p:cNvPr>
          <p:cNvSpPr>
            <a:spLocks noGrp="1"/>
          </p:cNvSpPr>
          <p:nvPr/>
        </p:nvSpPr>
        <p:spPr>
          <a:xfrm>
            <a:off x="6343650" y="2628900"/>
            <a:ext cx="5448300" cy="2552700"/>
          </a:xfrm>
          <a:prstGeom prst="rect">
            <a:avLst/>
          </a:prstGeom>
          <a:noFill/>
          <a:ln w="0">
            <a:noFill/>
            <a:prstDash val="solid"/>
          </a:ln>
        </p:spPr>
        <p:txBody>
          <a:bodyPr wrap="square" lIns="0" tIns="0" rIns="0" bIns="0" anchor="t">
            <a:normAutofit/>
          </a:bodyPr>
          <a:lstStyle/>
          <a:p>
            <a:pPr algn="l">
              <a:defRPr sz="1500" b="0">
                <a:solidFill>
                  <a:srgbClr val="565E6B"/>
                </a:solidFill>
                <a:latin typeface="Arial"/>
                <a:ea typeface="Arial"/>
                <a:cs typeface="Arial"/>
              </a:defRPr>
            </a:pPr>
            <a:r>
              <a:rPr sz="1500" b="0">
                <a:solidFill>
                  <a:srgbClr val="565E6B"/>
                </a:solidFill>
                <a:latin typeface="Arial"/>
                <a:ea typeface="Arial"/>
                <a:cs typeface="Arial"/>
              </a:rPr>
              <a:t>builder.Services.AddRazorPages(opciones =&gt;</a:t>
            </a:r>
          </a:p>
          <a:p>
            <a:pPr algn="l">
              <a:defRPr sz="1500" b="0">
                <a:solidFill>
                  <a:srgbClr val="565E6B"/>
                </a:solidFill>
                <a:latin typeface="Arial"/>
                <a:ea typeface="Arial"/>
                <a:cs typeface="Arial"/>
              </a:defRPr>
            </a:pPr>
            <a:r>
              <a:rPr sz="1500" b="0">
                <a:solidFill>
                  <a:srgbClr val="565E6B"/>
                </a:solidFill>
                <a:latin typeface="Arial"/>
                <a:ea typeface="Arial"/>
                <a:cs typeface="Arial"/>
              </a:rPr>
              <a:t>{</a:t>
            </a:r>
          </a:p>
          <a:p>
            <a:pPr algn="l">
              <a:defRPr sz="1500" b="0">
                <a:solidFill>
                  <a:srgbClr val="565E6B"/>
                </a:solidFill>
                <a:latin typeface="Arial"/>
                <a:ea typeface="Arial"/>
                <a:cs typeface="Arial"/>
              </a:defRPr>
            </a:pPr>
            <a:r>
              <a:rPr sz="1500" b="0">
                <a:solidFill>
                  <a:srgbClr val="565E6B"/>
                </a:solidFill>
                <a:latin typeface="Arial"/>
                <a:ea typeface="Arial"/>
                <a:cs typeface="Arial"/>
              </a:rPr>
              <a:t>    opciones.Conventions</a:t>
            </a:r>
          </a:p>
          <a:p>
            <a:pPr algn="l">
              <a:defRPr sz="1500" b="0">
                <a:solidFill>
                  <a:srgbClr val="565E6B"/>
                </a:solidFill>
                <a:latin typeface="Arial"/>
                <a:ea typeface="Arial"/>
                <a:cs typeface="Arial"/>
              </a:defRPr>
            </a:pPr>
            <a:r>
              <a:rPr sz="1500" b="0">
                <a:solidFill>
                  <a:srgbClr val="565E6B"/>
                </a:solidFill>
                <a:latin typeface="Arial"/>
                <a:ea typeface="Arial"/>
                <a:cs typeface="Arial"/>
              </a:rPr>
              <a:t>        .AuthorizeFolder("/Cuenta");</a:t>
            </a:r>
          </a:p>
          <a:p>
            <a:pPr algn="l">
              <a:defRPr sz="1500" b="0">
                <a:solidFill>
                  <a:srgbClr val="565E6B"/>
                </a:solidFill>
                <a:latin typeface="Arial"/>
                <a:ea typeface="Arial"/>
                <a:cs typeface="Arial"/>
              </a:defRPr>
            </a:pPr>
            <a:r>
              <a:rPr sz="1500" b="0">
                <a:solidFill>
                  <a:srgbClr val="565E6B"/>
                </a:solidFill>
                <a:latin typeface="Arial"/>
                <a:ea typeface="Arial"/>
                <a:cs typeface="Arial"/>
              </a:rPr>
              <a:t>});</a:t>
            </a:r>
          </a:p>
        </p:txBody>
      </p:sp>
      <p:sp>
        <p:nvSpPr>
          <p:cNvPr id="11" name="Rectángulo: esquinas redondeadas 10">
            <a:extLst>
              <a:ext uri="{FF2B5EF4-FFF2-40B4-BE49-F238E27FC236}">
                <a16:creationId xmlns:a16="http://schemas.microsoft.com/office/drawing/2014/main" id="{9F09B8E0-BDCB-48AA-9174-76EDF65FAFB0}"/>
              </a:ext>
            </a:extLst>
          </p:cNvPr>
          <p:cNvSpPr>
            <a:spLocks noGrp="1"/>
          </p:cNvSpPr>
          <p:nvPr/>
        </p:nvSpPr>
        <p:spPr>
          <a:xfrm>
            <a:off x="400050" y="5429250"/>
            <a:ext cx="11391900" cy="523875"/>
          </a:xfrm>
          <a:prstGeom prst="roundRect">
            <a:avLst>
              <a:gd name="adj" fmla="val 21818"/>
            </a:avLst>
          </a:prstGeom>
          <a:solidFill>
            <a:srgbClr val="FFF0C7"/>
          </a:solidFill>
          <a:ln w="0">
            <a:noFill/>
            <a:prstDash val="solid"/>
          </a:ln>
        </p:spPr>
        <p:txBody>
          <a:bodyPr/>
          <a:lstStyle/>
          <a:p>
            <a:endParaRPr lang="es-ES"/>
          </a:p>
        </p:txBody>
      </p:sp>
      <p:sp>
        <p:nvSpPr>
          <p:cNvPr id="12" name="Rectángulo 11">
            <a:extLst>
              <a:ext uri="{FF2B5EF4-FFF2-40B4-BE49-F238E27FC236}">
                <a16:creationId xmlns:a16="http://schemas.microsoft.com/office/drawing/2014/main" id="{560CD59F-C858-48D0-8417-41408B5B34B1}"/>
              </a:ext>
            </a:extLst>
          </p:cNvPr>
          <p:cNvSpPr>
            <a:spLocks noGrp="1"/>
          </p:cNvSpPr>
          <p:nvPr/>
        </p:nvSpPr>
        <p:spPr>
          <a:xfrm>
            <a:off x="628650" y="5581650"/>
            <a:ext cx="10934700" cy="266700"/>
          </a:xfrm>
          <a:prstGeom prst="rect">
            <a:avLst/>
          </a:prstGeom>
          <a:noFill/>
          <a:ln w="0">
            <a:noFill/>
            <a:prstDash val="solid"/>
          </a:ln>
        </p:spPr>
        <p:txBody>
          <a:bodyPr wrap="square" lIns="0" tIns="0" rIns="0" bIns="0" anchor="t">
            <a:norm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La autorización real siempre se comprueba en el servidor.</a:t>
            </a:r>
          </a:p>
        </p:txBody>
      </p:sp>
    </p:spTree>
    <p:extLst>
      <p:ext uri="{BB962C8B-B14F-4D97-AF65-F5344CB8AC3E}">
        <p14:creationId xmlns:p14="http://schemas.microsoft.com/office/powerpoint/2010/main" val="948816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9DBBFEA6-8F36-4785-A806-9BF8B3C9E8D2}"/>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1">
            <a:extLst>
              <a:ext uri="{FF2B5EF4-FFF2-40B4-BE49-F238E27FC236}">
                <a16:creationId xmlns:a16="http://schemas.microsoft.com/office/drawing/2014/main" id="{24F9FDFE-CC68-49EB-9BAF-77DA29466C0F}"/>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fontScale="95584"/>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Roles, claims y políticas expresan permisos con distinto detalle</a:t>
            </a:r>
          </a:p>
        </p:txBody>
      </p:sp>
      <p:cxnSp>
        <p:nvCxnSpPr>
          <p:cNvPr id="22" name="Conector recto de flecha 21"/>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B0D2AC1D-B322-44F9-91EC-E2BD845C9D9C}"/>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B611D85D-F57B-4DDD-8B99-76625919930B}"/>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21</a:t>
            </a:r>
          </a:p>
        </p:txBody>
      </p:sp>
      <p:sp>
        <p:nvSpPr>
          <p:cNvPr id="6" name="Rectángulo 5">
            <a:extLst>
              <a:ext uri="{FF2B5EF4-FFF2-40B4-BE49-F238E27FC236}">
                <a16:creationId xmlns:a16="http://schemas.microsoft.com/office/drawing/2014/main" id="{21C7A072-0AB9-4346-873F-038E069FE54E}"/>
              </a:ext>
            </a:extLst>
          </p:cNvPr>
          <p:cNvSpPr>
            <a:spLocks noGrp="1"/>
          </p:cNvSpPr>
          <p:nvPr/>
        </p:nvSpPr>
        <p:spPr>
          <a:xfrm>
            <a:off x="400050" y="1962150"/>
            <a:ext cx="11391900" cy="762000"/>
          </a:xfrm>
          <a:prstGeom prst="rect">
            <a:avLst/>
          </a:prstGeom>
          <a:solidFill>
            <a:srgbClr val="F6F7F8"/>
          </a:solidFill>
          <a:ln w="0">
            <a:noFill/>
            <a:prstDash val="solid"/>
          </a:ln>
        </p:spPr>
        <p:txBody>
          <a:bodyPr/>
          <a:lstStyle/>
          <a:p>
            <a:endParaRPr lang="es-ES"/>
          </a:p>
        </p:txBody>
      </p:sp>
      <p:sp>
        <p:nvSpPr>
          <p:cNvPr id="7" name="Rectángulo 6">
            <a:extLst>
              <a:ext uri="{FF2B5EF4-FFF2-40B4-BE49-F238E27FC236}">
                <a16:creationId xmlns:a16="http://schemas.microsoft.com/office/drawing/2014/main" id="{1A5A97C0-242A-4C64-9F5E-867264C722C4}"/>
              </a:ext>
            </a:extLst>
          </p:cNvPr>
          <p:cNvSpPr>
            <a:spLocks noGrp="1"/>
          </p:cNvSpPr>
          <p:nvPr/>
        </p:nvSpPr>
        <p:spPr>
          <a:xfrm>
            <a:off x="590550" y="21336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Mecanismo</a:t>
            </a:r>
          </a:p>
        </p:txBody>
      </p:sp>
      <p:sp>
        <p:nvSpPr>
          <p:cNvPr id="8" name="Rectángulo 7">
            <a:extLst>
              <a:ext uri="{FF2B5EF4-FFF2-40B4-BE49-F238E27FC236}">
                <a16:creationId xmlns:a16="http://schemas.microsoft.com/office/drawing/2014/main" id="{23444FD8-65BE-450A-B0E5-7F14A51E1573}"/>
              </a:ext>
            </a:extLst>
          </p:cNvPr>
          <p:cNvSpPr>
            <a:spLocks noGrp="1"/>
          </p:cNvSpPr>
          <p:nvPr/>
        </p:nvSpPr>
        <p:spPr>
          <a:xfrm>
            <a:off x="3067050" y="21336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Ejemplo</a:t>
            </a:r>
          </a:p>
        </p:txBody>
      </p:sp>
      <p:sp>
        <p:nvSpPr>
          <p:cNvPr id="9" name="Rectángulo 8">
            <a:extLst>
              <a:ext uri="{FF2B5EF4-FFF2-40B4-BE49-F238E27FC236}">
                <a16:creationId xmlns:a16="http://schemas.microsoft.com/office/drawing/2014/main" id="{92AEB06B-1E16-4F6C-AF94-4B58A4419F6D}"/>
              </a:ext>
            </a:extLst>
          </p:cNvPr>
          <p:cNvSpPr>
            <a:spLocks noGrp="1"/>
          </p:cNvSpPr>
          <p:nvPr/>
        </p:nvSpPr>
        <p:spPr>
          <a:xfrm>
            <a:off x="7353300" y="21336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Cuándo usarlo</a:t>
            </a:r>
          </a:p>
        </p:txBody>
      </p:sp>
      <p:sp>
        <p:nvSpPr>
          <p:cNvPr id="10" name="Rectángulo 9">
            <a:extLst>
              <a:ext uri="{FF2B5EF4-FFF2-40B4-BE49-F238E27FC236}">
                <a16:creationId xmlns:a16="http://schemas.microsoft.com/office/drawing/2014/main" id="{CBB2CE07-2D03-49C0-B901-738AD8618782}"/>
              </a:ext>
            </a:extLst>
          </p:cNvPr>
          <p:cNvSpPr>
            <a:spLocks noGrp="1"/>
          </p:cNvSpPr>
          <p:nvPr/>
        </p:nvSpPr>
        <p:spPr>
          <a:xfrm>
            <a:off x="590550" y="29718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Rol</a:t>
            </a:r>
          </a:p>
        </p:txBody>
      </p:sp>
      <p:sp>
        <p:nvSpPr>
          <p:cNvPr id="11" name="Rectángulo 10">
            <a:extLst>
              <a:ext uri="{FF2B5EF4-FFF2-40B4-BE49-F238E27FC236}">
                <a16:creationId xmlns:a16="http://schemas.microsoft.com/office/drawing/2014/main" id="{A8F94153-E18F-4108-8115-6AE169B1754C}"/>
              </a:ext>
            </a:extLst>
          </p:cNvPr>
          <p:cNvSpPr>
            <a:spLocks noGrp="1"/>
          </p:cNvSpPr>
          <p:nvPr/>
        </p:nvSpPr>
        <p:spPr>
          <a:xfrm>
            <a:off x="3067050" y="29718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Administrador</a:t>
            </a:r>
          </a:p>
        </p:txBody>
      </p:sp>
      <p:sp>
        <p:nvSpPr>
          <p:cNvPr id="12" name="Rectángulo 11">
            <a:extLst>
              <a:ext uri="{FF2B5EF4-FFF2-40B4-BE49-F238E27FC236}">
                <a16:creationId xmlns:a16="http://schemas.microsoft.com/office/drawing/2014/main" id="{8FE87BBB-6FFF-46E6-B38B-4126ECD88421}"/>
              </a:ext>
            </a:extLst>
          </p:cNvPr>
          <p:cNvSpPr>
            <a:spLocks noGrp="1"/>
          </p:cNvSpPr>
          <p:nvPr/>
        </p:nvSpPr>
        <p:spPr>
          <a:xfrm>
            <a:off x="7353300" y="29718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Agrupación estable de usuarios</a:t>
            </a:r>
          </a:p>
        </p:txBody>
      </p:sp>
      <p:sp>
        <p:nvSpPr>
          <p:cNvPr id="13" name="Rectángulo 12">
            <a:extLst>
              <a:ext uri="{FF2B5EF4-FFF2-40B4-BE49-F238E27FC236}">
                <a16:creationId xmlns:a16="http://schemas.microsoft.com/office/drawing/2014/main" id="{86106F32-EDDD-44C4-AB0B-BABE05470291}"/>
              </a:ext>
            </a:extLst>
          </p:cNvPr>
          <p:cNvSpPr>
            <a:spLocks noGrp="1"/>
          </p:cNvSpPr>
          <p:nvPr/>
        </p:nvSpPr>
        <p:spPr>
          <a:xfrm>
            <a:off x="400050" y="3638550"/>
            <a:ext cx="11391900" cy="762000"/>
          </a:xfrm>
          <a:prstGeom prst="rect">
            <a:avLst/>
          </a:prstGeom>
          <a:solidFill>
            <a:srgbClr val="F6F7F8"/>
          </a:solidFill>
          <a:ln w="0">
            <a:noFill/>
            <a:prstDash val="solid"/>
          </a:ln>
        </p:spPr>
        <p:txBody>
          <a:bodyPr/>
          <a:lstStyle/>
          <a:p>
            <a:endParaRPr lang="es-ES"/>
          </a:p>
        </p:txBody>
      </p:sp>
      <p:sp>
        <p:nvSpPr>
          <p:cNvPr id="14" name="Rectángulo 13">
            <a:extLst>
              <a:ext uri="{FF2B5EF4-FFF2-40B4-BE49-F238E27FC236}">
                <a16:creationId xmlns:a16="http://schemas.microsoft.com/office/drawing/2014/main" id="{CB54E36B-2BCD-4D46-9D32-04DF30683C2D}"/>
              </a:ext>
            </a:extLst>
          </p:cNvPr>
          <p:cNvSpPr>
            <a:spLocks noGrp="1"/>
          </p:cNvSpPr>
          <p:nvPr/>
        </p:nvSpPr>
        <p:spPr>
          <a:xfrm>
            <a:off x="590550" y="38100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Claim</a:t>
            </a:r>
          </a:p>
        </p:txBody>
      </p:sp>
      <p:sp>
        <p:nvSpPr>
          <p:cNvPr id="15" name="Rectángulo 14">
            <a:extLst>
              <a:ext uri="{FF2B5EF4-FFF2-40B4-BE49-F238E27FC236}">
                <a16:creationId xmlns:a16="http://schemas.microsoft.com/office/drawing/2014/main" id="{E2C33A77-9966-4020-90ED-3590E11F67A3}"/>
              </a:ext>
            </a:extLst>
          </p:cNvPr>
          <p:cNvSpPr>
            <a:spLocks noGrp="1"/>
          </p:cNvSpPr>
          <p:nvPr/>
        </p:nvSpPr>
        <p:spPr>
          <a:xfrm>
            <a:off x="3067050" y="38100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Departamento = Ventas</a:t>
            </a:r>
          </a:p>
        </p:txBody>
      </p:sp>
      <p:sp>
        <p:nvSpPr>
          <p:cNvPr id="16" name="Rectángulo 15">
            <a:extLst>
              <a:ext uri="{FF2B5EF4-FFF2-40B4-BE49-F238E27FC236}">
                <a16:creationId xmlns:a16="http://schemas.microsoft.com/office/drawing/2014/main" id="{F013D40A-4665-4D36-9AAB-4B8F3792CF4E}"/>
              </a:ext>
            </a:extLst>
          </p:cNvPr>
          <p:cNvSpPr>
            <a:spLocks noGrp="1"/>
          </p:cNvSpPr>
          <p:nvPr/>
        </p:nvSpPr>
        <p:spPr>
          <a:xfrm>
            <a:off x="7353300" y="38100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Dato sobre la identidad</a:t>
            </a:r>
          </a:p>
        </p:txBody>
      </p:sp>
      <p:sp>
        <p:nvSpPr>
          <p:cNvPr id="17" name="Rectángulo 16">
            <a:extLst>
              <a:ext uri="{FF2B5EF4-FFF2-40B4-BE49-F238E27FC236}">
                <a16:creationId xmlns:a16="http://schemas.microsoft.com/office/drawing/2014/main" id="{98BB71B8-B353-490E-A7E9-BD07B5697412}"/>
              </a:ext>
            </a:extLst>
          </p:cNvPr>
          <p:cNvSpPr>
            <a:spLocks noGrp="1"/>
          </p:cNvSpPr>
          <p:nvPr/>
        </p:nvSpPr>
        <p:spPr>
          <a:xfrm>
            <a:off x="590550" y="46482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Política</a:t>
            </a:r>
          </a:p>
        </p:txBody>
      </p:sp>
      <p:sp>
        <p:nvSpPr>
          <p:cNvPr id="18" name="Rectángulo 17">
            <a:extLst>
              <a:ext uri="{FF2B5EF4-FFF2-40B4-BE49-F238E27FC236}">
                <a16:creationId xmlns:a16="http://schemas.microsoft.com/office/drawing/2014/main" id="{5F9C8586-ABAD-48D0-92DF-0E51402CD00C}"/>
              </a:ext>
            </a:extLst>
          </p:cNvPr>
          <p:cNvSpPr>
            <a:spLocks noGrp="1"/>
          </p:cNvSpPr>
          <p:nvPr/>
        </p:nvSpPr>
        <p:spPr>
          <a:xfrm>
            <a:off x="3067050" y="46482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PuedePublicar</a:t>
            </a:r>
          </a:p>
        </p:txBody>
      </p:sp>
      <p:sp>
        <p:nvSpPr>
          <p:cNvPr id="19" name="Rectángulo 18">
            <a:extLst>
              <a:ext uri="{FF2B5EF4-FFF2-40B4-BE49-F238E27FC236}">
                <a16:creationId xmlns:a16="http://schemas.microsoft.com/office/drawing/2014/main" id="{35E5B43C-6A4F-42CF-AA4D-5A90EA8C8AE6}"/>
              </a:ext>
            </a:extLst>
          </p:cNvPr>
          <p:cNvSpPr>
            <a:spLocks noGrp="1"/>
          </p:cNvSpPr>
          <p:nvPr/>
        </p:nvSpPr>
        <p:spPr>
          <a:xfrm>
            <a:off x="7353300" y="46482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Regla reutilizable con requisitos</a:t>
            </a:r>
          </a:p>
        </p:txBody>
      </p:sp>
    </p:spTree>
    <p:extLst>
      <p:ext uri="{BB962C8B-B14F-4D97-AF65-F5344CB8AC3E}">
        <p14:creationId xmlns:p14="http://schemas.microsoft.com/office/powerpoint/2010/main" val="1821709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F4B212E-E97A-4DE1-A040-953AB374C6DD}"/>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2">
            <a:extLst>
              <a:ext uri="{FF2B5EF4-FFF2-40B4-BE49-F238E27FC236}">
                <a16:creationId xmlns:a16="http://schemas.microsoft.com/office/drawing/2014/main" id="{3DA93552-A5E5-4710-B21A-B84FD30FF105}"/>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Los roles requieren registrarlos y asignarlos</a:t>
            </a:r>
          </a:p>
        </p:txBody>
      </p:sp>
      <p:cxnSp>
        <p:nvCxnSpPr>
          <p:cNvPr id="11" name="Conector recto de flecha 10"/>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3C7AADD8-0D83-4F9C-B51B-C737E6CAC1DC}"/>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3C40CD7E-B768-4FA0-86E4-06D5970F4FB0}"/>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22</a:t>
            </a:r>
          </a:p>
        </p:txBody>
      </p:sp>
      <p:sp>
        <p:nvSpPr>
          <p:cNvPr id="6" name="Rectángulo: esquinas redondeadas 5">
            <a:extLst>
              <a:ext uri="{FF2B5EF4-FFF2-40B4-BE49-F238E27FC236}">
                <a16:creationId xmlns:a16="http://schemas.microsoft.com/office/drawing/2014/main" id="{4A7FE945-0CA8-4019-890E-4970B3E7E365}"/>
              </a:ext>
            </a:extLst>
          </p:cNvPr>
          <p:cNvSpPr>
            <a:spLocks noGrp="1"/>
          </p:cNvSpPr>
          <p:nvPr/>
        </p:nvSpPr>
        <p:spPr>
          <a:xfrm>
            <a:off x="400050" y="1809750"/>
            <a:ext cx="11391900" cy="4057650"/>
          </a:xfrm>
          <a:prstGeom prst="roundRect">
            <a:avLst>
              <a:gd name="adj" fmla="val 2817"/>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4DE89DD5-2715-4777-B9B0-912BE4F5E63B}"/>
              </a:ext>
            </a:extLst>
          </p:cNvPr>
          <p:cNvSpPr>
            <a:spLocks noGrp="1"/>
          </p:cNvSpPr>
          <p:nvPr/>
        </p:nvSpPr>
        <p:spPr>
          <a:xfrm>
            <a:off x="628650" y="1981200"/>
            <a:ext cx="10934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ROLES · configuración, asignación y uso</a:t>
            </a:r>
          </a:p>
        </p:txBody>
      </p:sp>
      <p:sp>
        <p:nvSpPr>
          <p:cNvPr id="8" name="Rectángulo 7">
            <a:extLst>
              <a:ext uri="{FF2B5EF4-FFF2-40B4-BE49-F238E27FC236}">
                <a16:creationId xmlns:a16="http://schemas.microsoft.com/office/drawing/2014/main" id="{6284F937-CC4A-4F59-9909-DD47A5290F37}"/>
              </a:ext>
            </a:extLst>
          </p:cNvPr>
          <p:cNvSpPr>
            <a:spLocks noGrp="1"/>
          </p:cNvSpPr>
          <p:nvPr/>
        </p:nvSpPr>
        <p:spPr>
          <a:xfrm>
            <a:off x="628650" y="2362200"/>
            <a:ext cx="10934700" cy="3314700"/>
          </a:xfrm>
          <a:prstGeom prst="rect">
            <a:avLst/>
          </a:prstGeom>
          <a:noFill/>
          <a:ln w="0">
            <a:noFill/>
            <a:prstDash val="solid"/>
          </a:ln>
        </p:spPr>
        <p:txBody>
          <a:bodyPr wrap="square" lIns="0" tIns="0" rIns="0" bIns="0" anchor="t">
            <a:normAutofit/>
          </a:bodyPr>
          <a:lstStyle/>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builder.Services</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.AddDefaultIdentity&lt;ApplicationUser&gt;()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.AddRoles&lt;IdentityRole&gt;()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.AddEntityFrameworkStores&lt;ApplicationDbContext&gt;();</a:t>
            </a:r>
          </a:p>
          <a:p>
            <a:endParaRPr sz="1388" b="0">
              <a:solidFill>
                <a:srgbClr val="14213D"/>
              </a:solidFill>
              <a:latin typeface="Consolas"/>
              <a:ea typeface="Consolas"/>
              <a:cs typeface="Consolas"/>
            </a:endParaRP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await _roleManager.CreateAsync(new IdentityRole("Administrador"));</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await _userManager.AddToRoleAsync(usuario, "Administrador");</a:t>
            </a:r>
          </a:p>
          <a:p>
            <a:endParaRPr sz="1388" b="0">
              <a:solidFill>
                <a:srgbClr val="14213D"/>
              </a:solidFill>
              <a:latin typeface="Consolas"/>
              <a:ea typeface="Consolas"/>
              <a:cs typeface="Consolas"/>
            </a:endParaRP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[Authorize(Roles = "Administrador")]</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public class AdministracionModel : PageModel</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p:txBody>
      </p:sp>
    </p:spTree>
    <p:extLst>
      <p:ext uri="{BB962C8B-B14F-4D97-AF65-F5344CB8AC3E}">
        <p14:creationId xmlns:p14="http://schemas.microsoft.com/office/powerpoint/2010/main" val="2022968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4BEB31A-181E-49F6-B423-E207BDAD101E}"/>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3">
            <a:extLst>
              <a:ext uri="{FF2B5EF4-FFF2-40B4-BE49-F238E27FC236}">
                <a16:creationId xmlns:a16="http://schemas.microsoft.com/office/drawing/2014/main" id="{2936F45B-A266-40B2-AAE2-D0D8408C53A1}"/>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Una política convierte claims y reglas en un nombre claro</a:t>
            </a:r>
          </a:p>
        </p:txBody>
      </p:sp>
      <p:cxnSp>
        <p:nvCxnSpPr>
          <p:cNvPr id="11" name="Conector recto de flecha 10"/>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F80664FF-B421-405C-8040-FA3DAC11447C}"/>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FFF6BFDF-C926-451C-BC1B-E186C3CBD5F1}"/>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23</a:t>
            </a:r>
          </a:p>
        </p:txBody>
      </p:sp>
      <p:sp>
        <p:nvSpPr>
          <p:cNvPr id="6" name="Rectángulo: esquinas redondeadas 5">
            <a:extLst>
              <a:ext uri="{FF2B5EF4-FFF2-40B4-BE49-F238E27FC236}">
                <a16:creationId xmlns:a16="http://schemas.microsoft.com/office/drawing/2014/main" id="{B9EDEA2B-8997-4729-B5AD-C781CDC3D914}"/>
              </a:ext>
            </a:extLst>
          </p:cNvPr>
          <p:cNvSpPr>
            <a:spLocks noGrp="1"/>
          </p:cNvSpPr>
          <p:nvPr/>
        </p:nvSpPr>
        <p:spPr>
          <a:xfrm>
            <a:off x="400050" y="1809750"/>
            <a:ext cx="11391900" cy="4057650"/>
          </a:xfrm>
          <a:prstGeom prst="roundRect">
            <a:avLst>
              <a:gd name="adj" fmla="val 2817"/>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EC3F3049-3AE2-42E3-BB1C-AF3FB914C290}"/>
              </a:ext>
            </a:extLst>
          </p:cNvPr>
          <p:cNvSpPr>
            <a:spLocks noGrp="1"/>
          </p:cNvSpPr>
          <p:nvPr/>
        </p:nvSpPr>
        <p:spPr>
          <a:xfrm>
            <a:off x="628650" y="1981200"/>
            <a:ext cx="10934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CLAIMS + POLÍTICA</a:t>
            </a:r>
          </a:p>
        </p:txBody>
      </p:sp>
      <p:sp>
        <p:nvSpPr>
          <p:cNvPr id="8" name="Rectángulo 7">
            <a:extLst>
              <a:ext uri="{FF2B5EF4-FFF2-40B4-BE49-F238E27FC236}">
                <a16:creationId xmlns:a16="http://schemas.microsoft.com/office/drawing/2014/main" id="{41403D59-CAF1-4FFB-8F97-DF613D7F859F}"/>
              </a:ext>
            </a:extLst>
          </p:cNvPr>
          <p:cNvSpPr>
            <a:spLocks noGrp="1"/>
          </p:cNvSpPr>
          <p:nvPr/>
        </p:nvSpPr>
        <p:spPr>
          <a:xfrm>
            <a:off x="628650" y="2362200"/>
            <a:ext cx="10934700" cy="3314700"/>
          </a:xfrm>
          <a:prstGeom prst="rect">
            <a:avLst/>
          </a:prstGeom>
          <a:noFill/>
          <a:ln w="0">
            <a:noFill/>
            <a:prstDash val="solid"/>
          </a:ln>
        </p:spPr>
        <p:txBody>
          <a:bodyPr wrap="square" lIns="0" tIns="0" rIns="0" bIns="0" anchor="t">
            <a:normAutofit/>
          </a:bodyPr>
          <a:lstStyle/>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builder.Services.AddAuthorization(opciones =&gt;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opciones.AddPolicy("PuedeModerar", politica =&gt;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politica.RequireClaim("Permiso", "Moderar"));</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a:p>
            <a:endParaRPr sz="1388" b="0">
              <a:solidFill>
                <a:srgbClr val="14213D"/>
              </a:solidFill>
              <a:latin typeface="Consolas"/>
              <a:ea typeface="Consolas"/>
              <a:cs typeface="Consolas"/>
            </a:endParaRP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await _userManager.AddClaimAsync(</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usuario,</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new Claim("Permiso", "Moderar"));</a:t>
            </a:r>
          </a:p>
          <a:p>
            <a:endParaRPr sz="1388" b="0">
              <a:solidFill>
                <a:srgbClr val="14213D"/>
              </a:solidFill>
              <a:latin typeface="Consolas"/>
              <a:ea typeface="Consolas"/>
              <a:cs typeface="Consolas"/>
            </a:endParaRP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[Authorize(Policy = "PuedeModerar")]</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public class ModeracionModel : PageModel</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p:txBody>
      </p:sp>
    </p:spTree>
    <p:extLst>
      <p:ext uri="{BB962C8B-B14F-4D97-AF65-F5344CB8AC3E}">
        <p14:creationId xmlns:p14="http://schemas.microsoft.com/office/powerpoint/2010/main" val="197976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368039C-D062-421F-97CA-6E24FF521238}"/>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4">
            <a:extLst>
              <a:ext uri="{FF2B5EF4-FFF2-40B4-BE49-F238E27FC236}">
                <a16:creationId xmlns:a16="http://schemas.microsoft.com/office/drawing/2014/main" id="{FB509FC1-2A8B-4145-9714-0DFCE7617F4D}"/>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Los datos de negocio se relacionan con el Id del usuario</a:t>
            </a:r>
          </a:p>
        </p:txBody>
      </p:sp>
      <p:cxnSp>
        <p:nvCxnSpPr>
          <p:cNvPr id="16" name="Conector recto de flecha 15"/>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56052D8F-5A73-4316-A0C2-7D7438595D62}"/>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3A5DCF76-F3B6-4157-AC53-66DB9B6CE488}"/>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24</a:t>
            </a:r>
          </a:p>
        </p:txBody>
      </p:sp>
      <p:cxnSp>
        <p:nvCxnSpPr>
          <p:cNvPr id="19" name="Conector recto de flecha 18"/>
          <p:cNvCxnSpPr/>
          <p:nvPr/>
        </p:nvCxnSpPr>
        <p:spPr>
          <a:xfrm>
            <a:off x="5200650" y="3429000"/>
            <a:ext cx="1790700" cy="0"/>
          </a:xfrm>
          <a:prstGeom prst="straightConnector1">
            <a:avLst/>
          </a:prstGeom>
          <a:ln w="38100">
            <a:solidFill>
              <a:srgbClr val="3D8DFF"/>
            </a:solidFill>
            <a:prstDash val="solid"/>
          </a:ln>
        </p:spPr>
      </p:cxnSp>
      <p:sp>
        <p:nvSpPr>
          <p:cNvPr id="7" name="Rectángulo: esquinas redondeadas 6">
            <a:extLst>
              <a:ext uri="{FF2B5EF4-FFF2-40B4-BE49-F238E27FC236}">
                <a16:creationId xmlns:a16="http://schemas.microsoft.com/office/drawing/2014/main" id="{35339FBC-8CB8-4B53-AEE1-BC914ECDBACE}"/>
              </a:ext>
            </a:extLst>
          </p:cNvPr>
          <p:cNvSpPr>
            <a:spLocks noGrp="1"/>
          </p:cNvSpPr>
          <p:nvPr/>
        </p:nvSpPr>
        <p:spPr>
          <a:xfrm>
            <a:off x="781050" y="2209800"/>
            <a:ext cx="4419600" cy="2609850"/>
          </a:xfrm>
          <a:prstGeom prst="roundRect">
            <a:avLst>
              <a:gd name="adj" fmla="val 4380"/>
            </a:avLst>
          </a:prstGeom>
          <a:solidFill>
            <a:srgbClr val="F6F7F8"/>
          </a:solidFill>
          <a:ln w="9525">
            <a:solidFill>
              <a:srgbClr val="B8BCC4"/>
            </a:solidFill>
            <a:prstDash val="solid"/>
          </a:ln>
        </p:spPr>
        <p:txBody>
          <a:bodyPr/>
          <a:lstStyle/>
          <a:p>
            <a:endParaRPr lang="es-ES"/>
          </a:p>
        </p:txBody>
      </p:sp>
      <p:sp>
        <p:nvSpPr>
          <p:cNvPr id="8" name="Rectángulo 7">
            <a:extLst>
              <a:ext uri="{FF2B5EF4-FFF2-40B4-BE49-F238E27FC236}">
                <a16:creationId xmlns:a16="http://schemas.microsoft.com/office/drawing/2014/main" id="{B351C484-5F40-41BC-A3C7-6C98B762DBF6}"/>
              </a:ext>
            </a:extLst>
          </p:cNvPr>
          <p:cNvSpPr>
            <a:spLocks noGrp="1"/>
          </p:cNvSpPr>
          <p:nvPr/>
        </p:nvSpPr>
        <p:spPr>
          <a:xfrm>
            <a:off x="1066800" y="2495550"/>
            <a:ext cx="3848100" cy="40005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AspNetUsers</a:t>
            </a:r>
          </a:p>
        </p:txBody>
      </p:sp>
      <p:sp>
        <p:nvSpPr>
          <p:cNvPr id="9" name="Rectángulo 8">
            <a:extLst>
              <a:ext uri="{FF2B5EF4-FFF2-40B4-BE49-F238E27FC236}">
                <a16:creationId xmlns:a16="http://schemas.microsoft.com/office/drawing/2014/main" id="{1B02166B-C969-4C17-9738-857669493522}"/>
              </a:ext>
            </a:extLst>
          </p:cNvPr>
          <p:cNvSpPr>
            <a:spLocks noGrp="1"/>
          </p:cNvSpPr>
          <p:nvPr/>
        </p:nvSpPr>
        <p:spPr>
          <a:xfrm>
            <a:off x="1066800" y="3143250"/>
            <a:ext cx="3848100" cy="1143000"/>
          </a:xfrm>
          <a:prstGeom prst="rect">
            <a:avLst/>
          </a:prstGeom>
          <a:noFill/>
          <a:ln w="0">
            <a:noFill/>
            <a:prstDash val="solid"/>
          </a:ln>
        </p:spPr>
        <p:txBody>
          <a:bodyPr wrap="square" lIns="0" tIns="0" rIns="0" bIns="0" anchor="t">
            <a:normAutofit/>
          </a:bodyPr>
          <a:lstStyle/>
          <a:p>
            <a:pPr algn="l">
              <a:defRPr sz="1575" b="0">
                <a:solidFill>
                  <a:srgbClr val="565E6B"/>
                </a:solidFill>
                <a:latin typeface="Consolas"/>
                <a:ea typeface="Consolas"/>
                <a:cs typeface="Consolas"/>
              </a:defRPr>
            </a:pPr>
            <a:r>
              <a:rPr sz="1575" b="0">
                <a:solidFill>
                  <a:srgbClr val="565E6B"/>
                </a:solidFill>
                <a:latin typeface="Consolas"/>
                <a:ea typeface="Consolas"/>
                <a:cs typeface="Consolas"/>
              </a:rPr>
              <a:t>Id</a:t>
            </a:r>
          </a:p>
          <a:p>
            <a:pPr algn="l">
              <a:defRPr sz="1575" b="0">
                <a:solidFill>
                  <a:srgbClr val="565E6B"/>
                </a:solidFill>
                <a:latin typeface="Consolas"/>
                <a:ea typeface="Consolas"/>
                <a:cs typeface="Consolas"/>
              </a:defRPr>
            </a:pPr>
            <a:r>
              <a:rPr sz="1575" b="0">
                <a:solidFill>
                  <a:srgbClr val="565E6B"/>
                </a:solidFill>
                <a:latin typeface="Consolas"/>
                <a:ea typeface="Consolas"/>
                <a:cs typeface="Consolas"/>
              </a:rPr>
              <a:t>Email</a:t>
            </a:r>
          </a:p>
          <a:p>
            <a:pPr algn="l">
              <a:defRPr sz="1575" b="0">
                <a:solidFill>
                  <a:srgbClr val="565E6B"/>
                </a:solidFill>
                <a:latin typeface="Consolas"/>
                <a:ea typeface="Consolas"/>
                <a:cs typeface="Consolas"/>
              </a:defRPr>
            </a:pPr>
            <a:r>
              <a:rPr sz="1575" b="0">
                <a:solidFill>
                  <a:srgbClr val="565E6B"/>
                </a:solidFill>
                <a:latin typeface="Consolas"/>
                <a:ea typeface="Consolas"/>
                <a:cs typeface="Consolas"/>
              </a:rPr>
              <a:t>PasswordHash</a:t>
            </a:r>
          </a:p>
          <a:p>
            <a:pPr algn="l">
              <a:defRPr sz="1575" b="0">
                <a:solidFill>
                  <a:srgbClr val="565E6B"/>
                </a:solidFill>
                <a:latin typeface="Consolas"/>
                <a:ea typeface="Consolas"/>
                <a:cs typeface="Consolas"/>
              </a:defRPr>
            </a:pPr>
            <a:r>
              <a:rPr sz="1575" b="0">
                <a:solidFill>
                  <a:srgbClr val="565E6B"/>
                </a:solidFill>
                <a:latin typeface="Consolas"/>
                <a:ea typeface="Consolas"/>
                <a:cs typeface="Consolas"/>
              </a:rPr>
              <a:t>…</a:t>
            </a:r>
          </a:p>
        </p:txBody>
      </p:sp>
      <p:sp>
        <p:nvSpPr>
          <p:cNvPr id="10" name="Rectángulo: esquinas redondeadas 9">
            <a:extLst>
              <a:ext uri="{FF2B5EF4-FFF2-40B4-BE49-F238E27FC236}">
                <a16:creationId xmlns:a16="http://schemas.microsoft.com/office/drawing/2014/main" id="{205EBB3E-64BA-4100-9977-33193D3DB190}"/>
              </a:ext>
            </a:extLst>
          </p:cNvPr>
          <p:cNvSpPr>
            <a:spLocks noGrp="1"/>
          </p:cNvSpPr>
          <p:nvPr/>
        </p:nvSpPr>
        <p:spPr>
          <a:xfrm>
            <a:off x="6991350" y="2209800"/>
            <a:ext cx="4419600" cy="2609850"/>
          </a:xfrm>
          <a:prstGeom prst="roundRect">
            <a:avLst>
              <a:gd name="adj" fmla="val 4380"/>
            </a:avLst>
          </a:prstGeom>
          <a:solidFill>
            <a:srgbClr val="DCEEFF"/>
          </a:solidFill>
          <a:ln w="9525">
            <a:solidFill>
              <a:srgbClr val="B8BCC4"/>
            </a:solidFill>
            <a:prstDash val="solid"/>
          </a:ln>
        </p:spPr>
        <p:txBody>
          <a:bodyPr/>
          <a:lstStyle/>
          <a:p>
            <a:endParaRPr lang="es-ES"/>
          </a:p>
        </p:txBody>
      </p:sp>
      <p:sp>
        <p:nvSpPr>
          <p:cNvPr id="11" name="Rectángulo 10">
            <a:extLst>
              <a:ext uri="{FF2B5EF4-FFF2-40B4-BE49-F238E27FC236}">
                <a16:creationId xmlns:a16="http://schemas.microsoft.com/office/drawing/2014/main" id="{D98B0D63-04BC-4830-87AD-7318D28E502C}"/>
              </a:ext>
            </a:extLst>
          </p:cNvPr>
          <p:cNvSpPr>
            <a:spLocks noGrp="1"/>
          </p:cNvSpPr>
          <p:nvPr/>
        </p:nvSpPr>
        <p:spPr>
          <a:xfrm>
            <a:off x="7277100" y="2495550"/>
            <a:ext cx="3848100" cy="40005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PeliculasFavoritas</a:t>
            </a:r>
          </a:p>
        </p:txBody>
      </p:sp>
      <p:sp>
        <p:nvSpPr>
          <p:cNvPr id="12" name="Rectángulo 11">
            <a:extLst>
              <a:ext uri="{FF2B5EF4-FFF2-40B4-BE49-F238E27FC236}">
                <a16:creationId xmlns:a16="http://schemas.microsoft.com/office/drawing/2014/main" id="{438387A9-BD4D-405A-84A2-7D31EB0C6E1C}"/>
              </a:ext>
            </a:extLst>
          </p:cNvPr>
          <p:cNvSpPr>
            <a:spLocks noGrp="1"/>
          </p:cNvSpPr>
          <p:nvPr/>
        </p:nvSpPr>
        <p:spPr>
          <a:xfrm>
            <a:off x="7277100" y="3143250"/>
            <a:ext cx="3848100" cy="1143000"/>
          </a:xfrm>
          <a:prstGeom prst="rect">
            <a:avLst/>
          </a:prstGeom>
          <a:noFill/>
          <a:ln w="0">
            <a:noFill/>
            <a:prstDash val="solid"/>
          </a:ln>
        </p:spPr>
        <p:txBody>
          <a:bodyPr wrap="square" lIns="0" tIns="0" rIns="0" bIns="0" anchor="t">
            <a:normAutofit/>
          </a:bodyPr>
          <a:lstStyle/>
          <a:p>
            <a:pPr algn="l">
              <a:defRPr sz="1575" b="0">
                <a:solidFill>
                  <a:srgbClr val="565E6B"/>
                </a:solidFill>
                <a:latin typeface="Consolas"/>
                <a:ea typeface="Consolas"/>
                <a:cs typeface="Consolas"/>
              </a:defRPr>
            </a:pPr>
            <a:r>
              <a:rPr sz="1575" b="0">
                <a:solidFill>
                  <a:srgbClr val="565E6B"/>
                </a:solidFill>
                <a:latin typeface="Consolas"/>
                <a:ea typeface="Consolas"/>
                <a:cs typeface="Consolas"/>
              </a:rPr>
              <a:t>Id</a:t>
            </a:r>
          </a:p>
          <a:p>
            <a:pPr algn="l">
              <a:defRPr sz="1575" b="0">
                <a:solidFill>
                  <a:srgbClr val="565E6B"/>
                </a:solidFill>
                <a:latin typeface="Consolas"/>
                <a:ea typeface="Consolas"/>
                <a:cs typeface="Consolas"/>
              </a:defRPr>
            </a:pPr>
            <a:r>
              <a:rPr sz="1575" b="0">
                <a:solidFill>
                  <a:srgbClr val="565E6B"/>
                </a:solidFill>
                <a:latin typeface="Consolas"/>
                <a:ea typeface="Consolas"/>
                <a:cs typeface="Consolas"/>
              </a:rPr>
              <a:t>PeliculaId</a:t>
            </a:r>
          </a:p>
          <a:p>
            <a:pPr algn="l">
              <a:defRPr sz="1575" b="0">
                <a:solidFill>
                  <a:srgbClr val="565E6B"/>
                </a:solidFill>
                <a:latin typeface="Consolas"/>
                <a:ea typeface="Consolas"/>
                <a:cs typeface="Consolas"/>
              </a:defRPr>
            </a:pPr>
            <a:r>
              <a:rPr sz="1575" b="0">
                <a:solidFill>
                  <a:srgbClr val="565E6B"/>
                </a:solidFill>
                <a:latin typeface="Consolas"/>
                <a:ea typeface="Consolas"/>
                <a:cs typeface="Consolas"/>
              </a:rPr>
              <a:t>UserId  → AspNetUsers.Id</a:t>
            </a:r>
          </a:p>
        </p:txBody>
      </p:sp>
      <p:sp>
        <p:nvSpPr>
          <p:cNvPr id="13" name="Rectángulo 12">
            <a:extLst>
              <a:ext uri="{FF2B5EF4-FFF2-40B4-BE49-F238E27FC236}">
                <a16:creationId xmlns:a16="http://schemas.microsoft.com/office/drawing/2014/main" id="{AF1DFC03-8B51-482D-8E58-5D462E906A37}"/>
              </a:ext>
            </a:extLst>
          </p:cNvPr>
          <p:cNvSpPr>
            <a:spLocks noGrp="1"/>
          </p:cNvSpPr>
          <p:nvPr/>
        </p:nvSpPr>
        <p:spPr>
          <a:xfrm>
            <a:off x="2667000" y="5353050"/>
            <a:ext cx="6858000" cy="381000"/>
          </a:xfrm>
          <a:prstGeom prst="rect">
            <a:avLst/>
          </a:prstGeom>
          <a:noFill/>
          <a:ln w="0">
            <a:noFill/>
            <a:prstDash val="solid"/>
          </a:ln>
        </p:spPr>
        <p:txBody>
          <a:bodyPr wrap="square" lIns="0" tIns="0" rIns="0" bIns="0" anchor="t">
            <a:normAutofit/>
          </a:bodyPr>
          <a:lstStyle/>
          <a:p>
            <a:pPr algn="ctr">
              <a:defRPr sz="1500" b="1">
                <a:solidFill>
                  <a:srgbClr val="000000"/>
                </a:solidFill>
                <a:latin typeface="Consolas"/>
                <a:ea typeface="Consolas"/>
                <a:cs typeface="Consolas"/>
              </a:defRPr>
            </a:pPr>
            <a:r>
              <a:rPr sz="1500" b="1">
                <a:solidFill>
                  <a:srgbClr val="000000"/>
                </a:solidFill>
                <a:latin typeface="Consolas"/>
                <a:ea typeface="Consolas"/>
                <a:cs typeface="Consolas"/>
              </a:rPr>
              <a:t>string userId = _userManager.GetUserId(User)!;</a:t>
            </a:r>
          </a:p>
        </p:txBody>
      </p:sp>
    </p:spTree>
    <p:extLst>
      <p:ext uri="{BB962C8B-B14F-4D97-AF65-F5344CB8AC3E}">
        <p14:creationId xmlns:p14="http://schemas.microsoft.com/office/powerpoint/2010/main" val="1613875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94E2BCB-70B4-4362-B854-D3F7C4302DCE}"/>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5">
            <a:extLst>
              <a:ext uri="{FF2B5EF4-FFF2-40B4-BE49-F238E27FC236}">
                <a16:creationId xmlns:a16="http://schemas.microsoft.com/office/drawing/2014/main" id="{39D2162F-313E-41B1-8A38-A4150E13DB24}"/>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ApplicationUser permite añadir datos propios al perfil</a:t>
            </a:r>
          </a:p>
        </p:txBody>
      </p:sp>
      <p:cxnSp>
        <p:nvCxnSpPr>
          <p:cNvPr id="11" name="Conector recto de flecha 10"/>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321B39CF-A65C-427C-B629-3AD161A0146E}"/>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DDA47C15-E172-4A92-A2E2-B138B2A79C12}"/>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25</a:t>
            </a:r>
          </a:p>
        </p:txBody>
      </p:sp>
      <p:sp>
        <p:nvSpPr>
          <p:cNvPr id="6" name="Rectángulo: esquinas redondeadas 5">
            <a:extLst>
              <a:ext uri="{FF2B5EF4-FFF2-40B4-BE49-F238E27FC236}">
                <a16:creationId xmlns:a16="http://schemas.microsoft.com/office/drawing/2014/main" id="{70CB9CDC-3C68-4671-9A50-D5D3EBD1056B}"/>
              </a:ext>
            </a:extLst>
          </p:cNvPr>
          <p:cNvSpPr>
            <a:spLocks noGrp="1"/>
          </p:cNvSpPr>
          <p:nvPr/>
        </p:nvSpPr>
        <p:spPr>
          <a:xfrm>
            <a:off x="400050" y="1809750"/>
            <a:ext cx="11391900" cy="4057650"/>
          </a:xfrm>
          <a:prstGeom prst="roundRect">
            <a:avLst>
              <a:gd name="adj" fmla="val 2817"/>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E682B9C2-170A-4DD3-8B05-4123B664D6A2}"/>
              </a:ext>
            </a:extLst>
          </p:cNvPr>
          <p:cNvSpPr>
            <a:spLocks noGrp="1"/>
          </p:cNvSpPr>
          <p:nvPr/>
        </p:nvSpPr>
        <p:spPr>
          <a:xfrm>
            <a:off x="628650" y="1981200"/>
            <a:ext cx="10934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MODELO DE USUARIO PERSONALIZADO</a:t>
            </a:r>
          </a:p>
        </p:txBody>
      </p:sp>
      <p:sp>
        <p:nvSpPr>
          <p:cNvPr id="8" name="Rectángulo 7">
            <a:extLst>
              <a:ext uri="{FF2B5EF4-FFF2-40B4-BE49-F238E27FC236}">
                <a16:creationId xmlns:a16="http://schemas.microsoft.com/office/drawing/2014/main" id="{7D8A1BBF-E1ED-43DA-9D48-5B745BD8BAB8}"/>
              </a:ext>
            </a:extLst>
          </p:cNvPr>
          <p:cNvSpPr>
            <a:spLocks noGrp="1"/>
          </p:cNvSpPr>
          <p:nvPr/>
        </p:nvSpPr>
        <p:spPr>
          <a:xfrm>
            <a:off x="628650" y="2362200"/>
            <a:ext cx="10934700" cy="3314700"/>
          </a:xfrm>
          <a:prstGeom prst="rect">
            <a:avLst/>
          </a:prstGeom>
          <a:noFill/>
          <a:ln w="0">
            <a:noFill/>
            <a:prstDash val="solid"/>
          </a:ln>
        </p:spPr>
        <p:txBody>
          <a:bodyPr wrap="square" lIns="0" tIns="0" rIns="0" bIns="0" anchor="t">
            <a:normAutofit/>
          </a:bodyPr>
          <a:lstStyle/>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public class ApplicationUser : IdentityUser</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[PersonalData]</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public string? Nombre { get; set; }</a:t>
            </a:r>
          </a:p>
          <a:p>
            <a:endParaRPr sz="1388" b="0">
              <a:solidFill>
                <a:srgbClr val="14213D"/>
              </a:solidFill>
              <a:latin typeface="Consolas"/>
              <a:ea typeface="Consolas"/>
              <a:cs typeface="Consolas"/>
            </a:endParaRP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public DateOnly? FechaNacimiento { get; set; }</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a:p>
            <a:endParaRPr sz="1388" b="0">
              <a:solidFill>
                <a:srgbClr val="14213D"/>
              </a:solidFill>
              <a:latin typeface="Consolas"/>
              <a:ea typeface="Consolas"/>
              <a:cs typeface="Consolas"/>
            </a:endParaRP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public class ApplicationDbContext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 IdentityDbContext&lt;ApplicationUser&gt;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public ApplicationDbContext(</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DbContextOptions&lt;ApplicationDbContext&gt; options)</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        : base(options) { }</a:t>
            </a:r>
          </a:p>
          <a:p>
            <a:pPr algn="l">
              <a:defRPr sz="1388" b="0">
                <a:solidFill>
                  <a:srgbClr val="14213D"/>
                </a:solidFill>
                <a:latin typeface="Consolas"/>
                <a:ea typeface="Consolas"/>
                <a:cs typeface="Consolas"/>
              </a:defRPr>
            </a:pPr>
            <a:r>
              <a:rPr sz="1388" b="0">
                <a:solidFill>
                  <a:srgbClr val="14213D"/>
                </a:solidFill>
                <a:latin typeface="Consolas"/>
                <a:ea typeface="Consolas"/>
                <a:cs typeface="Consolas"/>
              </a:rPr>
              <a:t>}</a:t>
            </a:r>
          </a:p>
        </p:txBody>
      </p:sp>
    </p:spTree>
    <p:extLst>
      <p:ext uri="{BB962C8B-B14F-4D97-AF65-F5344CB8AC3E}">
        <p14:creationId xmlns:p14="http://schemas.microsoft.com/office/powerpoint/2010/main" val="13250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C583FE05-53E1-4E6D-8C9D-06516AEB4CAD}"/>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6">
            <a:extLst>
              <a:ext uri="{FF2B5EF4-FFF2-40B4-BE49-F238E27FC236}">
                <a16:creationId xmlns:a16="http://schemas.microsoft.com/office/drawing/2014/main" id="{72C62AB7-55D4-40E4-A3F0-86E9EDBA3E87}"/>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Cambiar el modelo exige una migración de EF Core</a:t>
            </a:r>
          </a:p>
        </p:txBody>
      </p:sp>
      <p:cxnSp>
        <p:nvCxnSpPr>
          <p:cNvPr id="26" name="Conector recto de flecha 25"/>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138BE1E7-333C-4579-B9FE-AA841D94E757}"/>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B60D0A51-A04A-4A3A-9562-E3533DB4920D}"/>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26</a:t>
            </a:r>
          </a:p>
        </p:txBody>
      </p:sp>
      <p:cxnSp>
        <p:nvCxnSpPr>
          <p:cNvPr id="29" name="Conector recto de flecha 28"/>
          <p:cNvCxnSpPr/>
          <p:nvPr/>
        </p:nvCxnSpPr>
        <p:spPr>
          <a:xfrm>
            <a:off x="3143250" y="3286125"/>
            <a:ext cx="228600" cy="0"/>
          </a:xfrm>
          <a:prstGeom prst="straightConnector1">
            <a:avLst/>
          </a:prstGeom>
          <a:ln w="28575">
            <a:solidFill>
              <a:srgbClr val="3D8DFF"/>
            </a:solidFill>
            <a:prstDash val="solid"/>
          </a:ln>
        </p:spPr>
      </p:cxnSp>
      <p:cxnSp>
        <p:nvCxnSpPr>
          <p:cNvPr id="30" name="Conector recto de flecha 29"/>
          <p:cNvCxnSpPr/>
          <p:nvPr/>
        </p:nvCxnSpPr>
        <p:spPr>
          <a:xfrm>
            <a:off x="5981700" y="3286125"/>
            <a:ext cx="228600" cy="0"/>
          </a:xfrm>
          <a:prstGeom prst="straightConnector1">
            <a:avLst/>
          </a:prstGeom>
          <a:ln w="28575">
            <a:solidFill>
              <a:srgbClr val="3D8DFF"/>
            </a:solidFill>
            <a:prstDash val="solid"/>
          </a:ln>
        </p:spPr>
      </p:cxnSp>
      <p:cxnSp>
        <p:nvCxnSpPr>
          <p:cNvPr id="31" name="Conector recto de flecha 30"/>
          <p:cNvCxnSpPr/>
          <p:nvPr/>
        </p:nvCxnSpPr>
        <p:spPr>
          <a:xfrm>
            <a:off x="8820150" y="3286125"/>
            <a:ext cx="228600" cy="0"/>
          </a:xfrm>
          <a:prstGeom prst="straightConnector1">
            <a:avLst/>
          </a:prstGeom>
          <a:ln w="28575">
            <a:solidFill>
              <a:srgbClr val="3D8DFF"/>
            </a:solidFill>
            <a:prstDash val="solid"/>
          </a:ln>
        </p:spPr>
      </p:cxnSp>
      <p:sp>
        <p:nvSpPr>
          <p:cNvPr id="9" name="Rectángulo: esquinas redondeadas 8">
            <a:extLst>
              <a:ext uri="{FF2B5EF4-FFF2-40B4-BE49-F238E27FC236}">
                <a16:creationId xmlns:a16="http://schemas.microsoft.com/office/drawing/2014/main" id="{53A86D38-05EF-41E0-B716-EE5F325C963A}"/>
              </a:ext>
            </a:extLst>
          </p:cNvPr>
          <p:cNvSpPr>
            <a:spLocks noGrp="1"/>
          </p:cNvSpPr>
          <p:nvPr/>
        </p:nvSpPr>
        <p:spPr>
          <a:xfrm>
            <a:off x="533400" y="2628900"/>
            <a:ext cx="260985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0" name="Rectángulo 9">
            <a:extLst>
              <a:ext uri="{FF2B5EF4-FFF2-40B4-BE49-F238E27FC236}">
                <a16:creationId xmlns:a16="http://schemas.microsoft.com/office/drawing/2014/main" id="{76AC0264-949E-4434-9E5B-942DEDC67BB6}"/>
              </a:ext>
            </a:extLst>
          </p:cNvPr>
          <p:cNvSpPr>
            <a:spLocks noGrp="1"/>
          </p:cNvSpPr>
          <p:nvPr/>
        </p:nvSpPr>
        <p:spPr>
          <a:xfrm>
            <a:off x="666750" y="2752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1</a:t>
            </a:r>
          </a:p>
        </p:txBody>
      </p:sp>
      <p:sp>
        <p:nvSpPr>
          <p:cNvPr id="11" name="Rectángulo 10">
            <a:extLst>
              <a:ext uri="{FF2B5EF4-FFF2-40B4-BE49-F238E27FC236}">
                <a16:creationId xmlns:a16="http://schemas.microsoft.com/office/drawing/2014/main" id="{596B6CDE-D2B4-44F6-A20E-12B307AC1442}"/>
              </a:ext>
            </a:extLst>
          </p:cNvPr>
          <p:cNvSpPr>
            <a:spLocks noGrp="1"/>
          </p:cNvSpPr>
          <p:nvPr/>
        </p:nvSpPr>
        <p:spPr>
          <a:xfrm>
            <a:off x="666750" y="3086100"/>
            <a:ext cx="234315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Modificar clase</a:t>
            </a:r>
          </a:p>
        </p:txBody>
      </p:sp>
      <p:sp>
        <p:nvSpPr>
          <p:cNvPr id="12" name="Rectángulo: esquinas redondeadas 11">
            <a:extLst>
              <a:ext uri="{FF2B5EF4-FFF2-40B4-BE49-F238E27FC236}">
                <a16:creationId xmlns:a16="http://schemas.microsoft.com/office/drawing/2014/main" id="{994B7CD9-6446-48A0-B959-66AD87F98B70}"/>
              </a:ext>
            </a:extLst>
          </p:cNvPr>
          <p:cNvSpPr>
            <a:spLocks noGrp="1"/>
          </p:cNvSpPr>
          <p:nvPr/>
        </p:nvSpPr>
        <p:spPr>
          <a:xfrm>
            <a:off x="3371850" y="2628900"/>
            <a:ext cx="260985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3" name="Rectángulo 12">
            <a:extLst>
              <a:ext uri="{FF2B5EF4-FFF2-40B4-BE49-F238E27FC236}">
                <a16:creationId xmlns:a16="http://schemas.microsoft.com/office/drawing/2014/main" id="{6518D081-29DC-4FCD-B42D-D2F25600A112}"/>
              </a:ext>
            </a:extLst>
          </p:cNvPr>
          <p:cNvSpPr>
            <a:spLocks noGrp="1"/>
          </p:cNvSpPr>
          <p:nvPr/>
        </p:nvSpPr>
        <p:spPr>
          <a:xfrm>
            <a:off x="3505200" y="2752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2</a:t>
            </a:r>
          </a:p>
        </p:txBody>
      </p:sp>
      <p:sp>
        <p:nvSpPr>
          <p:cNvPr id="14" name="Rectángulo 13">
            <a:extLst>
              <a:ext uri="{FF2B5EF4-FFF2-40B4-BE49-F238E27FC236}">
                <a16:creationId xmlns:a16="http://schemas.microsoft.com/office/drawing/2014/main" id="{85F09CDE-C5B3-47E6-A250-AE541787AA5B}"/>
              </a:ext>
            </a:extLst>
          </p:cNvPr>
          <p:cNvSpPr>
            <a:spLocks noGrp="1"/>
          </p:cNvSpPr>
          <p:nvPr/>
        </p:nvSpPr>
        <p:spPr>
          <a:xfrm>
            <a:off x="3505200" y="3086100"/>
            <a:ext cx="234315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Crear migración</a:t>
            </a:r>
          </a:p>
        </p:txBody>
      </p:sp>
      <p:sp>
        <p:nvSpPr>
          <p:cNvPr id="15" name="Rectángulo: esquinas redondeadas 14">
            <a:extLst>
              <a:ext uri="{FF2B5EF4-FFF2-40B4-BE49-F238E27FC236}">
                <a16:creationId xmlns:a16="http://schemas.microsoft.com/office/drawing/2014/main" id="{5E108DD8-3D62-4D50-A878-AAF3D48B3092}"/>
              </a:ext>
            </a:extLst>
          </p:cNvPr>
          <p:cNvSpPr>
            <a:spLocks noGrp="1"/>
          </p:cNvSpPr>
          <p:nvPr/>
        </p:nvSpPr>
        <p:spPr>
          <a:xfrm>
            <a:off x="6210300" y="2628900"/>
            <a:ext cx="260985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6" name="Rectángulo 15">
            <a:extLst>
              <a:ext uri="{FF2B5EF4-FFF2-40B4-BE49-F238E27FC236}">
                <a16:creationId xmlns:a16="http://schemas.microsoft.com/office/drawing/2014/main" id="{F70504D7-8D47-4798-9860-EBCB5DB557C3}"/>
              </a:ext>
            </a:extLst>
          </p:cNvPr>
          <p:cNvSpPr>
            <a:spLocks noGrp="1"/>
          </p:cNvSpPr>
          <p:nvPr/>
        </p:nvSpPr>
        <p:spPr>
          <a:xfrm>
            <a:off x="6343650" y="2752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3</a:t>
            </a:r>
          </a:p>
        </p:txBody>
      </p:sp>
      <p:sp>
        <p:nvSpPr>
          <p:cNvPr id="17" name="Rectángulo 16">
            <a:extLst>
              <a:ext uri="{FF2B5EF4-FFF2-40B4-BE49-F238E27FC236}">
                <a16:creationId xmlns:a16="http://schemas.microsoft.com/office/drawing/2014/main" id="{C77E948F-4EFE-472C-AF9C-70ED26DB39B0}"/>
              </a:ext>
            </a:extLst>
          </p:cNvPr>
          <p:cNvSpPr>
            <a:spLocks noGrp="1"/>
          </p:cNvSpPr>
          <p:nvPr/>
        </p:nvSpPr>
        <p:spPr>
          <a:xfrm>
            <a:off x="6343650" y="3086100"/>
            <a:ext cx="234315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Revisar</a:t>
            </a:r>
          </a:p>
        </p:txBody>
      </p:sp>
      <p:sp>
        <p:nvSpPr>
          <p:cNvPr id="18" name="Rectángulo: esquinas redondeadas 17">
            <a:extLst>
              <a:ext uri="{FF2B5EF4-FFF2-40B4-BE49-F238E27FC236}">
                <a16:creationId xmlns:a16="http://schemas.microsoft.com/office/drawing/2014/main" id="{E7F79EB2-13D7-4809-97E4-0B795623629F}"/>
              </a:ext>
            </a:extLst>
          </p:cNvPr>
          <p:cNvSpPr>
            <a:spLocks noGrp="1"/>
          </p:cNvSpPr>
          <p:nvPr/>
        </p:nvSpPr>
        <p:spPr>
          <a:xfrm>
            <a:off x="9048750" y="2628900"/>
            <a:ext cx="2609850" cy="1314450"/>
          </a:xfrm>
          <a:prstGeom prst="roundRect">
            <a:avLst>
              <a:gd name="adj" fmla="val 8696"/>
            </a:avLst>
          </a:prstGeom>
          <a:solidFill>
            <a:srgbClr val="DCEEFF"/>
          </a:solidFill>
          <a:ln w="9525">
            <a:solidFill>
              <a:srgbClr val="B8BCC4"/>
            </a:solidFill>
            <a:prstDash val="solid"/>
          </a:ln>
        </p:spPr>
        <p:txBody>
          <a:bodyPr/>
          <a:lstStyle/>
          <a:p>
            <a:endParaRPr lang="es-ES"/>
          </a:p>
        </p:txBody>
      </p:sp>
      <p:sp>
        <p:nvSpPr>
          <p:cNvPr id="19" name="Rectángulo 18">
            <a:extLst>
              <a:ext uri="{FF2B5EF4-FFF2-40B4-BE49-F238E27FC236}">
                <a16:creationId xmlns:a16="http://schemas.microsoft.com/office/drawing/2014/main" id="{9D8C0929-6F1B-4F7A-A53C-804AEEF70CFD}"/>
              </a:ext>
            </a:extLst>
          </p:cNvPr>
          <p:cNvSpPr>
            <a:spLocks noGrp="1"/>
          </p:cNvSpPr>
          <p:nvPr/>
        </p:nvSpPr>
        <p:spPr>
          <a:xfrm>
            <a:off x="9182100" y="275272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4</a:t>
            </a:r>
          </a:p>
        </p:txBody>
      </p:sp>
      <p:sp>
        <p:nvSpPr>
          <p:cNvPr id="20" name="Rectángulo 19">
            <a:extLst>
              <a:ext uri="{FF2B5EF4-FFF2-40B4-BE49-F238E27FC236}">
                <a16:creationId xmlns:a16="http://schemas.microsoft.com/office/drawing/2014/main" id="{70A1DA38-6985-445F-AAFC-1764D4516EEA}"/>
              </a:ext>
            </a:extLst>
          </p:cNvPr>
          <p:cNvSpPr>
            <a:spLocks noGrp="1"/>
          </p:cNvSpPr>
          <p:nvPr/>
        </p:nvSpPr>
        <p:spPr>
          <a:xfrm>
            <a:off x="9182100" y="3086100"/>
            <a:ext cx="234315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Actualizar BD</a:t>
            </a:r>
          </a:p>
        </p:txBody>
      </p:sp>
      <p:sp>
        <p:nvSpPr>
          <p:cNvPr id="21" name="Rectángulo: esquinas redondeadas 20">
            <a:extLst>
              <a:ext uri="{FF2B5EF4-FFF2-40B4-BE49-F238E27FC236}">
                <a16:creationId xmlns:a16="http://schemas.microsoft.com/office/drawing/2014/main" id="{C1BF8C0B-5A5B-4C3A-A639-BE134635ECCC}"/>
              </a:ext>
            </a:extLst>
          </p:cNvPr>
          <p:cNvSpPr>
            <a:spLocks noGrp="1"/>
          </p:cNvSpPr>
          <p:nvPr/>
        </p:nvSpPr>
        <p:spPr>
          <a:xfrm>
            <a:off x="2057400" y="4514850"/>
            <a:ext cx="8077200" cy="1181100"/>
          </a:xfrm>
          <a:prstGeom prst="roundRect">
            <a:avLst>
              <a:gd name="adj" fmla="val 9677"/>
            </a:avLst>
          </a:prstGeom>
          <a:solidFill>
            <a:srgbClr val="F1F5F9"/>
          </a:solidFill>
          <a:ln w="9525">
            <a:solidFill>
              <a:srgbClr val="B8BCC4"/>
            </a:solidFill>
            <a:prstDash val="solid"/>
          </a:ln>
        </p:spPr>
        <p:txBody>
          <a:bodyPr/>
          <a:lstStyle/>
          <a:p>
            <a:endParaRPr lang="es-ES"/>
          </a:p>
        </p:txBody>
      </p:sp>
      <p:sp>
        <p:nvSpPr>
          <p:cNvPr id="22" name="Rectángulo 21">
            <a:extLst>
              <a:ext uri="{FF2B5EF4-FFF2-40B4-BE49-F238E27FC236}">
                <a16:creationId xmlns:a16="http://schemas.microsoft.com/office/drawing/2014/main" id="{A990804F-FA1A-4CB9-8AF2-A77C018D7708}"/>
              </a:ext>
            </a:extLst>
          </p:cNvPr>
          <p:cNvSpPr>
            <a:spLocks noGrp="1"/>
          </p:cNvSpPr>
          <p:nvPr/>
        </p:nvSpPr>
        <p:spPr>
          <a:xfrm>
            <a:off x="2286000" y="4686300"/>
            <a:ext cx="7620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TERMINAL</a:t>
            </a:r>
          </a:p>
        </p:txBody>
      </p:sp>
      <p:sp>
        <p:nvSpPr>
          <p:cNvPr id="23" name="Rectángulo 22">
            <a:extLst>
              <a:ext uri="{FF2B5EF4-FFF2-40B4-BE49-F238E27FC236}">
                <a16:creationId xmlns:a16="http://schemas.microsoft.com/office/drawing/2014/main" id="{FD31B659-0666-4D9B-8511-79FABCBD72A3}"/>
              </a:ext>
            </a:extLst>
          </p:cNvPr>
          <p:cNvSpPr>
            <a:spLocks noGrp="1"/>
          </p:cNvSpPr>
          <p:nvPr/>
        </p:nvSpPr>
        <p:spPr>
          <a:xfrm>
            <a:off x="2286000" y="5067300"/>
            <a:ext cx="7620000" cy="438150"/>
          </a:xfrm>
          <a:prstGeom prst="rect">
            <a:avLst/>
          </a:prstGeom>
          <a:noFill/>
          <a:ln w="0">
            <a:noFill/>
            <a:prstDash val="solid"/>
          </a:ln>
        </p:spPr>
        <p:txBody>
          <a:bodyPr wrap="square" lIns="0" tIns="0" rIns="0" bIns="0" anchor="t">
            <a:normAutofit fontScale="91270"/>
          </a:bodyPr>
          <a:lstStyle/>
          <a:p>
            <a:pPr algn="l">
              <a:defRPr sz="1575" b="0">
                <a:solidFill>
                  <a:srgbClr val="14213D"/>
                </a:solidFill>
                <a:latin typeface="Consolas"/>
                <a:ea typeface="Consolas"/>
                <a:cs typeface="Consolas"/>
              </a:defRPr>
            </a:pPr>
            <a:r>
              <a:rPr sz="1575" b="0">
                <a:solidFill>
                  <a:srgbClr val="14213D"/>
                </a:solidFill>
                <a:latin typeface="Consolas"/>
                <a:ea typeface="Consolas"/>
                <a:cs typeface="Consolas"/>
              </a:rPr>
              <a:t>dotnet ef migrations add AgregarNombreUsuario</a:t>
            </a:r>
          </a:p>
          <a:p>
            <a:pPr algn="l">
              <a:defRPr sz="1575" b="0">
                <a:solidFill>
                  <a:srgbClr val="14213D"/>
                </a:solidFill>
                <a:latin typeface="Consolas"/>
                <a:ea typeface="Consolas"/>
                <a:cs typeface="Consolas"/>
              </a:defRPr>
            </a:pPr>
            <a:r>
              <a:rPr sz="1575" b="0">
                <a:solidFill>
                  <a:srgbClr val="14213D"/>
                </a:solidFill>
                <a:latin typeface="Consolas"/>
                <a:ea typeface="Consolas"/>
                <a:cs typeface="Consolas"/>
              </a:rPr>
              <a:t>dotnet ef database update</a:t>
            </a:r>
          </a:p>
        </p:txBody>
      </p:sp>
    </p:spTree>
    <p:extLst>
      <p:ext uri="{BB962C8B-B14F-4D97-AF65-F5344CB8AC3E}">
        <p14:creationId xmlns:p14="http://schemas.microsoft.com/office/powerpoint/2010/main" val="149360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F5A1545-4780-4A4A-A56B-6628F36AE802}"/>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7">
            <a:extLst>
              <a:ext uri="{FF2B5EF4-FFF2-40B4-BE49-F238E27FC236}">
                <a16:creationId xmlns:a16="http://schemas.microsoft.com/office/drawing/2014/main" id="{0E997ADB-3F6F-4C76-9EF3-A16DE4BACBDF}"/>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IdentityOptions adapta la política de seguridad</a:t>
            </a:r>
          </a:p>
        </p:txBody>
      </p:sp>
      <p:cxnSp>
        <p:nvCxnSpPr>
          <p:cNvPr id="11" name="Conector recto de flecha 10"/>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EE50FC6C-7CAF-4362-8C5D-44D02EE80DEE}"/>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E66D2ED8-18C0-488F-941D-E68659B10EAC}"/>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27</a:t>
            </a:r>
          </a:p>
        </p:txBody>
      </p:sp>
      <p:sp>
        <p:nvSpPr>
          <p:cNvPr id="6" name="Rectángulo: esquinas redondeadas 5">
            <a:extLst>
              <a:ext uri="{FF2B5EF4-FFF2-40B4-BE49-F238E27FC236}">
                <a16:creationId xmlns:a16="http://schemas.microsoft.com/office/drawing/2014/main" id="{F108252A-07F0-401C-B4DE-CC3428D0A71B}"/>
              </a:ext>
            </a:extLst>
          </p:cNvPr>
          <p:cNvSpPr>
            <a:spLocks noGrp="1"/>
          </p:cNvSpPr>
          <p:nvPr/>
        </p:nvSpPr>
        <p:spPr>
          <a:xfrm>
            <a:off x="400050" y="1809750"/>
            <a:ext cx="11391900" cy="4191000"/>
          </a:xfrm>
          <a:prstGeom prst="roundRect">
            <a:avLst>
              <a:gd name="adj" fmla="val 2727"/>
            </a:avLst>
          </a:prstGeom>
          <a:solidFill>
            <a:srgbClr val="F1F5F9"/>
          </a:solidFill>
          <a:ln w="9525">
            <a:solidFill>
              <a:srgbClr val="B8BCC4"/>
            </a:solidFill>
            <a:prstDash val="solid"/>
          </a:ln>
        </p:spPr>
        <p:txBody>
          <a:bodyPr/>
          <a:lstStyle/>
          <a:p>
            <a:endParaRPr lang="es-ES"/>
          </a:p>
        </p:txBody>
      </p:sp>
      <p:sp>
        <p:nvSpPr>
          <p:cNvPr id="7" name="Rectángulo 6">
            <a:extLst>
              <a:ext uri="{FF2B5EF4-FFF2-40B4-BE49-F238E27FC236}">
                <a16:creationId xmlns:a16="http://schemas.microsoft.com/office/drawing/2014/main" id="{E8FE37AA-2198-41D8-AB4B-6C639F3A462E}"/>
              </a:ext>
            </a:extLst>
          </p:cNvPr>
          <p:cNvSpPr>
            <a:spLocks noGrp="1"/>
          </p:cNvSpPr>
          <p:nvPr/>
        </p:nvSpPr>
        <p:spPr>
          <a:xfrm>
            <a:off x="628650" y="1981200"/>
            <a:ext cx="10934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CONFIGURACIÓN · contraseñas, bloqueo, usuario y cookie</a:t>
            </a:r>
          </a:p>
        </p:txBody>
      </p:sp>
      <p:sp>
        <p:nvSpPr>
          <p:cNvPr id="8" name="Rectángulo 7">
            <a:extLst>
              <a:ext uri="{FF2B5EF4-FFF2-40B4-BE49-F238E27FC236}">
                <a16:creationId xmlns:a16="http://schemas.microsoft.com/office/drawing/2014/main" id="{BBA384A1-AB40-438C-A5A6-B0E10387D3B6}"/>
              </a:ext>
            </a:extLst>
          </p:cNvPr>
          <p:cNvSpPr>
            <a:spLocks noGrp="1"/>
          </p:cNvSpPr>
          <p:nvPr/>
        </p:nvSpPr>
        <p:spPr>
          <a:xfrm>
            <a:off x="628650" y="2362200"/>
            <a:ext cx="10934700" cy="3448050"/>
          </a:xfrm>
          <a:prstGeom prst="rect">
            <a:avLst/>
          </a:prstGeom>
          <a:noFill/>
          <a:ln w="0">
            <a:noFill/>
            <a:prstDash val="solid"/>
          </a:ln>
        </p:spPr>
        <p:txBody>
          <a:bodyPr wrap="square" lIns="0" tIns="0" rIns="0" bIns="0" anchor="t">
            <a:normAutofit/>
          </a:bodyPr>
          <a:lstStyle/>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builder.Services.Configure&lt;IdentityOptions&gt;(opciones =&gt;</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opciones.Password.RequiredLength = 10;</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opciones.Password.RequireNonAlphanumeric = true;</a:t>
            </a:r>
          </a:p>
          <a:p>
            <a:endParaRPr sz="1200" b="0">
              <a:solidFill>
                <a:srgbClr val="14213D"/>
              </a:solidFill>
              <a:latin typeface="Consolas"/>
              <a:ea typeface="Consolas"/>
              <a:cs typeface="Consolas"/>
            </a:endParaRP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opciones.Lockout.MaxFailedAccessAttempts = 5;</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opciones.Lockout.DefaultLockoutTimeSpan =</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TimeSpan.FromMinutes(10);</a:t>
            </a:r>
          </a:p>
          <a:p>
            <a:endParaRPr sz="1200" b="0">
              <a:solidFill>
                <a:srgbClr val="14213D"/>
              </a:solidFill>
              <a:latin typeface="Consolas"/>
              <a:ea typeface="Consolas"/>
              <a:cs typeface="Consolas"/>
            </a:endParaRP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opciones.User.RequireUniqueEmail = true;</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opciones.SignIn.RequireConfirmedAccount = false;</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a:t>
            </a:r>
          </a:p>
          <a:p>
            <a:endParaRPr sz="1200" b="0">
              <a:solidFill>
                <a:srgbClr val="14213D"/>
              </a:solidFill>
              <a:latin typeface="Consolas"/>
              <a:ea typeface="Consolas"/>
              <a:cs typeface="Consolas"/>
            </a:endParaRP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builder.Services.ConfigureApplicationCookie(opciones =&gt;</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opciones.ExpireTimeSpan = TimeSpan.FromMinutes(30);</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    opciones.SlidingExpiration = true;</a:t>
            </a:r>
          </a:p>
          <a:p>
            <a:pPr algn="l">
              <a:defRPr sz="1200" b="0">
                <a:solidFill>
                  <a:srgbClr val="14213D"/>
                </a:solidFill>
                <a:latin typeface="Consolas"/>
                <a:ea typeface="Consolas"/>
                <a:cs typeface="Consolas"/>
              </a:defRPr>
            </a:pPr>
            <a:r>
              <a:rPr sz="1200" b="0">
                <a:solidFill>
                  <a:srgbClr val="14213D"/>
                </a:solidFill>
                <a:latin typeface="Consolas"/>
                <a:ea typeface="Consolas"/>
                <a:cs typeface="Consolas"/>
              </a:rPr>
              <a:t>});</a:t>
            </a:r>
          </a:p>
        </p:txBody>
      </p:sp>
    </p:spTree>
    <p:extLst>
      <p:ext uri="{BB962C8B-B14F-4D97-AF65-F5344CB8AC3E}">
        <p14:creationId xmlns:p14="http://schemas.microsoft.com/office/powerpoint/2010/main" val="1773193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317B905-5342-4548-9CA0-F0110B6FDF37}"/>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8">
            <a:extLst>
              <a:ext uri="{FF2B5EF4-FFF2-40B4-BE49-F238E27FC236}">
                <a16:creationId xmlns:a16="http://schemas.microsoft.com/office/drawing/2014/main" id="{299823A6-572C-4131-BDD6-36508BAB2709}"/>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La confirmación de correo puede ser opcional</a:t>
            </a:r>
          </a:p>
        </p:txBody>
      </p:sp>
      <p:cxnSp>
        <p:nvCxnSpPr>
          <p:cNvPr id="15" name="Conector recto de flecha 14"/>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D16E9C26-9EBA-4E51-B06E-4251ED1BEFF7}"/>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D8A289CB-CCCC-41DD-A380-2415AB702DDC}"/>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28</a:t>
            </a:r>
          </a:p>
        </p:txBody>
      </p:sp>
      <p:sp>
        <p:nvSpPr>
          <p:cNvPr id="6" name="Rectángulo 5">
            <a:extLst>
              <a:ext uri="{FF2B5EF4-FFF2-40B4-BE49-F238E27FC236}">
                <a16:creationId xmlns:a16="http://schemas.microsoft.com/office/drawing/2014/main" id="{87D1EB09-5FBB-42BC-B09C-FE0915D4A4BB}"/>
              </a:ext>
            </a:extLst>
          </p:cNvPr>
          <p:cNvSpPr>
            <a:spLocks noGrp="1"/>
          </p:cNvSpPr>
          <p:nvPr/>
        </p:nvSpPr>
        <p:spPr>
          <a:xfrm>
            <a:off x="400050" y="2019300"/>
            <a:ext cx="5286375"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Sin confirmación obligatoria</a:t>
            </a:r>
          </a:p>
        </p:txBody>
      </p:sp>
      <p:sp>
        <p:nvSpPr>
          <p:cNvPr id="7" name="Rectángulo 6">
            <a:extLst>
              <a:ext uri="{FF2B5EF4-FFF2-40B4-BE49-F238E27FC236}">
                <a16:creationId xmlns:a16="http://schemas.microsoft.com/office/drawing/2014/main" id="{8C4E08C4-B697-4C36-9FFF-4949145C7B83}"/>
              </a:ext>
            </a:extLst>
          </p:cNvPr>
          <p:cNvSpPr>
            <a:spLocks noGrp="1"/>
          </p:cNvSpPr>
          <p:nvPr/>
        </p:nvSpPr>
        <p:spPr>
          <a:xfrm>
            <a:off x="400050" y="2609850"/>
            <a:ext cx="5286375" cy="2743200"/>
          </a:xfrm>
          <a:prstGeom prst="rect">
            <a:avLst/>
          </a:prstGeom>
          <a:noFill/>
          <a:ln w="0">
            <a:noFill/>
            <a:prstDash val="solid"/>
          </a:ln>
        </p:spPr>
        <p:txBody>
          <a:bodyPr wrap="square" lIns="0" tIns="0" rIns="0" bIns="0" anchor="t">
            <a:normAutofit/>
          </a:bodyPr>
          <a:lstStyle/>
          <a:p>
            <a:pPr algn="l">
              <a:defRPr sz="1575" b="0">
                <a:solidFill>
                  <a:srgbClr val="565E6B"/>
                </a:solidFill>
                <a:latin typeface="Arial"/>
                <a:ea typeface="Arial"/>
                <a:cs typeface="Arial"/>
              </a:defRPr>
            </a:pPr>
            <a:r>
              <a:rPr sz="1575" b="0">
                <a:solidFill>
                  <a:srgbClr val="565E6B"/>
                </a:solidFill>
                <a:latin typeface="Arial"/>
                <a:ea typeface="Arial"/>
                <a:cs typeface="Arial"/>
              </a:rPr>
              <a:t>• RequireConfirmedAccount = false</a:t>
            </a:r>
          </a:p>
          <a:p>
            <a:pPr algn="l">
              <a:defRPr sz="1575" b="0">
                <a:solidFill>
                  <a:srgbClr val="565E6B"/>
                </a:solidFill>
                <a:latin typeface="Arial"/>
                <a:ea typeface="Arial"/>
                <a:cs typeface="Arial"/>
              </a:defRPr>
            </a:pPr>
            <a:r>
              <a:rPr sz="1575" b="0">
                <a:solidFill>
                  <a:srgbClr val="565E6B"/>
                </a:solidFill>
                <a:latin typeface="Arial"/>
                <a:ea typeface="Arial"/>
                <a:cs typeface="Arial"/>
              </a:rPr>
              <a:t>• El registro puede iniciar sesión</a:t>
            </a:r>
          </a:p>
          <a:p>
            <a:pPr algn="l">
              <a:defRPr sz="1575" b="0">
                <a:solidFill>
                  <a:srgbClr val="565E6B"/>
                </a:solidFill>
                <a:latin typeface="Arial"/>
                <a:ea typeface="Arial"/>
                <a:cs typeface="Arial"/>
              </a:defRPr>
            </a:pPr>
            <a:r>
              <a:rPr sz="1575" b="0">
                <a:solidFill>
                  <a:srgbClr val="565E6B"/>
                </a:solidFill>
                <a:latin typeface="Arial"/>
                <a:ea typeface="Arial"/>
                <a:cs typeface="Arial"/>
              </a:rPr>
              <a:t>• Adecuado para prácticas o bajo riesgo</a:t>
            </a:r>
          </a:p>
          <a:p>
            <a:pPr algn="l">
              <a:defRPr sz="1575" b="0">
                <a:solidFill>
                  <a:srgbClr val="565E6B"/>
                </a:solidFill>
                <a:latin typeface="Arial"/>
                <a:ea typeface="Arial"/>
                <a:cs typeface="Arial"/>
              </a:defRPr>
            </a:pPr>
            <a:r>
              <a:rPr sz="1575" b="0">
                <a:solidFill>
                  <a:srgbClr val="565E6B"/>
                </a:solidFill>
                <a:latin typeface="Arial"/>
                <a:ea typeface="Arial"/>
                <a:cs typeface="Arial"/>
              </a:rPr>
              <a:t>• Debe evitarse confiar en el correo</a:t>
            </a:r>
          </a:p>
        </p:txBody>
      </p:sp>
      <p:cxnSp>
        <p:nvCxnSpPr>
          <p:cNvPr id="20" name="Conector recto de flecha 19"/>
          <p:cNvCxnSpPr/>
          <p:nvPr/>
        </p:nvCxnSpPr>
        <p:spPr>
          <a:xfrm>
            <a:off x="5943600" y="2019300"/>
            <a:ext cx="0" cy="3333750"/>
          </a:xfrm>
          <a:prstGeom prst="straightConnector1">
            <a:avLst/>
          </a:prstGeom>
          <a:ln w="9525">
            <a:solidFill>
              <a:srgbClr val="B8BCC4"/>
            </a:solidFill>
            <a:prstDash val="solid"/>
          </a:ln>
        </p:spPr>
      </p:cxnSp>
      <p:sp>
        <p:nvSpPr>
          <p:cNvPr id="9" name="Rectángulo 8">
            <a:extLst>
              <a:ext uri="{FF2B5EF4-FFF2-40B4-BE49-F238E27FC236}">
                <a16:creationId xmlns:a16="http://schemas.microsoft.com/office/drawing/2014/main" id="{113E4B42-45BB-4F33-AEEF-D235B211A44B}"/>
              </a:ext>
            </a:extLst>
          </p:cNvPr>
          <p:cNvSpPr>
            <a:spLocks noGrp="1"/>
          </p:cNvSpPr>
          <p:nvPr/>
        </p:nvSpPr>
        <p:spPr>
          <a:xfrm>
            <a:off x="6343650" y="2019300"/>
            <a:ext cx="5448300"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Con confirmación obligatoria</a:t>
            </a:r>
          </a:p>
        </p:txBody>
      </p:sp>
      <p:sp>
        <p:nvSpPr>
          <p:cNvPr id="10" name="Rectángulo 9">
            <a:extLst>
              <a:ext uri="{FF2B5EF4-FFF2-40B4-BE49-F238E27FC236}">
                <a16:creationId xmlns:a16="http://schemas.microsoft.com/office/drawing/2014/main" id="{1EAE8EFD-85A0-4078-B6C9-DB7024734AF6}"/>
              </a:ext>
            </a:extLst>
          </p:cNvPr>
          <p:cNvSpPr>
            <a:spLocks noGrp="1"/>
          </p:cNvSpPr>
          <p:nvPr/>
        </p:nvSpPr>
        <p:spPr>
          <a:xfrm>
            <a:off x="6343650" y="2609850"/>
            <a:ext cx="5448300" cy="2743200"/>
          </a:xfrm>
          <a:prstGeom prst="rect">
            <a:avLst/>
          </a:prstGeom>
          <a:noFill/>
          <a:ln w="0">
            <a:noFill/>
            <a:prstDash val="solid"/>
          </a:ln>
        </p:spPr>
        <p:txBody>
          <a:bodyPr wrap="square" lIns="0" tIns="0" rIns="0" bIns="0" anchor="t">
            <a:normAutofit/>
          </a:bodyPr>
          <a:lstStyle/>
          <a:p>
            <a:pPr algn="l">
              <a:defRPr sz="1575" b="0">
                <a:solidFill>
                  <a:srgbClr val="565E6B"/>
                </a:solidFill>
                <a:latin typeface="Arial"/>
                <a:ea typeface="Arial"/>
                <a:cs typeface="Arial"/>
              </a:defRPr>
            </a:pPr>
            <a:r>
              <a:rPr sz="1575" b="0">
                <a:solidFill>
                  <a:srgbClr val="565E6B"/>
                </a:solidFill>
                <a:latin typeface="Arial"/>
                <a:ea typeface="Arial"/>
                <a:cs typeface="Arial"/>
              </a:rPr>
              <a:t>• RequireConfirmedAccount = true</a:t>
            </a:r>
          </a:p>
          <a:p>
            <a:pPr algn="l">
              <a:defRPr sz="1575" b="0">
                <a:solidFill>
                  <a:srgbClr val="565E6B"/>
                </a:solidFill>
                <a:latin typeface="Arial"/>
                <a:ea typeface="Arial"/>
                <a:cs typeface="Arial"/>
              </a:defRPr>
            </a:pPr>
            <a:r>
              <a:rPr sz="1575" b="0">
                <a:solidFill>
                  <a:srgbClr val="565E6B"/>
                </a:solidFill>
                <a:latin typeface="Arial"/>
                <a:ea typeface="Arial"/>
                <a:cs typeface="Arial"/>
              </a:rPr>
              <a:t>• Se envía un enlace con token</a:t>
            </a:r>
          </a:p>
          <a:p>
            <a:pPr algn="l">
              <a:defRPr sz="1575" b="0">
                <a:solidFill>
                  <a:srgbClr val="565E6B"/>
                </a:solidFill>
                <a:latin typeface="Arial"/>
                <a:ea typeface="Arial"/>
                <a:cs typeface="Arial"/>
              </a:defRPr>
            </a:pPr>
            <a:r>
              <a:rPr sz="1575" b="0">
                <a:solidFill>
                  <a:srgbClr val="565E6B"/>
                </a:solidFill>
                <a:latin typeface="Arial"/>
                <a:ea typeface="Arial"/>
                <a:cs typeface="Arial"/>
              </a:rPr>
              <a:t>• El login espera confirmación</a:t>
            </a:r>
          </a:p>
          <a:p>
            <a:pPr algn="l">
              <a:defRPr sz="1575" b="0">
                <a:solidFill>
                  <a:srgbClr val="565E6B"/>
                </a:solidFill>
                <a:latin typeface="Arial"/>
                <a:ea typeface="Arial"/>
                <a:cs typeface="Arial"/>
              </a:defRPr>
            </a:pPr>
            <a:r>
              <a:rPr sz="1575" b="0">
                <a:solidFill>
                  <a:srgbClr val="565E6B"/>
                </a:solidFill>
                <a:latin typeface="Arial"/>
                <a:ea typeface="Arial"/>
                <a:cs typeface="Arial"/>
              </a:rPr>
              <a:t>• Requiere proveedor de correo</a:t>
            </a:r>
          </a:p>
        </p:txBody>
      </p:sp>
      <p:sp>
        <p:nvSpPr>
          <p:cNvPr id="11" name="Rectángulo: esquinas redondeadas 10">
            <a:extLst>
              <a:ext uri="{FF2B5EF4-FFF2-40B4-BE49-F238E27FC236}">
                <a16:creationId xmlns:a16="http://schemas.microsoft.com/office/drawing/2014/main" id="{860C1E2B-465E-4C8C-A868-4503CA53E8FA}"/>
              </a:ext>
            </a:extLst>
          </p:cNvPr>
          <p:cNvSpPr>
            <a:spLocks noGrp="1"/>
          </p:cNvSpPr>
          <p:nvPr/>
        </p:nvSpPr>
        <p:spPr>
          <a:xfrm>
            <a:off x="400050" y="5524500"/>
            <a:ext cx="11391900" cy="476250"/>
          </a:xfrm>
          <a:prstGeom prst="roundRect">
            <a:avLst>
              <a:gd name="adj" fmla="val 24000"/>
            </a:avLst>
          </a:prstGeom>
          <a:solidFill>
            <a:srgbClr val="DCEEFF"/>
          </a:solidFill>
          <a:ln w="0">
            <a:noFill/>
            <a:prstDash val="solid"/>
          </a:ln>
        </p:spPr>
        <p:txBody>
          <a:bodyPr/>
          <a:lstStyle/>
          <a:p>
            <a:endParaRPr lang="es-ES"/>
          </a:p>
        </p:txBody>
      </p:sp>
      <p:sp>
        <p:nvSpPr>
          <p:cNvPr id="12" name="Rectángulo 11">
            <a:extLst>
              <a:ext uri="{FF2B5EF4-FFF2-40B4-BE49-F238E27FC236}">
                <a16:creationId xmlns:a16="http://schemas.microsoft.com/office/drawing/2014/main" id="{534DD210-D3F0-4E29-9EEA-4046EFD6F875}"/>
              </a:ext>
            </a:extLst>
          </p:cNvPr>
          <p:cNvSpPr>
            <a:spLocks noGrp="1"/>
          </p:cNvSpPr>
          <p:nvPr/>
        </p:nvSpPr>
        <p:spPr>
          <a:xfrm>
            <a:off x="628650" y="5657850"/>
            <a:ext cx="10934700" cy="247650"/>
          </a:xfrm>
          <a:prstGeom prst="rect">
            <a:avLst/>
          </a:prstGeom>
          <a:noFill/>
          <a:ln w="0">
            <a:noFill/>
            <a:prstDash val="solid"/>
          </a:ln>
        </p:spPr>
        <p:txBody>
          <a:bodyPr wrap="square" lIns="0" tIns="0" rIns="0" bIns="0" anchor="t">
            <a:norm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La decisión depende del impacto de una cuenta falsa o mal escrita.</a:t>
            </a:r>
          </a:p>
        </p:txBody>
      </p:sp>
    </p:spTree>
    <p:extLst>
      <p:ext uri="{BB962C8B-B14F-4D97-AF65-F5344CB8AC3E}">
        <p14:creationId xmlns:p14="http://schemas.microsoft.com/office/powerpoint/2010/main" val="1157497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444D160A-7AAE-48F8-8465-C0E34F4D7B13}"/>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29">
            <a:extLst>
              <a:ext uri="{FF2B5EF4-FFF2-40B4-BE49-F238E27FC236}">
                <a16:creationId xmlns:a16="http://schemas.microsoft.com/office/drawing/2014/main" id="{23A4997E-07A8-46CE-85A8-B5B8CB9F18E7}"/>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fontScale="85976"/>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Los tokens permiten confirmar y restablecer sin conocer la contraseña</a:t>
            </a:r>
          </a:p>
        </p:txBody>
      </p:sp>
      <p:cxnSp>
        <p:nvCxnSpPr>
          <p:cNvPr id="30" name="Conector recto de flecha 29"/>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4E6F6CAD-BAA3-4D5A-8481-953A5646D407}"/>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B2567E9A-B876-4444-9088-FA9368E82D57}"/>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29</a:t>
            </a:r>
          </a:p>
        </p:txBody>
      </p:sp>
      <p:cxnSp>
        <p:nvCxnSpPr>
          <p:cNvPr id="33" name="Conector recto de flecha 32"/>
          <p:cNvCxnSpPr/>
          <p:nvPr/>
        </p:nvCxnSpPr>
        <p:spPr>
          <a:xfrm>
            <a:off x="2575560" y="3381375"/>
            <a:ext cx="228600" cy="0"/>
          </a:xfrm>
          <a:prstGeom prst="straightConnector1">
            <a:avLst/>
          </a:prstGeom>
          <a:ln w="28575">
            <a:solidFill>
              <a:srgbClr val="3D8DFF"/>
            </a:solidFill>
            <a:prstDash val="solid"/>
          </a:ln>
        </p:spPr>
      </p:cxnSp>
      <p:cxnSp>
        <p:nvCxnSpPr>
          <p:cNvPr id="34" name="Conector recto de flecha 33"/>
          <p:cNvCxnSpPr/>
          <p:nvPr/>
        </p:nvCxnSpPr>
        <p:spPr>
          <a:xfrm>
            <a:off x="4846320" y="3381375"/>
            <a:ext cx="228600" cy="0"/>
          </a:xfrm>
          <a:prstGeom prst="straightConnector1">
            <a:avLst/>
          </a:prstGeom>
          <a:ln w="28575">
            <a:solidFill>
              <a:srgbClr val="3D8DFF"/>
            </a:solidFill>
            <a:prstDash val="solid"/>
          </a:ln>
        </p:spPr>
      </p:cxnSp>
      <p:cxnSp>
        <p:nvCxnSpPr>
          <p:cNvPr id="35" name="Conector recto de flecha 34"/>
          <p:cNvCxnSpPr/>
          <p:nvPr/>
        </p:nvCxnSpPr>
        <p:spPr>
          <a:xfrm>
            <a:off x="7117080" y="3381375"/>
            <a:ext cx="228600" cy="0"/>
          </a:xfrm>
          <a:prstGeom prst="straightConnector1">
            <a:avLst/>
          </a:prstGeom>
          <a:ln w="28575">
            <a:solidFill>
              <a:srgbClr val="3D8DFF"/>
            </a:solidFill>
            <a:prstDash val="solid"/>
          </a:ln>
        </p:spPr>
      </p:cxnSp>
      <p:cxnSp>
        <p:nvCxnSpPr>
          <p:cNvPr id="36" name="Conector recto de flecha 35"/>
          <p:cNvCxnSpPr/>
          <p:nvPr/>
        </p:nvCxnSpPr>
        <p:spPr>
          <a:xfrm>
            <a:off x="9387840" y="3381375"/>
            <a:ext cx="228600" cy="0"/>
          </a:xfrm>
          <a:prstGeom prst="straightConnector1">
            <a:avLst/>
          </a:prstGeom>
          <a:ln w="28575">
            <a:solidFill>
              <a:srgbClr val="3D8DFF"/>
            </a:solidFill>
            <a:prstDash val="solid"/>
          </a:ln>
        </p:spPr>
      </p:cxnSp>
      <p:sp>
        <p:nvSpPr>
          <p:cNvPr id="10" name="Rectángulo: esquinas redondeadas 9">
            <a:extLst>
              <a:ext uri="{FF2B5EF4-FFF2-40B4-BE49-F238E27FC236}">
                <a16:creationId xmlns:a16="http://schemas.microsoft.com/office/drawing/2014/main" id="{5472C3FD-E2C7-4FF8-AF84-CD903686C811}"/>
              </a:ext>
            </a:extLst>
          </p:cNvPr>
          <p:cNvSpPr>
            <a:spLocks noGrp="1"/>
          </p:cNvSpPr>
          <p:nvPr/>
        </p:nvSpPr>
        <p:spPr>
          <a:xfrm>
            <a:off x="53340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1" name="Rectángulo 10">
            <a:extLst>
              <a:ext uri="{FF2B5EF4-FFF2-40B4-BE49-F238E27FC236}">
                <a16:creationId xmlns:a16="http://schemas.microsoft.com/office/drawing/2014/main" id="{8A8CB3E6-30DB-4DC4-B3F3-943C45E327F3}"/>
              </a:ext>
            </a:extLst>
          </p:cNvPr>
          <p:cNvSpPr>
            <a:spLocks noGrp="1"/>
          </p:cNvSpPr>
          <p:nvPr/>
        </p:nvSpPr>
        <p:spPr>
          <a:xfrm>
            <a:off x="66675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1</a:t>
            </a:r>
          </a:p>
        </p:txBody>
      </p:sp>
      <p:sp>
        <p:nvSpPr>
          <p:cNvPr id="12" name="Rectángulo 11">
            <a:extLst>
              <a:ext uri="{FF2B5EF4-FFF2-40B4-BE49-F238E27FC236}">
                <a16:creationId xmlns:a16="http://schemas.microsoft.com/office/drawing/2014/main" id="{CCD826BA-11EE-4DF2-B6F7-DBF8B06D87AE}"/>
              </a:ext>
            </a:extLst>
          </p:cNvPr>
          <p:cNvSpPr>
            <a:spLocks noGrp="1"/>
          </p:cNvSpPr>
          <p:nvPr/>
        </p:nvSpPr>
        <p:spPr>
          <a:xfrm>
            <a:off x="66675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Solicitar</a:t>
            </a:r>
          </a:p>
        </p:txBody>
      </p:sp>
      <p:sp>
        <p:nvSpPr>
          <p:cNvPr id="13" name="Rectángulo: esquinas redondeadas 12">
            <a:extLst>
              <a:ext uri="{FF2B5EF4-FFF2-40B4-BE49-F238E27FC236}">
                <a16:creationId xmlns:a16="http://schemas.microsoft.com/office/drawing/2014/main" id="{5A397A94-2C61-4F54-BC91-487969A36D8C}"/>
              </a:ext>
            </a:extLst>
          </p:cNvPr>
          <p:cNvSpPr>
            <a:spLocks noGrp="1"/>
          </p:cNvSpPr>
          <p:nvPr/>
        </p:nvSpPr>
        <p:spPr>
          <a:xfrm>
            <a:off x="280416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4" name="Rectángulo 13">
            <a:extLst>
              <a:ext uri="{FF2B5EF4-FFF2-40B4-BE49-F238E27FC236}">
                <a16:creationId xmlns:a16="http://schemas.microsoft.com/office/drawing/2014/main" id="{A54B677A-3BBF-4ABB-ABCC-982E5308F975}"/>
              </a:ext>
            </a:extLst>
          </p:cNvPr>
          <p:cNvSpPr>
            <a:spLocks noGrp="1"/>
          </p:cNvSpPr>
          <p:nvPr/>
        </p:nvSpPr>
        <p:spPr>
          <a:xfrm>
            <a:off x="293751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2</a:t>
            </a:r>
          </a:p>
        </p:txBody>
      </p:sp>
      <p:sp>
        <p:nvSpPr>
          <p:cNvPr id="15" name="Rectángulo 14">
            <a:extLst>
              <a:ext uri="{FF2B5EF4-FFF2-40B4-BE49-F238E27FC236}">
                <a16:creationId xmlns:a16="http://schemas.microsoft.com/office/drawing/2014/main" id="{BA7809EC-B591-44DC-8ABB-75D4EA78800B}"/>
              </a:ext>
            </a:extLst>
          </p:cNvPr>
          <p:cNvSpPr>
            <a:spLocks noGrp="1"/>
          </p:cNvSpPr>
          <p:nvPr/>
        </p:nvSpPr>
        <p:spPr>
          <a:xfrm>
            <a:off x="293751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Generar token</a:t>
            </a:r>
          </a:p>
        </p:txBody>
      </p:sp>
      <p:sp>
        <p:nvSpPr>
          <p:cNvPr id="16" name="Rectángulo: esquinas redondeadas 15">
            <a:extLst>
              <a:ext uri="{FF2B5EF4-FFF2-40B4-BE49-F238E27FC236}">
                <a16:creationId xmlns:a16="http://schemas.microsoft.com/office/drawing/2014/main" id="{ABCB7AD6-3EE4-4C2B-AA81-7612E1350A23}"/>
              </a:ext>
            </a:extLst>
          </p:cNvPr>
          <p:cNvSpPr>
            <a:spLocks noGrp="1"/>
          </p:cNvSpPr>
          <p:nvPr/>
        </p:nvSpPr>
        <p:spPr>
          <a:xfrm>
            <a:off x="507492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17" name="Rectángulo 16">
            <a:extLst>
              <a:ext uri="{FF2B5EF4-FFF2-40B4-BE49-F238E27FC236}">
                <a16:creationId xmlns:a16="http://schemas.microsoft.com/office/drawing/2014/main" id="{7440CF16-C129-47CF-BF84-B30AEB877B14}"/>
              </a:ext>
            </a:extLst>
          </p:cNvPr>
          <p:cNvSpPr>
            <a:spLocks noGrp="1"/>
          </p:cNvSpPr>
          <p:nvPr/>
        </p:nvSpPr>
        <p:spPr>
          <a:xfrm>
            <a:off x="520827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3</a:t>
            </a:r>
          </a:p>
        </p:txBody>
      </p:sp>
      <p:sp>
        <p:nvSpPr>
          <p:cNvPr id="18" name="Rectángulo 17">
            <a:extLst>
              <a:ext uri="{FF2B5EF4-FFF2-40B4-BE49-F238E27FC236}">
                <a16:creationId xmlns:a16="http://schemas.microsoft.com/office/drawing/2014/main" id="{55232650-4504-4322-A12A-794EA79C6F02}"/>
              </a:ext>
            </a:extLst>
          </p:cNvPr>
          <p:cNvSpPr>
            <a:spLocks noGrp="1"/>
          </p:cNvSpPr>
          <p:nvPr/>
        </p:nvSpPr>
        <p:spPr>
          <a:xfrm>
            <a:off x="520827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Enviar enlace</a:t>
            </a:r>
          </a:p>
        </p:txBody>
      </p:sp>
      <p:sp>
        <p:nvSpPr>
          <p:cNvPr id="19" name="Rectángulo: esquinas redondeadas 18">
            <a:extLst>
              <a:ext uri="{FF2B5EF4-FFF2-40B4-BE49-F238E27FC236}">
                <a16:creationId xmlns:a16="http://schemas.microsoft.com/office/drawing/2014/main" id="{FE9FA9C5-3799-4C1B-A045-235E27131676}"/>
              </a:ext>
            </a:extLst>
          </p:cNvPr>
          <p:cNvSpPr>
            <a:spLocks noGrp="1"/>
          </p:cNvSpPr>
          <p:nvPr/>
        </p:nvSpPr>
        <p:spPr>
          <a:xfrm>
            <a:off x="7345680" y="2724150"/>
            <a:ext cx="2042160" cy="1314450"/>
          </a:xfrm>
          <a:prstGeom prst="roundRect">
            <a:avLst>
              <a:gd name="adj" fmla="val 8696"/>
            </a:avLst>
          </a:prstGeom>
          <a:solidFill>
            <a:srgbClr val="F6F7F8"/>
          </a:solidFill>
          <a:ln w="9525">
            <a:solidFill>
              <a:srgbClr val="B8BCC4"/>
            </a:solidFill>
            <a:prstDash val="solid"/>
          </a:ln>
        </p:spPr>
        <p:txBody>
          <a:bodyPr/>
          <a:lstStyle/>
          <a:p>
            <a:endParaRPr lang="es-ES"/>
          </a:p>
        </p:txBody>
      </p:sp>
      <p:sp>
        <p:nvSpPr>
          <p:cNvPr id="20" name="Rectángulo 19">
            <a:extLst>
              <a:ext uri="{FF2B5EF4-FFF2-40B4-BE49-F238E27FC236}">
                <a16:creationId xmlns:a16="http://schemas.microsoft.com/office/drawing/2014/main" id="{404AAB8B-614E-4DDE-A85F-059142A107E9}"/>
              </a:ext>
            </a:extLst>
          </p:cNvPr>
          <p:cNvSpPr>
            <a:spLocks noGrp="1"/>
          </p:cNvSpPr>
          <p:nvPr/>
        </p:nvSpPr>
        <p:spPr>
          <a:xfrm>
            <a:off x="747903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4</a:t>
            </a:r>
          </a:p>
        </p:txBody>
      </p:sp>
      <p:sp>
        <p:nvSpPr>
          <p:cNvPr id="21" name="Rectángulo 20">
            <a:extLst>
              <a:ext uri="{FF2B5EF4-FFF2-40B4-BE49-F238E27FC236}">
                <a16:creationId xmlns:a16="http://schemas.microsoft.com/office/drawing/2014/main" id="{BE4F6F1B-0FA8-43DB-B4F4-4E08EC80AEAA}"/>
              </a:ext>
            </a:extLst>
          </p:cNvPr>
          <p:cNvSpPr>
            <a:spLocks noGrp="1"/>
          </p:cNvSpPr>
          <p:nvPr/>
        </p:nvSpPr>
        <p:spPr>
          <a:xfrm>
            <a:off x="747903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Validar token</a:t>
            </a:r>
          </a:p>
        </p:txBody>
      </p:sp>
      <p:sp>
        <p:nvSpPr>
          <p:cNvPr id="22" name="Rectángulo: esquinas redondeadas 21">
            <a:extLst>
              <a:ext uri="{FF2B5EF4-FFF2-40B4-BE49-F238E27FC236}">
                <a16:creationId xmlns:a16="http://schemas.microsoft.com/office/drawing/2014/main" id="{B386237F-AFBC-46D6-AE68-93215494A9A8}"/>
              </a:ext>
            </a:extLst>
          </p:cNvPr>
          <p:cNvSpPr>
            <a:spLocks noGrp="1"/>
          </p:cNvSpPr>
          <p:nvPr/>
        </p:nvSpPr>
        <p:spPr>
          <a:xfrm>
            <a:off x="9616440" y="2724150"/>
            <a:ext cx="2042160" cy="1314450"/>
          </a:xfrm>
          <a:prstGeom prst="roundRect">
            <a:avLst>
              <a:gd name="adj" fmla="val 8696"/>
            </a:avLst>
          </a:prstGeom>
          <a:solidFill>
            <a:srgbClr val="DCEEFF"/>
          </a:solidFill>
          <a:ln w="9525">
            <a:solidFill>
              <a:srgbClr val="B8BCC4"/>
            </a:solidFill>
            <a:prstDash val="solid"/>
          </a:ln>
        </p:spPr>
        <p:txBody>
          <a:bodyPr/>
          <a:lstStyle/>
          <a:p>
            <a:endParaRPr lang="es-ES"/>
          </a:p>
        </p:txBody>
      </p:sp>
      <p:sp>
        <p:nvSpPr>
          <p:cNvPr id="23" name="Rectángulo 22">
            <a:extLst>
              <a:ext uri="{FF2B5EF4-FFF2-40B4-BE49-F238E27FC236}">
                <a16:creationId xmlns:a16="http://schemas.microsoft.com/office/drawing/2014/main" id="{93B47952-DDC1-435B-B152-0A98B446C6D3}"/>
              </a:ext>
            </a:extLst>
          </p:cNvPr>
          <p:cNvSpPr>
            <a:spLocks noGrp="1"/>
          </p:cNvSpPr>
          <p:nvPr/>
        </p:nvSpPr>
        <p:spPr>
          <a:xfrm>
            <a:off x="9749790" y="2847975"/>
            <a:ext cx="323850" cy="247650"/>
          </a:xfrm>
          <a:prstGeom prst="rect">
            <a:avLst/>
          </a:prstGeom>
          <a:noFill/>
          <a:ln w="0">
            <a:noFill/>
            <a:prstDash val="solid"/>
          </a:ln>
        </p:spPr>
        <p:txBody>
          <a:bodyPr wrap="square" lIns="0" tIns="0" rIns="0" bIns="0" anchor="t">
            <a:noAutofit/>
          </a:bodyPr>
          <a:lstStyle/>
          <a:p>
            <a:pPr algn="l">
              <a:defRPr sz="1050" b="1">
                <a:solidFill>
                  <a:srgbClr val="3D8DFF"/>
                </a:solidFill>
                <a:latin typeface="Arial"/>
                <a:ea typeface="Arial"/>
                <a:cs typeface="Arial"/>
              </a:defRPr>
            </a:pPr>
            <a:r>
              <a:rPr sz="1050" b="1">
                <a:solidFill>
                  <a:srgbClr val="3D8DFF"/>
                </a:solidFill>
                <a:latin typeface="Arial"/>
                <a:ea typeface="Arial"/>
                <a:cs typeface="Arial"/>
              </a:rPr>
              <a:t>5</a:t>
            </a:r>
          </a:p>
        </p:txBody>
      </p:sp>
      <p:sp>
        <p:nvSpPr>
          <p:cNvPr id="24" name="Rectángulo 23">
            <a:extLst>
              <a:ext uri="{FF2B5EF4-FFF2-40B4-BE49-F238E27FC236}">
                <a16:creationId xmlns:a16="http://schemas.microsoft.com/office/drawing/2014/main" id="{8BC76AF7-51FA-4846-AFF5-72C29B4E0217}"/>
              </a:ext>
            </a:extLst>
          </p:cNvPr>
          <p:cNvSpPr>
            <a:spLocks noGrp="1"/>
          </p:cNvSpPr>
          <p:nvPr/>
        </p:nvSpPr>
        <p:spPr>
          <a:xfrm>
            <a:off x="9749790" y="3181350"/>
            <a:ext cx="1775460" cy="685800"/>
          </a:xfrm>
          <a:prstGeom prst="rect">
            <a:avLst/>
          </a:prstGeom>
          <a:noFill/>
          <a:ln w="0">
            <a:noFill/>
            <a:prstDash val="solid"/>
          </a:ln>
        </p:spPr>
        <p:txBody>
          <a:bodyPr wrap="square" lIns="0" tIns="0" rIns="0" bIns="0" anchor="ctr">
            <a:normAutofit/>
          </a:bodyPr>
          <a:lstStyle/>
          <a:p>
            <a:pPr algn="ctr">
              <a:defRPr sz="1350" b="1">
                <a:solidFill>
                  <a:srgbClr val="000000"/>
                </a:solidFill>
                <a:latin typeface="Arial"/>
                <a:ea typeface="Arial"/>
                <a:cs typeface="Arial"/>
              </a:defRPr>
            </a:pPr>
            <a:r>
              <a:rPr sz="1350" b="1">
                <a:solidFill>
                  <a:srgbClr val="000000"/>
                </a:solidFill>
                <a:latin typeface="Arial"/>
                <a:ea typeface="Arial"/>
                <a:cs typeface="Arial"/>
              </a:rPr>
              <a:t>Cambiar</a:t>
            </a:r>
          </a:p>
        </p:txBody>
      </p:sp>
      <p:sp>
        <p:nvSpPr>
          <p:cNvPr id="25" name="Rectángulo: esquinas redondeadas 24">
            <a:extLst>
              <a:ext uri="{FF2B5EF4-FFF2-40B4-BE49-F238E27FC236}">
                <a16:creationId xmlns:a16="http://schemas.microsoft.com/office/drawing/2014/main" id="{13D2A5BA-EC1C-4B73-94A3-79E28373EF37}"/>
              </a:ext>
            </a:extLst>
          </p:cNvPr>
          <p:cNvSpPr>
            <a:spLocks noGrp="1"/>
          </p:cNvSpPr>
          <p:nvPr/>
        </p:nvSpPr>
        <p:spPr>
          <a:xfrm>
            <a:off x="1962150" y="4610100"/>
            <a:ext cx="8267700" cy="1314450"/>
          </a:xfrm>
          <a:prstGeom prst="roundRect">
            <a:avLst>
              <a:gd name="adj" fmla="val 8696"/>
            </a:avLst>
          </a:prstGeom>
          <a:solidFill>
            <a:srgbClr val="F1F5F9"/>
          </a:solidFill>
          <a:ln w="9525">
            <a:solidFill>
              <a:srgbClr val="B8BCC4"/>
            </a:solidFill>
            <a:prstDash val="solid"/>
          </a:ln>
        </p:spPr>
        <p:txBody>
          <a:bodyPr/>
          <a:lstStyle/>
          <a:p>
            <a:endParaRPr lang="es-ES"/>
          </a:p>
        </p:txBody>
      </p:sp>
      <p:sp>
        <p:nvSpPr>
          <p:cNvPr id="26" name="Rectángulo 25">
            <a:extLst>
              <a:ext uri="{FF2B5EF4-FFF2-40B4-BE49-F238E27FC236}">
                <a16:creationId xmlns:a16="http://schemas.microsoft.com/office/drawing/2014/main" id="{DA64E8E2-3268-41BC-9055-DD875E206B70}"/>
              </a:ext>
            </a:extLst>
          </p:cNvPr>
          <p:cNvSpPr>
            <a:spLocks noGrp="1"/>
          </p:cNvSpPr>
          <p:nvPr/>
        </p:nvSpPr>
        <p:spPr>
          <a:xfrm>
            <a:off x="2190750" y="4781550"/>
            <a:ext cx="78105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RECUPERACIÓN DE CONTRASEÑA</a:t>
            </a:r>
          </a:p>
        </p:txBody>
      </p:sp>
      <p:sp>
        <p:nvSpPr>
          <p:cNvPr id="27" name="Rectángulo 26">
            <a:extLst>
              <a:ext uri="{FF2B5EF4-FFF2-40B4-BE49-F238E27FC236}">
                <a16:creationId xmlns:a16="http://schemas.microsoft.com/office/drawing/2014/main" id="{35A29128-4021-403C-B543-35C4A1E9B7CD}"/>
              </a:ext>
            </a:extLst>
          </p:cNvPr>
          <p:cNvSpPr>
            <a:spLocks noGrp="1"/>
          </p:cNvSpPr>
          <p:nvPr/>
        </p:nvSpPr>
        <p:spPr>
          <a:xfrm>
            <a:off x="2190750" y="5162550"/>
            <a:ext cx="7810500" cy="571500"/>
          </a:xfrm>
          <a:prstGeom prst="rect">
            <a:avLst/>
          </a:prstGeom>
          <a:noFill/>
          <a:ln w="0">
            <a:noFill/>
            <a:prstDash val="solid"/>
          </a:ln>
        </p:spPr>
        <p:txBody>
          <a:bodyPr wrap="square" lIns="0" tIns="0" rIns="0" bIns="0" anchor="t">
            <a:normAutofit fontScale="43860"/>
          </a:bodyPr>
          <a:lstStyle/>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string token =</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await _userManager.GeneratePasswordResetTokenAsync(usuario);</a:t>
            </a:r>
          </a:p>
          <a:p>
            <a:endParaRPr sz="1425" b="0">
              <a:solidFill>
                <a:srgbClr val="14213D"/>
              </a:solidFill>
              <a:latin typeface="Consolas"/>
              <a:ea typeface="Consolas"/>
              <a:cs typeface="Consolas"/>
            </a:endParaRP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IdentityResult resultado =</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await _userManager.ResetPasswordAsync(</a:t>
            </a:r>
          </a:p>
          <a:p>
            <a:pPr algn="l">
              <a:defRPr sz="1425" b="0">
                <a:solidFill>
                  <a:srgbClr val="14213D"/>
                </a:solidFill>
                <a:latin typeface="Consolas"/>
                <a:ea typeface="Consolas"/>
                <a:cs typeface="Consolas"/>
              </a:defRPr>
            </a:pPr>
            <a:r>
              <a:rPr sz="1425" b="0">
                <a:solidFill>
                  <a:srgbClr val="14213D"/>
                </a:solidFill>
                <a:latin typeface="Consolas"/>
                <a:ea typeface="Consolas"/>
                <a:cs typeface="Consolas"/>
              </a:rPr>
              <a:t>        usuario, token, nuevaPassword);</a:t>
            </a:r>
          </a:p>
        </p:txBody>
      </p:sp>
    </p:spTree>
    <p:extLst>
      <p:ext uri="{BB962C8B-B14F-4D97-AF65-F5344CB8AC3E}">
        <p14:creationId xmlns:p14="http://schemas.microsoft.com/office/powerpoint/2010/main" val="806237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F991A2D-4C79-4C01-8CBE-3F3FCE76973D}"/>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30">
            <a:extLst>
              <a:ext uri="{FF2B5EF4-FFF2-40B4-BE49-F238E27FC236}">
                <a16:creationId xmlns:a16="http://schemas.microsoft.com/office/drawing/2014/main" id="{7CEE2C14-3144-4C46-B6A1-650CF23146CA}"/>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2FA y proveedores externos reducen o trasladan el riesgo</a:t>
            </a:r>
          </a:p>
        </p:txBody>
      </p:sp>
      <p:cxnSp>
        <p:nvCxnSpPr>
          <p:cNvPr id="17" name="Conector recto de flecha 16"/>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4CE45C62-B4E4-4990-842B-8DB0BA31B142}"/>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53314ADA-B914-415E-9B3A-E95AFB39EED7}"/>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30</a:t>
            </a:r>
          </a:p>
        </p:txBody>
      </p:sp>
      <p:sp>
        <p:nvSpPr>
          <p:cNvPr id="6" name="Rectángulo 5">
            <a:extLst>
              <a:ext uri="{FF2B5EF4-FFF2-40B4-BE49-F238E27FC236}">
                <a16:creationId xmlns:a16="http://schemas.microsoft.com/office/drawing/2014/main" id="{A1626319-03D5-493A-9418-37BB42819123}"/>
              </a:ext>
            </a:extLst>
          </p:cNvPr>
          <p:cNvSpPr>
            <a:spLocks noGrp="1"/>
          </p:cNvSpPr>
          <p:nvPr/>
        </p:nvSpPr>
        <p:spPr>
          <a:xfrm>
            <a:off x="400050" y="21526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TOTP</a:t>
            </a:r>
          </a:p>
        </p:txBody>
      </p:sp>
      <p:sp>
        <p:nvSpPr>
          <p:cNvPr id="7" name="Rectángulo 6">
            <a:extLst>
              <a:ext uri="{FF2B5EF4-FFF2-40B4-BE49-F238E27FC236}">
                <a16:creationId xmlns:a16="http://schemas.microsoft.com/office/drawing/2014/main" id="{7AC79F17-FF28-407E-8AC1-C0155E4E0BE5}"/>
              </a:ext>
            </a:extLst>
          </p:cNvPr>
          <p:cNvSpPr>
            <a:spLocks noGrp="1"/>
          </p:cNvSpPr>
          <p:nvPr/>
        </p:nvSpPr>
        <p:spPr>
          <a:xfrm>
            <a:off x="400050" y="25527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Aplicación autenticadora</a:t>
            </a:r>
          </a:p>
        </p:txBody>
      </p:sp>
      <p:sp>
        <p:nvSpPr>
          <p:cNvPr id="8" name="Rectángulo 7">
            <a:extLst>
              <a:ext uri="{FF2B5EF4-FFF2-40B4-BE49-F238E27FC236}">
                <a16:creationId xmlns:a16="http://schemas.microsoft.com/office/drawing/2014/main" id="{D510A993-36A3-4FB9-B086-D86AF4D5E938}"/>
              </a:ext>
            </a:extLst>
          </p:cNvPr>
          <p:cNvSpPr>
            <a:spLocks noGrp="1"/>
          </p:cNvSpPr>
          <p:nvPr/>
        </p:nvSpPr>
        <p:spPr>
          <a:xfrm>
            <a:off x="400050" y="3257550"/>
            <a:ext cx="3568700" cy="20955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Añade un código temporal al login. El QR facilita configurar el secreto.</a:t>
            </a:r>
          </a:p>
        </p:txBody>
      </p:sp>
      <p:sp>
        <p:nvSpPr>
          <p:cNvPr id="9" name="Rectángulo 8">
            <a:extLst>
              <a:ext uri="{FF2B5EF4-FFF2-40B4-BE49-F238E27FC236}">
                <a16:creationId xmlns:a16="http://schemas.microsoft.com/office/drawing/2014/main" id="{E285AF61-5606-4AC7-B398-DBE49BF600EE}"/>
              </a:ext>
            </a:extLst>
          </p:cNvPr>
          <p:cNvSpPr>
            <a:spLocks noGrp="1"/>
          </p:cNvSpPr>
          <p:nvPr/>
        </p:nvSpPr>
        <p:spPr>
          <a:xfrm>
            <a:off x="4311650" y="21526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EXTERNO</a:t>
            </a:r>
          </a:p>
        </p:txBody>
      </p:sp>
      <p:sp>
        <p:nvSpPr>
          <p:cNvPr id="10" name="Rectángulo 9">
            <a:extLst>
              <a:ext uri="{FF2B5EF4-FFF2-40B4-BE49-F238E27FC236}">
                <a16:creationId xmlns:a16="http://schemas.microsoft.com/office/drawing/2014/main" id="{5FDF025C-8456-4DB1-BE43-0B69B4CE0DB1}"/>
              </a:ext>
            </a:extLst>
          </p:cNvPr>
          <p:cNvSpPr>
            <a:spLocks noGrp="1"/>
          </p:cNvSpPr>
          <p:nvPr/>
        </p:nvSpPr>
        <p:spPr>
          <a:xfrm>
            <a:off x="4311650" y="25527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Google o Microsoft</a:t>
            </a:r>
          </a:p>
        </p:txBody>
      </p:sp>
      <p:sp>
        <p:nvSpPr>
          <p:cNvPr id="11" name="Rectángulo 10">
            <a:extLst>
              <a:ext uri="{FF2B5EF4-FFF2-40B4-BE49-F238E27FC236}">
                <a16:creationId xmlns:a16="http://schemas.microsoft.com/office/drawing/2014/main" id="{E0DCC29A-5CD8-4FB1-AA84-803E20316AF8}"/>
              </a:ext>
            </a:extLst>
          </p:cNvPr>
          <p:cNvSpPr>
            <a:spLocks noGrp="1"/>
          </p:cNvSpPr>
          <p:nvPr/>
        </p:nvSpPr>
        <p:spPr>
          <a:xfrm>
            <a:off x="4311650" y="3257550"/>
            <a:ext cx="3568700" cy="20955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El proveedor verifica la identidad y devuelve el resultado a la aplicación.</a:t>
            </a:r>
          </a:p>
        </p:txBody>
      </p:sp>
      <p:sp>
        <p:nvSpPr>
          <p:cNvPr id="12" name="Rectángulo 11">
            <a:extLst>
              <a:ext uri="{FF2B5EF4-FFF2-40B4-BE49-F238E27FC236}">
                <a16:creationId xmlns:a16="http://schemas.microsoft.com/office/drawing/2014/main" id="{7AE28A3B-2456-414F-A3BC-F8149F9C5B83}"/>
              </a:ext>
            </a:extLst>
          </p:cNvPr>
          <p:cNvSpPr>
            <a:spLocks noGrp="1"/>
          </p:cNvSpPr>
          <p:nvPr/>
        </p:nvSpPr>
        <p:spPr>
          <a:xfrm>
            <a:off x="8223250" y="21526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RECUPERACIÓN</a:t>
            </a:r>
          </a:p>
        </p:txBody>
      </p:sp>
      <p:sp>
        <p:nvSpPr>
          <p:cNvPr id="13" name="Rectángulo 12">
            <a:extLst>
              <a:ext uri="{FF2B5EF4-FFF2-40B4-BE49-F238E27FC236}">
                <a16:creationId xmlns:a16="http://schemas.microsoft.com/office/drawing/2014/main" id="{550D7870-512D-433F-9BAC-314F5E544AD6}"/>
              </a:ext>
            </a:extLst>
          </p:cNvPr>
          <p:cNvSpPr>
            <a:spLocks noGrp="1"/>
          </p:cNvSpPr>
          <p:nvPr/>
        </p:nvSpPr>
        <p:spPr>
          <a:xfrm>
            <a:off x="8223250" y="25527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Códigos y soporte</a:t>
            </a:r>
          </a:p>
        </p:txBody>
      </p:sp>
      <p:sp>
        <p:nvSpPr>
          <p:cNvPr id="14" name="Rectángulo 13">
            <a:extLst>
              <a:ext uri="{FF2B5EF4-FFF2-40B4-BE49-F238E27FC236}">
                <a16:creationId xmlns:a16="http://schemas.microsoft.com/office/drawing/2014/main" id="{98058095-1656-41BD-833B-C71D393CDF7B}"/>
              </a:ext>
            </a:extLst>
          </p:cNvPr>
          <p:cNvSpPr>
            <a:spLocks noGrp="1"/>
          </p:cNvSpPr>
          <p:nvPr/>
        </p:nvSpPr>
        <p:spPr>
          <a:xfrm>
            <a:off x="8223250" y="3257550"/>
            <a:ext cx="3568700" cy="20955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Hay que diseñar qué ocurre si se pierde el segundo factor o el proveedor.</a:t>
            </a:r>
          </a:p>
        </p:txBody>
      </p:sp>
    </p:spTree>
    <p:extLst>
      <p:ext uri="{BB962C8B-B14F-4D97-AF65-F5344CB8AC3E}">
        <p14:creationId xmlns:p14="http://schemas.microsoft.com/office/powerpoint/2010/main" val="1776961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67D1FA09-49F1-4F9A-BC6E-2E5CC497DF07}"/>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31">
            <a:extLst>
              <a:ext uri="{FF2B5EF4-FFF2-40B4-BE49-F238E27FC236}">
                <a16:creationId xmlns:a16="http://schemas.microsoft.com/office/drawing/2014/main" id="{147AC9FB-CD49-4C26-BFA1-CD3E6271BF2D}"/>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La UI predeterminada vive en una Razor Class Library</a:t>
            </a:r>
          </a:p>
        </p:txBody>
      </p:sp>
      <p:cxnSp>
        <p:nvCxnSpPr>
          <p:cNvPr id="14" name="Conector recto de flecha 13"/>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C3C93FC2-119E-4EEA-9F0B-93C7172DE8A9}"/>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53431636-43DC-4C64-AC8B-9A04F0BC36A4}"/>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31</a:t>
            </a:r>
          </a:p>
        </p:txBody>
      </p:sp>
      <p:sp>
        <p:nvSpPr>
          <p:cNvPr id="6" name="Rectángulo 5">
            <a:extLst>
              <a:ext uri="{FF2B5EF4-FFF2-40B4-BE49-F238E27FC236}">
                <a16:creationId xmlns:a16="http://schemas.microsoft.com/office/drawing/2014/main" id="{DA81F998-F2A1-4F71-9C00-96640CDE0042}"/>
              </a:ext>
            </a:extLst>
          </p:cNvPr>
          <p:cNvSpPr>
            <a:spLocks noGrp="1"/>
          </p:cNvSpPr>
          <p:nvPr/>
        </p:nvSpPr>
        <p:spPr>
          <a:xfrm>
            <a:off x="400050" y="2038350"/>
            <a:ext cx="5286375"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Usar la UI predeterminada</a:t>
            </a:r>
          </a:p>
        </p:txBody>
      </p:sp>
      <p:sp>
        <p:nvSpPr>
          <p:cNvPr id="7" name="Rectángulo 6">
            <a:extLst>
              <a:ext uri="{FF2B5EF4-FFF2-40B4-BE49-F238E27FC236}">
                <a16:creationId xmlns:a16="http://schemas.microsoft.com/office/drawing/2014/main" id="{75CEDE56-9DFB-48E0-B77F-1760590E1EBF}"/>
              </a:ext>
            </a:extLst>
          </p:cNvPr>
          <p:cNvSpPr>
            <a:spLocks noGrp="1"/>
          </p:cNvSpPr>
          <p:nvPr/>
        </p:nvSpPr>
        <p:spPr>
          <a:xfrm>
            <a:off x="400050" y="2628900"/>
            <a:ext cx="5286375" cy="2743200"/>
          </a:xfrm>
          <a:prstGeom prst="rect">
            <a:avLst/>
          </a:prstGeom>
          <a:noFill/>
          <a:ln w="0">
            <a:noFill/>
            <a:prstDash val="solid"/>
          </a:ln>
        </p:spPr>
        <p:txBody>
          <a:bodyPr wrap="square" lIns="0" tIns="0" rIns="0" bIns="0" anchor="t">
            <a:normAutofit/>
          </a:bodyPr>
          <a:lstStyle/>
          <a:p>
            <a:pPr algn="l">
              <a:defRPr sz="1575" b="0">
                <a:solidFill>
                  <a:srgbClr val="565E6B"/>
                </a:solidFill>
                <a:latin typeface="Arial"/>
                <a:ea typeface="Arial"/>
                <a:cs typeface="Arial"/>
              </a:defRPr>
            </a:pPr>
            <a:r>
              <a:rPr sz="1575" b="0">
                <a:solidFill>
                  <a:srgbClr val="565E6B"/>
                </a:solidFill>
                <a:latin typeface="Arial"/>
                <a:ea typeface="Arial"/>
                <a:cs typeface="Arial"/>
              </a:rPr>
              <a:t>• Menos archivos propios</a:t>
            </a:r>
          </a:p>
          <a:p>
            <a:pPr algn="l">
              <a:defRPr sz="1575" b="0">
                <a:solidFill>
                  <a:srgbClr val="565E6B"/>
                </a:solidFill>
                <a:latin typeface="Arial"/>
                <a:ea typeface="Arial"/>
                <a:cs typeface="Arial"/>
              </a:defRPr>
            </a:pPr>
            <a:r>
              <a:rPr sz="1575" b="0">
                <a:solidFill>
                  <a:srgbClr val="565E6B"/>
                </a:solidFill>
                <a:latin typeface="Arial"/>
                <a:ea typeface="Arial"/>
                <a:cs typeface="Arial"/>
              </a:rPr>
              <a:t>• Actualizaciones más sencillas</a:t>
            </a:r>
          </a:p>
          <a:p>
            <a:pPr algn="l">
              <a:defRPr sz="1575" b="0">
                <a:solidFill>
                  <a:srgbClr val="565E6B"/>
                </a:solidFill>
                <a:latin typeface="Arial"/>
                <a:ea typeface="Arial"/>
                <a:cs typeface="Arial"/>
              </a:defRPr>
            </a:pPr>
            <a:r>
              <a:rPr sz="1575" b="0">
                <a:solidFill>
                  <a:srgbClr val="565E6B"/>
                </a:solidFill>
                <a:latin typeface="Arial"/>
                <a:ea typeface="Arial"/>
                <a:cs typeface="Arial"/>
              </a:rPr>
              <a:t>• Personalización limitada al tema y layout</a:t>
            </a:r>
          </a:p>
          <a:p>
            <a:pPr algn="l">
              <a:defRPr sz="1575" b="0">
                <a:solidFill>
                  <a:srgbClr val="565E6B"/>
                </a:solidFill>
                <a:latin typeface="Arial"/>
                <a:ea typeface="Arial"/>
                <a:cs typeface="Arial"/>
              </a:defRPr>
            </a:pPr>
            <a:r>
              <a:rPr sz="1575" b="0">
                <a:solidFill>
                  <a:srgbClr val="565E6B"/>
                </a:solidFill>
                <a:latin typeface="Arial"/>
                <a:ea typeface="Arial"/>
                <a:cs typeface="Arial"/>
              </a:rPr>
              <a:t>• Buen punto de partida</a:t>
            </a:r>
          </a:p>
        </p:txBody>
      </p:sp>
      <p:cxnSp>
        <p:nvCxnSpPr>
          <p:cNvPr id="19" name="Conector recto de flecha 18"/>
          <p:cNvCxnSpPr/>
          <p:nvPr/>
        </p:nvCxnSpPr>
        <p:spPr>
          <a:xfrm>
            <a:off x="5943600" y="2038350"/>
            <a:ext cx="0" cy="3333750"/>
          </a:xfrm>
          <a:prstGeom prst="straightConnector1">
            <a:avLst/>
          </a:prstGeom>
          <a:ln w="9525">
            <a:solidFill>
              <a:srgbClr val="B8BCC4"/>
            </a:solidFill>
            <a:prstDash val="solid"/>
          </a:ln>
        </p:spPr>
      </p:cxnSp>
      <p:sp>
        <p:nvSpPr>
          <p:cNvPr id="9" name="Rectángulo 8">
            <a:extLst>
              <a:ext uri="{FF2B5EF4-FFF2-40B4-BE49-F238E27FC236}">
                <a16:creationId xmlns:a16="http://schemas.microsoft.com/office/drawing/2014/main" id="{6D404688-B1DA-4768-92B6-30E708F611C0}"/>
              </a:ext>
            </a:extLst>
          </p:cNvPr>
          <p:cNvSpPr>
            <a:spLocks noGrp="1"/>
          </p:cNvSpPr>
          <p:nvPr/>
        </p:nvSpPr>
        <p:spPr>
          <a:xfrm>
            <a:off x="6343650" y="2038350"/>
            <a:ext cx="5448300" cy="457200"/>
          </a:xfrm>
          <a:prstGeom prst="rect">
            <a:avLst/>
          </a:prstGeom>
          <a:noFill/>
          <a:ln w="0">
            <a:noFill/>
            <a:prstDash val="solid"/>
          </a:ln>
        </p:spPr>
        <p:txBody>
          <a:bodyPr wrap="square" lIns="0" tIns="0" rIns="0" bIns="0" anchor="t">
            <a:norm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Hacer scaffolding</a:t>
            </a:r>
          </a:p>
        </p:txBody>
      </p:sp>
      <p:sp>
        <p:nvSpPr>
          <p:cNvPr id="10" name="Rectángulo 9">
            <a:extLst>
              <a:ext uri="{FF2B5EF4-FFF2-40B4-BE49-F238E27FC236}">
                <a16:creationId xmlns:a16="http://schemas.microsoft.com/office/drawing/2014/main" id="{9F0E9459-4339-46BB-95B1-62F8AB370930}"/>
              </a:ext>
            </a:extLst>
          </p:cNvPr>
          <p:cNvSpPr>
            <a:spLocks noGrp="1"/>
          </p:cNvSpPr>
          <p:nvPr/>
        </p:nvSpPr>
        <p:spPr>
          <a:xfrm>
            <a:off x="6343650" y="2628900"/>
            <a:ext cx="5448300" cy="2743200"/>
          </a:xfrm>
          <a:prstGeom prst="rect">
            <a:avLst/>
          </a:prstGeom>
          <a:noFill/>
          <a:ln w="0">
            <a:noFill/>
            <a:prstDash val="solid"/>
          </a:ln>
        </p:spPr>
        <p:txBody>
          <a:bodyPr wrap="square" lIns="0" tIns="0" rIns="0" bIns="0" anchor="t">
            <a:normAutofit/>
          </a:bodyPr>
          <a:lstStyle/>
          <a:p>
            <a:pPr algn="l">
              <a:defRPr sz="1575" b="0">
                <a:solidFill>
                  <a:srgbClr val="565E6B"/>
                </a:solidFill>
                <a:latin typeface="Arial"/>
                <a:ea typeface="Arial"/>
                <a:cs typeface="Arial"/>
              </a:defRPr>
            </a:pPr>
            <a:r>
              <a:rPr sz="1575" b="0">
                <a:solidFill>
                  <a:srgbClr val="565E6B"/>
                </a:solidFill>
                <a:latin typeface="Arial"/>
                <a:ea typeface="Arial"/>
                <a:cs typeface="Arial"/>
              </a:rPr>
              <a:t>• Elegir solo las páginas necesarias</a:t>
            </a:r>
          </a:p>
          <a:p>
            <a:pPr algn="l">
              <a:defRPr sz="1575" b="0">
                <a:solidFill>
                  <a:srgbClr val="565E6B"/>
                </a:solidFill>
                <a:latin typeface="Arial"/>
                <a:ea typeface="Arial"/>
                <a:cs typeface="Arial"/>
              </a:defRPr>
            </a:pPr>
            <a:r>
              <a:rPr sz="1575" b="0">
                <a:solidFill>
                  <a:srgbClr val="565E6B"/>
                </a:solidFill>
                <a:latin typeface="Arial"/>
                <a:ea typeface="Arial"/>
                <a:cs typeface="Arial"/>
              </a:rPr>
              <a:t>• Editar Register, Login o Manage</a:t>
            </a:r>
          </a:p>
          <a:p>
            <a:pPr algn="l">
              <a:defRPr sz="1575" b="0">
                <a:solidFill>
                  <a:srgbClr val="565E6B"/>
                </a:solidFill>
                <a:latin typeface="Arial"/>
                <a:ea typeface="Arial"/>
                <a:cs typeface="Arial"/>
              </a:defRPr>
            </a:pPr>
            <a:r>
              <a:rPr sz="1575" b="0">
                <a:solidFill>
                  <a:srgbClr val="565E6B"/>
                </a:solidFill>
                <a:latin typeface="Arial"/>
                <a:ea typeface="Arial"/>
                <a:cs typeface="Arial"/>
              </a:rPr>
              <a:t>• Revisar los cambios generados</a:t>
            </a:r>
          </a:p>
          <a:p>
            <a:pPr algn="l">
              <a:defRPr sz="1575" b="0">
                <a:solidFill>
                  <a:srgbClr val="565E6B"/>
                </a:solidFill>
                <a:latin typeface="Arial"/>
                <a:ea typeface="Arial"/>
                <a:cs typeface="Arial"/>
              </a:defRPr>
            </a:pPr>
            <a:r>
              <a:rPr sz="1575" b="0">
                <a:solidFill>
                  <a:srgbClr val="565E6B"/>
                </a:solidFill>
                <a:latin typeface="Arial"/>
                <a:ea typeface="Arial"/>
                <a:cs typeface="Arial"/>
              </a:rPr>
              <a:t>• Aplicar migraciones pendientes</a:t>
            </a:r>
          </a:p>
        </p:txBody>
      </p:sp>
      <p:sp>
        <p:nvSpPr>
          <p:cNvPr id="11" name="Rectángulo 10">
            <a:extLst>
              <a:ext uri="{FF2B5EF4-FFF2-40B4-BE49-F238E27FC236}">
                <a16:creationId xmlns:a16="http://schemas.microsoft.com/office/drawing/2014/main" id="{E8AD7FE5-CD9F-4656-9A96-2719412EC288}"/>
              </a:ext>
            </a:extLst>
          </p:cNvPr>
          <p:cNvSpPr>
            <a:spLocks noGrp="1"/>
          </p:cNvSpPr>
          <p:nvPr/>
        </p:nvSpPr>
        <p:spPr>
          <a:xfrm>
            <a:off x="1581150" y="5562600"/>
            <a:ext cx="9029700" cy="361950"/>
          </a:xfrm>
          <a:prstGeom prst="rect">
            <a:avLst/>
          </a:prstGeom>
          <a:noFill/>
          <a:ln w="0">
            <a:noFill/>
            <a:prstDash val="solid"/>
          </a:ln>
        </p:spPr>
        <p:txBody>
          <a:bodyPr wrap="square" lIns="0" tIns="0" rIns="0" bIns="0" anchor="t">
            <a:normAutofit/>
          </a:bodyPr>
          <a:lstStyle/>
          <a:p>
            <a:pPr algn="ctr">
              <a:defRPr sz="1575" b="1">
                <a:solidFill>
                  <a:srgbClr val="3D8DFF"/>
                </a:solidFill>
                <a:latin typeface="Arial"/>
                <a:ea typeface="Arial"/>
                <a:cs typeface="Arial"/>
              </a:defRPr>
            </a:pPr>
            <a:r>
              <a:rPr sz="1575" b="1">
                <a:solidFill>
                  <a:srgbClr val="3D8DFF"/>
                </a:solidFill>
                <a:latin typeface="Arial"/>
                <a:ea typeface="Arial"/>
                <a:cs typeface="Arial"/>
              </a:rPr>
              <a:t>No generes toda la UI si solo necesitas personalizar una página.</a:t>
            </a:r>
          </a:p>
        </p:txBody>
      </p:sp>
    </p:spTree>
    <p:extLst>
      <p:ext uri="{BB962C8B-B14F-4D97-AF65-F5344CB8AC3E}">
        <p14:creationId xmlns:p14="http://schemas.microsoft.com/office/powerpoint/2010/main" val="1064218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D69C4DC2-1A77-4C95-9341-B1CC7FE434E7}"/>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32">
            <a:extLst>
              <a:ext uri="{FF2B5EF4-FFF2-40B4-BE49-F238E27FC236}">
                <a16:creationId xmlns:a16="http://schemas.microsoft.com/office/drawing/2014/main" id="{E3DE1AC7-4C68-4DB5-A373-DD782BD8B178}"/>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Cuatro errores habituales de Identity</a:t>
            </a:r>
          </a:p>
        </p:txBody>
      </p:sp>
      <p:cxnSp>
        <p:nvCxnSpPr>
          <p:cNvPr id="28" name="Conector recto de flecha 27"/>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2D97229D-CB78-4310-A3F8-2C44202A8DB5}"/>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AED55B8B-4CAB-4968-BBDF-BABE1AC08293}"/>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32</a:t>
            </a:r>
          </a:p>
        </p:txBody>
      </p:sp>
      <p:sp>
        <p:nvSpPr>
          <p:cNvPr id="6" name="Rectángulo 5">
            <a:extLst>
              <a:ext uri="{FF2B5EF4-FFF2-40B4-BE49-F238E27FC236}">
                <a16:creationId xmlns:a16="http://schemas.microsoft.com/office/drawing/2014/main" id="{DFCA1573-2180-480C-8F11-61A8D1C5D281}"/>
              </a:ext>
            </a:extLst>
          </p:cNvPr>
          <p:cNvSpPr>
            <a:spLocks noGrp="1"/>
          </p:cNvSpPr>
          <p:nvPr/>
        </p:nvSpPr>
        <p:spPr>
          <a:xfrm>
            <a:off x="400050" y="1695450"/>
            <a:ext cx="11391900" cy="762000"/>
          </a:xfrm>
          <a:prstGeom prst="rect">
            <a:avLst/>
          </a:prstGeom>
          <a:solidFill>
            <a:srgbClr val="F6F7F8"/>
          </a:solidFill>
          <a:ln w="0">
            <a:noFill/>
            <a:prstDash val="solid"/>
          </a:ln>
        </p:spPr>
        <p:txBody>
          <a:bodyPr/>
          <a:lstStyle/>
          <a:p>
            <a:endParaRPr lang="es-ES"/>
          </a:p>
        </p:txBody>
      </p:sp>
      <p:sp>
        <p:nvSpPr>
          <p:cNvPr id="7" name="Rectángulo 6">
            <a:extLst>
              <a:ext uri="{FF2B5EF4-FFF2-40B4-BE49-F238E27FC236}">
                <a16:creationId xmlns:a16="http://schemas.microsoft.com/office/drawing/2014/main" id="{C6BB7B04-1E31-4610-A213-47CC35AE5D73}"/>
              </a:ext>
            </a:extLst>
          </p:cNvPr>
          <p:cNvSpPr>
            <a:spLocks noGrp="1"/>
          </p:cNvSpPr>
          <p:nvPr/>
        </p:nvSpPr>
        <p:spPr>
          <a:xfrm>
            <a:off x="590550" y="18669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Síntoma</a:t>
            </a:r>
          </a:p>
        </p:txBody>
      </p:sp>
      <p:sp>
        <p:nvSpPr>
          <p:cNvPr id="8" name="Rectángulo 7">
            <a:extLst>
              <a:ext uri="{FF2B5EF4-FFF2-40B4-BE49-F238E27FC236}">
                <a16:creationId xmlns:a16="http://schemas.microsoft.com/office/drawing/2014/main" id="{65F11B38-E01F-4D1B-9140-000735D0292E}"/>
              </a:ext>
            </a:extLst>
          </p:cNvPr>
          <p:cNvSpPr>
            <a:spLocks noGrp="1"/>
          </p:cNvSpPr>
          <p:nvPr/>
        </p:nvSpPr>
        <p:spPr>
          <a:xfrm>
            <a:off x="3067050" y="18669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Causa probable</a:t>
            </a:r>
          </a:p>
        </p:txBody>
      </p:sp>
      <p:sp>
        <p:nvSpPr>
          <p:cNvPr id="9" name="Rectángulo 8">
            <a:extLst>
              <a:ext uri="{FF2B5EF4-FFF2-40B4-BE49-F238E27FC236}">
                <a16:creationId xmlns:a16="http://schemas.microsoft.com/office/drawing/2014/main" id="{C0DA6A85-F4E1-4DA7-8174-A3179B8890F4}"/>
              </a:ext>
            </a:extLst>
          </p:cNvPr>
          <p:cNvSpPr>
            <a:spLocks noGrp="1"/>
          </p:cNvSpPr>
          <p:nvPr/>
        </p:nvSpPr>
        <p:spPr>
          <a:xfrm>
            <a:off x="7353300" y="18669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Corrección</a:t>
            </a:r>
          </a:p>
        </p:txBody>
      </p:sp>
      <p:sp>
        <p:nvSpPr>
          <p:cNvPr id="10" name="Rectángulo 9">
            <a:extLst>
              <a:ext uri="{FF2B5EF4-FFF2-40B4-BE49-F238E27FC236}">
                <a16:creationId xmlns:a16="http://schemas.microsoft.com/office/drawing/2014/main" id="{6C5F44CB-6633-4E79-B93A-B84E76266807}"/>
              </a:ext>
            </a:extLst>
          </p:cNvPr>
          <p:cNvSpPr>
            <a:spLocks noGrp="1"/>
          </p:cNvSpPr>
          <p:nvPr/>
        </p:nvSpPr>
        <p:spPr>
          <a:xfrm>
            <a:off x="590550" y="27051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SignInResult ambiguo</a:t>
            </a:r>
          </a:p>
        </p:txBody>
      </p:sp>
      <p:sp>
        <p:nvSpPr>
          <p:cNvPr id="11" name="Rectángulo 10">
            <a:extLst>
              <a:ext uri="{FF2B5EF4-FFF2-40B4-BE49-F238E27FC236}">
                <a16:creationId xmlns:a16="http://schemas.microsoft.com/office/drawing/2014/main" id="{F5B155B5-30CB-4309-A020-7757FDDA236D}"/>
              </a:ext>
            </a:extLst>
          </p:cNvPr>
          <p:cNvSpPr>
            <a:spLocks noGrp="1"/>
          </p:cNvSpPr>
          <p:nvPr/>
        </p:nvSpPr>
        <p:spPr>
          <a:xfrm>
            <a:off x="3067050" y="27051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Identity y MVC importados</a:t>
            </a:r>
          </a:p>
        </p:txBody>
      </p:sp>
      <p:sp>
        <p:nvSpPr>
          <p:cNvPr id="12" name="Rectángulo 11">
            <a:extLst>
              <a:ext uri="{FF2B5EF4-FFF2-40B4-BE49-F238E27FC236}">
                <a16:creationId xmlns:a16="http://schemas.microsoft.com/office/drawing/2014/main" id="{87AA56E2-E4B5-4D87-BB99-4F47AC0ED781}"/>
              </a:ext>
            </a:extLst>
          </p:cNvPr>
          <p:cNvSpPr>
            <a:spLocks noGrp="1"/>
          </p:cNvSpPr>
          <p:nvPr/>
        </p:nvSpPr>
        <p:spPr>
          <a:xfrm>
            <a:off x="7353300" y="27051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Usar el nombre completo de Identity</a:t>
            </a:r>
          </a:p>
        </p:txBody>
      </p:sp>
      <p:sp>
        <p:nvSpPr>
          <p:cNvPr id="13" name="Rectángulo 12">
            <a:extLst>
              <a:ext uri="{FF2B5EF4-FFF2-40B4-BE49-F238E27FC236}">
                <a16:creationId xmlns:a16="http://schemas.microsoft.com/office/drawing/2014/main" id="{9143AA7A-6FD2-49BB-975C-1E23C4EBED61}"/>
              </a:ext>
            </a:extLst>
          </p:cNvPr>
          <p:cNvSpPr>
            <a:spLocks noGrp="1"/>
          </p:cNvSpPr>
          <p:nvPr/>
        </p:nvSpPr>
        <p:spPr>
          <a:xfrm>
            <a:off x="400050" y="3371850"/>
            <a:ext cx="11391900" cy="762000"/>
          </a:xfrm>
          <a:prstGeom prst="rect">
            <a:avLst/>
          </a:prstGeom>
          <a:solidFill>
            <a:srgbClr val="F6F7F8"/>
          </a:solidFill>
          <a:ln w="0">
            <a:noFill/>
            <a:prstDash val="solid"/>
          </a:ln>
        </p:spPr>
        <p:txBody>
          <a:bodyPr/>
          <a:lstStyle/>
          <a:p>
            <a:endParaRPr lang="es-ES"/>
          </a:p>
        </p:txBody>
      </p:sp>
      <p:sp>
        <p:nvSpPr>
          <p:cNvPr id="14" name="Rectángulo 13">
            <a:extLst>
              <a:ext uri="{FF2B5EF4-FFF2-40B4-BE49-F238E27FC236}">
                <a16:creationId xmlns:a16="http://schemas.microsoft.com/office/drawing/2014/main" id="{4E877252-E2B9-42D3-B7B6-4EF545AFB70A}"/>
              </a:ext>
            </a:extLst>
          </p:cNvPr>
          <p:cNvSpPr>
            <a:spLocks noGrp="1"/>
          </p:cNvSpPr>
          <p:nvPr/>
        </p:nvSpPr>
        <p:spPr>
          <a:xfrm>
            <a:off x="590550" y="35433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No existen tablas</a:t>
            </a:r>
          </a:p>
        </p:txBody>
      </p:sp>
      <p:sp>
        <p:nvSpPr>
          <p:cNvPr id="15" name="Rectángulo 14">
            <a:extLst>
              <a:ext uri="{FF2B5EF4-FFF2-40B4-BE49-F238E27FC236}">
                <a16:creationId xmlns:a16="http://schemas.microsoft.com/office/drawing/2014/main" id="{A37C7361-923E-4B7C-8E1F-5AEF168636C4}"/>
              </a:ext>
            </a:extLst>
          </p:cNvPr>
          <p:cNvSpPr>
            <a:spLocks noGrp="1"/>
          </p:cNvSpPr>
          <p:nvPr/>
        </p:nvSpPr>
        <p:spPr>
          <a:xfrm>
            <a:off x="3067050" y="35433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Migración sin aplicar</a:t>
            </a:r>
          </a:p>
        </p:txBody>
      </p:sp>
      <p:sp>
        <p:nvSpPr>
          <p:cNvPr id="16" name="Rectángulo 15">
            <a:extLst>
              <a:ext uri="{FF2B5EF4-FFF2-40B4-BE49-F238E27FC236}">
                <a16:creationId xmlns:a16="http://schemas.microsoft.com/office/drawing/2014/main" id="{4752289B-4344-4F36-B821-003A88F3245B}"/>
              </a:ext>
            </a:extLst>
          </p:cNvPr>
          <p:cNvSpPr>
            <a:spLocks noGrp="1"/>
          </p:cNvSpPr>
          <p:nvPr/>
        </p:nvSpPr>
        <p:spPr>
          <a:xfrm>
            <a:off x="7353300" y="35433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dotnet ef database update</a:t>
            </a:r>
          </a:p>
        </p:txBody>
      </p:sp>
      <p:sp>
        <p:nvSpPr>
          <p:cNvPr id="17" name="Rectángulo 16">
            <a:extLst>
              <a:ext uri="{FF2B5EF4-FFF2-40B4-BE49-F238E27FC236}">
                <a16:creationId xmlns:a16="http://schemas.microsoft.com/office/drawing/2014/main" id="{F6D47FEE-A2EC-4F85-AF98-FEB3F3031C89}"/>
              </a:ext>
            </a:extLst>
          </p:cNvPr>
          <p:cNvSpPr>
            <a:spLocks noGrp="1"/>
          </p:cNvSpPr>
          <p:nvPr/>
        </p:nvSpPr>
        <p:spPr>
          <a:xfrm>
            <a:off x="590550" y="43815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Siempre vuelve a Login</a:t>
            </a:r>
          </a:p>
        </p:txBody>
      </p:sp>
      <p:sp>
        <p:nvSpPr>
          <p:cNvPr id="18" name="Rectángulo 17">
            <a:extLst>
              <a:ext uri="{FF2B5EF4-FFF2-40B4-BE49-F238E27FC236}">
                <a16:creationId xmlns:a16="http://schemas.microsoft.com/office/drawing/2014/main" id="{C5ADB388-20B6-4554-B6A5-4D1D5F2CF866}"/>
              </a:ext>
            </a:extLst>
          </p:cNvPr>
          <p:cNvSpPr>
            <a:spLocks noGrp="1"/>
          </p:cNvSpPr>
          <p:nvPr/>
        </p:nvSpPr>
        <p:spPr>
          <a:xfrm>
            <a:off x="3067050" y="43815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Cookie o middleware</a:t>
            </a:r>
          </a:p>
        </p:txBody>
      </p:sp>
      <p:sp>
        <p:nvSpPr>
          <p:cNvPr id="19" name="Rectángulo 18">
            <a:extLst>
              <a:ext uri="{FF2B5EF4-FFF2-40B4-BE49-F238E27FC236}">
                <a16:creationId xmlns:a16="http://schemas.microsoft.com/office/drawing/2014/main" id="{A2371119-0545-43F7-A429-CC8F04037E45}"/>
              </a:ext>
            </a:extLst>
          </p:cNvPr>
          <p:cNvSpPr>
            <a:spLocks noGrp="1"/>
          </p:cNvSpPr>
          <p:nvPr/>
        </p:nvSpPr>
        <p:spPr>
          <a:xfrm>
            <a:off x="7353300" y="43815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Revisar servicios y canalización</a:t>
            </a:r>
          </a:p>
        </p:txBody>
      </p:sp>
      <p:sp>
        <p:nvSpPr>
          <p:cNvPr id="20" name="Rectángulo 19">
            <a:extLst>
              <a:ext uri="{FF2B5EF4-FFF2-40B4-BE49-F238E27FC236}">
                <a16:creationId xmlns:a16="http://schemas.microsoft.com/office/drawing/2014/main" id="{3B62CB3C-B2C8-4414-904E-8F9AD2AB44BB}"/>
              </a:ext>
            </a:extLst>
          </p:cNvPr>
          <p:cNvSpPr>
            <a:spLocks noGrp="1"/>
          </p:cNvSpPr>
          <p:nvPr/>
        </p:nvSpPr>
        <p:spPr>
          <a:xfrm>
            <a:off x="400050" y="5048250"/>
            <a:ext cx="11391900" cy="762000"/>
          </a:xfrm>
          <a:prstGeom prst="rect">
            <a:avLst/>
          </a:prstGeom>
          <a:solidFill>
            <a:srgbClr val="F6F7F8"/>
          </a:solidFill>
          <a:ln w="0">
            <a:noFill/>
            <a:prstDash val="solid"/>
          </a:ln>
        </p:spPr>
        <p:txBody>
          <a:bodyPr/>
          <a:lstStyle/>
          <a:p>
            <a:endParaRPr lang="es-ES"/>
          </a:p>
        </p:txBody>
      </p:sp>
      <p:sp>
        <p:nvSpPr>
          <p:cNvPr id="21" name="Rectángulo 20">
            <a:extLst>
              <a:ext uri="{FF2B5EF4-FFF2-40B4-BE49-F238E27FC236}">
                <a16:creationId xmlns:a16="http://schemas.microsoft.com/office/drawing/2014/main" id="{1560748E-F984-4555-A3D6-66BB6A42F44D}"/>
              </a:ext>
            </a:extLst>
          </p:cNvPr>
          <p:cNvSpPr>
            <a:spLocks noGrp="1"/>
          </p:cNvSpPr>
          <p:nvPr/>
        </p:nvSpPr>
        <p:spPr>
          <a:xfrm>
            <a:off x="590550" y="5219700"/>
            <a:ext cx="2190750" cy="457200"/>
          </a:xfrm>
          <a:prstGeom prst="rect">
            <a:avLst/>
          </a:prstGeom>
          <a:noFill/>
          <a:ln w="0">
            <a:noFill/>
            <a:prstDash val="solid"/>
          </a:ln>
        </p:spPr>
        <p:txBody>
          <a:bodyPr wrap="square" lIns="0" tIns="0" rIns="0" bIns="0" anchor="t">
            <a:norm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No aparece una página</a:t>
            </a:r>
          </a:p>
        </p:txBody>
      </p:sp>
      <p:sp>
        <p:nvSpPr>
          <p:cNvPr id="22" name="Rectángulo 21">
            <a:extLst>
              <a:ext uri="{FF2B5EF4-FFF2-40B4-BE49-F238E27FC236}">
                <a16:creationId xmlns:a16="http://schemas.microsoft.com/office/drawing/2014/main" id="{16A7C17B-CD96-4437-BCDB-70626042295A}"/>
              </a:ext>
            </a:extLst>
          </p:cNvPr>
          <p:cNvSpPr>
            <a:spLocks noGrp="1"/>
          </p:cNvSpPr>
          <p:nvPr/>
        </p:nvSpPr>
        <p:spPr>
          <a:xfrm>
            <a:off x="3067050" y="5219700"/>
            <a:ext cx="40005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UI servida desde RCL</a:t>
            </a:r>
          </a:p>
        </p:txBody>
      </p:sp>
      <p:sp>
        <p:nvSpPr>
          <p:cNvPr id="23" name="Rectángulo 22">
            <a:extLst>
              <a:ext uri="{FF2B5EF4-FFF2-40B4-BE49-F238E27FC236}">
                <a16:creationId xmlns:a16="http://schemas.microsoft.com/office/drawing/2014/main" id="{C5E7A91B-4550-4758-82C0-7108CEDC59B8}"/>
              </a:ext>
            </a:extLst>
          </p:cNvPr>
          <p:cNvSpPr>
            <a:spLocks noGrp="1"/>
          </p:cNvSpPr>
          <p:nvPr/>
        </p:nvSpPr>
        <p:spPr>
          <a:xfrm>
            <a:off x="7353300" y="5219700"/>
            <a:ext cx="4191000" cy="45720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Scaffold solo si se va a editar</a:t>
            </a:r>
          </a:p>
        </p:txBody>
      </p:sp>
      <p:sp>
        <p:nvSpPr>
          <p:cNvPr id="24" name="Rectángulo: esquinas redondeadas 23">
            <a:extLst>
              <a:ext uri="{FF2B5EF4-FFF2-40B4-BE49-F238E27FC236}">
                <a16:creationId xmlns:a16="http://schemas.microsoft.com/office/drawing/2014/main" id="{882ADFB1-4083-4A0F-B73B-E1EEC98484FF}"/>
              </a:ext>
            </a:extLst>
          </p:cNvPr>
          <p:cNvSpPr>
            <a:spLocks noGrp="1"/>
          </p:cNvSpPr>
          <p:nvPr/>
        </p:nvSpPr>
        <p:spPr>
          <a:xfrm>
            <a:off x="1619250" y="5676900"/>
            <a:ext cx="8953500" cy="514350"/>
          </a:xfrm>
          <a:prstGeom prst="roundRect">
            <a:avLst>
              <a:gd name="adj" fmla="val 22222"/>
            </a:avLst>
          </a:prstGeom>
          <a:solidFill>
            <a:srgbClr val="F1F5F9"/>
          </a:solidFill>
          <a:ln w="9525">
            <a:solidFill>
              <a:srgbClr val="B8BCC4"/>
            </a:solidFill>
            <a:prstDash val="solid"/>
          </a:ln>
        </p:spPr>
        <p:txBody>
          <a:bodyPr/>
          <a:lstStyle/>
          <a:p>
            <a:endParaRPr lang="es-ES"/>
          </a:p>
        </p:txBody>
      </p:sp>
      <p:sp>
        <p:nvSpPr>
          <p:cNvPr id="25" name="Rectángulo 24">
            <a:extLst>
              <a:ext uri="{FF2B5EF4-FFF2-40B4-BE49-F238E27FC236}">
                <a16:creationId xmlns:a16="http://schemas.microsoft.com/office/drawing/2014/main" id="{961602CC-4B24-44E4-B56D-3AD8162A0C57}"/>
              </a:ext>
            </a:extLst>
          </p:cNvPr>
          <p:cNvSpPr>
            <a:spLocks noGrp="1"/>
          </p:cNvSpPr>
          <p:nvPr/>
        </p:nvSpPr>
        <p:spPr>
          <a:xfrm>
            <a:off x="1847850" y="5819775"/>
            <a:ext cx="8496300" cy="247650"/>
          </a:xfrm>
          <a:prstGeom prst="rect">
            <a:avLst/>
          </a:prstGeom>
          <a:noFill/>
          <a:ln w="0">
            <a:noFill/>
            <a:prstDash val="solid"/>
          </a:ln>
        </p:spPr>
        <p:txBody>
          <a:bodyPr wrap="square" lIns="0" tIns="0" rIns="0" bIns="0" anchor="t">
            <a:normAutofit/>
          </a:bodyPr>
          <a:lstStyle/>
          <a:p>
            <a:pPr algn="ctr">
              <a:defRPr sz="1313" b="1">
                <a:solidFill>
                  <a:srgbClr val="000000"/>
                </a:solidFill>
                <a:latin typeface="Consolas"/>
                <a:ea typeface="Consolas"/>
                <a:cs typeface="Consolas"/>
              </a:defRPr>
            </a:pPr>
            <a:r>
              <a:rPr sz="1313" b="1">
                <a:solidFill>
                  <a:srgbClr val="000000"/>
                </a:solidFill>
                <a:latin typeface="Consolas"/>
                <a:ea typeface="Consolas"/>
                <a:cs typeface="Consolas"/>
              </a:rPr>
              <a:t>Microsoft.AspNetCore.Identity.SignInResult resultado = ...;</a:t>
            </a:r>
          </a:p>
        </p:txBody>
      </p:sp>
    </p:spTree>
    <p:extLst>
      <p:ext uri="{BB962C8B-B14F-4D97-AF65-F5344CB8AC3E}">
        <p14:creationId xmlns:p14="http://schemas.microsoft.com/office/powerpoint/2010/main" val="697527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9E31537-1993-4147-9DCD-A4C4177469AD}"/>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33">
            <a:extLst>
              <a:ext uri="{FF2B5EF4-FFF2-40B4-BE49-F238E27FC236}">
                <a16:creationId xmlns:a16="http://schemas.microsoft.com/office/drawing/2014/main" id="{AE3ED4DC-3F97-4AE7-A579-316F0DE07904}"/>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La seguridad final depende de configuración y disciplina</a:t>
            </a:r>
          </a:p>
        </p:txBody>
      </p:sp>
      <p:cxnSp>
        <p:nvCxnSpPr>
          <p:cNvPr id="20" name="Conector recto de flecha 19"/>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066C3146-7FCD-421C-8F51-D73DD5179ADC}"/>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82F1606C-89DA-470C-8321-60ED7D3D2B69}"/>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33</a:t>
            </a:r>
          </a:p>
        </p:txBody>
      </p:sp>
      <p:sp>
        <p:nvSpPr>
          <p:cNvPr id="6" name="Rectángulo: esquinas redondeadas 5">
            <a:extLst>
              <a:ext uri="{FF2B5EF4-FFF2-40B4-BE49-F238E27FC236}">
                <a16:creationId xmlns:a16="http://schemas.microsoft.com/office/drawing/2014/main" id="{CBE19CB6-F195-41E0-B55C-CA459BEB14D4}"/>
              </a:ext>
            </a:extLst>
          </p:cNvPr>
          <p:cNvSpPr>
            <a:spLocks noGrp="1"/>
          </p:cNvSpPr>
          <p:nvPr/>
        </p:nvSpPr>
        <p:spPr>
          <a:xfrm>
            <a:off x="400050" y="1866900"/>
            <a:ext cx="5448300" cy="1733550"/>
          </a:xfrm>
          <a:prstGeom prst="roundRect">
            <a:avLst>
              <a:gd name="adj" fmla="val 6593"/>
            </a:avLst>
          </a:prstGeom>
          <a:solidFill>
            <a:srgbClr val="F6F7F8"/>
          </a:solidFill>
          <a:ln w="0">
            <a:noFill/>
            <a:prstDash val="solid"/>
          </a:ln>
        </p:spPr>
        <p:txBody>
          <a:bodyPr/>
          <a:lstStyle/>
          <a:p>
            <a:endParaRPr lang="es-ES"/>
          </a:p>
        </p:txBody>
      </p:sp>
      <p:sp>
        <p:nvSpPr>
          <p:cNvPr id="7" name="Rectángulo 6">
            <a:extLst>
              <a:ext uri="{FF2B5EF4-FFF2-40B4-BE49-F238E27FC236}">
                <a16:creationId xmlns:a16="http://schemas.microsoft.com/office/drawing/2014/main" id="{BEC55DB7-72A4-4E37-A8A6-2E79BDC5E193}"/>
              </a:ext>
            </a:extLst>
          </p:cNvPr>
          <p:cNvSpPr>
            <a:spLocks noGrp="1"/>
          </p:cNvSpPr>
          <p:nvPr/>
        </p:nvSpPr>
        <p:spPr>
          <a:xfrm>
            <a:off x="628650" y="20764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Transporte y secretos</a:t>
            </a:r>
          </a:p>
        </p:txBody>
      </p:sp>
      <p:sp>
        <p:nvSpPr>
          <p:cNvPr id="8" name="Rectángulo 7">
            <a:extLst>
              <a:ext uri="{FF2B5EF4-FFF2-40B4-BE49-F238E27FC236}">
                <a16:creationId xmlns:a16="http://schemas.microsoft.com/office/drawing/2014/main" id="{20CB8CF4-1E57-4421-BC28-2361D399C6EA}"/>
              </a:ext>
            </a:extLst>
          </p:cNvPr>
          <p:cNvSpPr>
            <a:spLocks noGrp="1"/>
          </p:cNvSpPr>
          <p:nvPr/>
        </p:nvSpPr>
        <p:spPr>
          <a:xfrm>
            <a:off x="628650" y="25717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HTTPS, claves fuera del código, logs sin contraseñas ni tokens.</a:t>
            </a:r>
          </a:p>
        </p:txBody>
      </p:sp>
      <p:sp>
        <p:nvSpPr>
          <p:cNvPr id="9" name="Rectángulo: esquinas redondeadas 8">
            <a:extLst>
              <a:ext uri="{FF2B5EF4-FFF2-40B4-BE49-F238E27FC236}">
                <a16:creationId xmlns:a16="http://schemas.microsoft.com/office/drawing/2014/main" id="{A002D68D-DB5C-4A88-8D5F-A1420841E57E}"/>
              </a:ext>
            </a:extLst>
          </p:cNvPr>
          <p:cNvSpPr>
            <a:spLocks noGrp="1"/>
          </p:cNvSpPr>
          <p:nvPr/>
        </p:nvSpPr>
        <p:spPr>
          <a:xfrm>
            <a:off x="6343650" y="1866900"/>
            <a:ext cx="5448300" cy="1733550"/>
          </a:xfrm>
          <a:prstGeom prst="roundRect">
            <a:avLst>
              <a:gd name="adj" fmla="val 6593"/>
            </a:avLst>
          </a:prstGeom>
          <a:solidFill>
            <a:srgbClr val="F6F7F8"/>
          </a:solidFill>
          <a:ln w="0">
            <a:noFill/>
            <a:prstDash val="solid"/>
          </a:ln>
        </p:spPr>
        <p:txBody>
          <a:bodyPr/>
          <a:lstStyle/>
          <a:p>
            <a:endParaRPr lang="es-ES"/>
          </a:p>
        </p:txBody>
      </p:sp>
      <p:sp>
        <p:nvSpPr>
          <p:cNvPr id="10" name="Rectángulo 9">
            <a:extLst>
              <a:ext uri="{FF2B5EF4-FFF2-40B4-BE49-F238E27FC236}">
                <a16:creationId xmlns:a16="http://schemas.microsoft.com/office/drawing/2014/main" id="{7B664CBA-D14F-4F99-A0E4-2551D8202564}"/>
              </a:ext>
            </a:extLst>
          </p:cNvPr>
          <p:cNvSpPr>
            <a:spLocks noGrp="1"/>
          </p:cNvSpPr>
          <p:nvPr/>
        </p:nvSpPr>
        <p:spPr>
          <a:xfrm>
            <a:off x="6572250" y="20764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Cuenta</a:t>
            </a:r>
          </a:p>
        </p:txBody>
      </p:sp>
      <p:sp>
        <p:nvSpPr>
          <p:cNvPr id="11" name="Rectángulo 10">
            <a:extLst>
              <a:ext uri="{FF2B5EF4-FFF2-40B4-BE49-F238E27FC236}">
                <a16:creationId xmlns:a16="http://schemas.microsoft.com/office/drawing/2014/main" id="{11617087-D020-40FA-9067-83AB5516588F}"/>
              </a:ext>
            </a:extLst>
          </p:cNvPr>
          <p:cNvSpPr>
            <a:spLocks noGrp="1"/>
          </p:cNvSpPr>
          <p:nvPr/>
        </p:nvSpPr>
        <p:spPr>
          <a:xfrm>
            <a:off x="6572250" y="25717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Bloqueo, confirmación según riesgo, recuperación segura y 2FA.</a:t>
            </a:r>
          </a:p>
        </p:txBody>
      </p:sp>
      <p:sp>
        <p:nvSpPr>
          <p:cNvPr id="12" name="Rectángulo: esquinas redondeadas 11">
            <a:extLst>
              <a:ext uri="{FF2B5EF4-FFF2-40B4-BE49-F238E27FC236}">
                <a16:creationId xmlns:a16="http://schemas.microsoft.com/office/drawing/2014/main" id="{86A73629-E1F3-413D-A84D-0001CD4D80AE}"/>
              </a:ext>
            </a:extLst>
          </p:cNvPr>
          <p:cNvSpPr>
            <a:spLocks noGrp="1"/>
          </p:cNvSpPr>
          <p:nvPr/>
        </p:nvSpPr>
        <p:spPr>
          <a:xfrm>
            <a:off x="400050" y="3962400"/>
            <a:ext cx="5448300" cy="1733550"/>
          </a:xfrm>
          <a:prstGeom prst="roundRect">
            <a:avLst>
              <a:gd name="adj" fmla="val 6593"/>
            </a:avLst>
          </a:prstGeom>
          <a:solidFill>
            <a:srgbClr val="F6F7F8"/>
          </a:solidFill>
          <a:ln w="0">
            <a:noFill/>
            <a:prstDash val="solid"/>
          </a:ln>
        </p:spPr>
        <p:txBody>
          <a:bodyPr/>
          <a:lstStyle/>
          <a:p>
            <a:endParaRPr lang="es-ES"/>
          </a:p>
        </p:txBody>
      </p:sp>
      <p:sp>
        <p:nvSpPr>
          <p:cNvPr id="13" name="Rectángulo 12">
            <a:extLst>
              <a:ext uri="{FF2B5EF4-FFF2-40B4-BE49-F238E27FC236}">
                <a16:creationId xmlns:a16="http://schemas.microsoft.com/office/drawing/2014/main" id="{E9A5371F-5BAF-43BC-90EF-AEDA15BAA9E6}"/>
              </a:ext>
            </a:extLst>
          </p:cNvPr>
          <p:cNvSpPr>
            <a:spLocks noGrp="1"/>
          </p:cNvSpPr>
          <p:nvPr/>
        </p:nvSpPr>
        <p:spPr>
          <a:xfrm>
            <a:off x="628650" y="41719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Autorización</a:t>
            </a:r>
          </a:p>
        </p:txBody>
      </p:sp>
      <p:sp>
        <p:nvSpPr>
          <p:cNvPr id="14" name="Rectángulo 13">
            <a:extLst>
              <a:ext uri="{FF2B5EF4-FFF2-40B4-BE49-F238E27FC236}">
                <a16:creationId xmlns:a16="http://schemas.microsoft.com/office/drawing/2014/main" id="{85CDD42D-67AD-4D21-8D70-54BE063A011A}"/>
              </a:ext>
            </a:extLst>
          </p:cNvPr>
          <p:cNvSpPr>
            <a:spLocks noGrp="1"/>
          </p:cNvSpPr>
          <p:nvPr/>
        </p:nvSpPr>
        <p:spPr>
          <a:xfrm>
            <a:off x="628650" y="46672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Comprobar en servidor y filtrar datos por el usuario actual.</a:t>
            </a:r>
          </a:p>
        </p:txBody>
      </p:sp>
      <p:sp>
        <p:nvSpPr>
          <p:cNvPr id="15" name="Rectángulo: esquinas redondeadas 14">
            <a:extLst>
              <a:ext uri="{FF2B5EF4-FFF2-40B4-BE49-F238E27FC236}">
                <a16:creationId xmlns:a16="http://schemas.microsoft.com/office/drawing/2014/main" id="{73C599FB-2548-4FF0-B8D1-2CCD6F7CEE79}"/>
              </a:ext>
            </a:extLst>
          </p:cNvPr>
          <p:cNvSpPr>
            <a:spLocks noGrp="1"/>
          </p:cNvSpPr>
          <p:nvPr/>
        </p:nvSpPr>
        <p:spPr>
          <a:xfrm>
            <a:off x="6343650" y="3962400"/>
            <a:ext cx="5448300" cy="1733550"/>
          </a:xfrm>
          <a:prstGeom prst="roundRect">
            <a:avLst>
              <a:gd name="adj" fmla="val 6593"/>
            </a:avLst>
          </a:prstGeom>
          <a:solidFill>
            <a:srgbClr val="F6F7F8"/>
          </a:solidFill>
          <a:ln w="0">
            <a:noFill/>
            <a:prstDash val="solid"/>
          </a:ln>
        </p:spPr>
        <p:txBody>
          <a:bodyPr/>
          <a:lstStyle/>
          <a:p>
            <a:endParaRPr lang="es-ES"/>
          </a:p>
        </p:txBody>
      </p:sp>
      <p:sp>
        <p:nvSpPr>
          <p:cNvPr id="16" name="Rectángulo 15">
            <a:extLst>
              <a:ext uri="{FF2B5EF4-FFF2-40B4-BE49-F238E27FC236}">
                <a16:creationId xmlns:a16="http://schemas.microsoft.com/office/drawing/2014/main" id="{650A2691-64CA-43AC-BDB4-EEA5C3385B28}"/>
              </a:ext>
            </a:extLst>
          </p:cNvPr>
          <p:cNvSpPr>
            <a:spLocks noGrp="1"/>
          </p:cNvSpPr>
          <p:nvPr/>
        </p:nvSpPr>
        <p:spPr>
          <a:xfrm>
            <a:off x="6572250" y="4171950"/>
            <a:ext cx="4991100" cy="381000"/>
          </a:xfrm>
          <a:prstGeom prst="rect">
            <a:avLst/>
          </a:prstGeom>
          <a:noFill/>
          <a:ln w="0">
            <a:noFill/>
            <a:prstDash val="solid"/>
          </a:ln>
        </p:spPr>
        <p:txBody>
          <a:bodyPr wrap="square" lIns="0" tIns="0" rIns="0" bIns="0" anchor="t">
            <a:normAutofit/>
          </a:bodyPr>
          <a:lstStyle/>
          <a:p>
            <a:pPr algn="l">
              <a:defRPr sz="1800" b="1">
                <a:solidFill>
                  <a:srgbClr val="000000"/>
                </a:solidFill>
                <a:latin typeface="Arial"/>
                <a:ea typeface="Arial"/>
                <a:cs typeface="Arial"/>
              </a:defRPr>
            </a:pPr>
            <a:r>
              <a:rPr sz="1800" b="1">
                <a:solidFill>
                  <a:srgbClr val="000000"/>
                </a:solidFill>
                <a:latin typeface="Arial"/>
                <a:ea typeface="Arial"/>
                <a:cs typeface="Arial"/>
              </a:rPr>
              <a:t>Operación</a:t>
            </a:r>
          </a:p>
        </p:txBody>
      </p:sp>
      <p:sp>
        <p:nvSpPr>
          <p:cNvPr id="17" name="Rectángulo 16">
            <a:extLst>
              <a:ext uri="{FF2B5EF4-FFF2-40B4-BE49-F238E27FC236}">
                <a16:creationId xmlns:a16="http://schemas.microsoft.com/office/drawing/2014/main" id="{CD16FBFD-FE5D-4C2D-AFBA-4345146A16B3}"/>
              </a:ext>
            </a:extLst>
          </p:cNvPr>
          <p:cNvSpPr>
            <a:spLocks noGrp="1"/>
          </p:cNvSpPr>
          <p:nvPr/>
        </p:nvSpPr>
        <p:spPr>
          <a:xfrm>
            <a:off x="6572250" y="4667250"/>
            <a:ext cx="4991100" cy="800100"/>
          </a:xfrm>
          <a:prstGeom prst="rect">
            <a:avLst/>
          </a:prstGeom>
          <a:noFill/>
          <a:ln w="0">
            <a:noFill/>
            <a:prstDash val="solid"/>
          </a:ln>
        </p:spPr>
        <p:txBody>
          <a:bodyPr wrap="square" lIns="0" tIns="0" rIns="0" bIns="0" anchor="t">
            <a:normAutofit/>
          </a:bodyPr>
          <a:lstStyle/>
          <a:p>
            <a:pPr algn="l">
              <a:defRPr sz="1350" b="0">
                <a:solidFill>
                  <a:srgbClr val="565E6B"/>
                </a:solidFill>
                <a:latin typeface="Arial"/>
                <a:ea typeface="Arial"/>
                <a:cs typeface="Arial"/>
              </a:defRPr>
            </a:pPr>
            <a:r>
              <a:rPr sz="1350" b="0">
                <a:solidFill>
                  <a:srgbClr val="565E6B"/>
                </a:solidFill>
                <a:latin typeface="Arial"/>
                <a:ea typeface="Arial"/>
                <a:cs typeface="Arial"/>
              </a:rPr>
              <a:t>Migraciones controladas, actualizaciones, copias y auditoría.</a:t>
            </a:r>
          </a:p>
        </p:txBody>
      </p:sp>
    </p:spTree>
    <p:extLst>
      <p:ext uri="{BB962C8B-B14F-4D97-AF65-F5344CB8AC3E}">
        <p14:creationId xmlns:p14="http://schemas.microsoft.com/office/powerpoint/2010/main" val="758778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430D2C13-A99C-45B1-B302-FD72C3A7EEF2}"/>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ASP.NET CORE IDENTITY · .NET 10</a:t>
            </a:r>
          </a:p>
        </p:txBody>
      </p:sp>
      <p:sp>
        <p:nvSpPr>
          <p:cNvPr id="2" name="title-34">
            <a:extLst>
              <a:ext uri="{FF2B5EF4-FFF2-40B4-BE49-F238E27FC236}">
                <a16:creationId xmlns:a16="http://schemas.microsoft.com/office/drawing/2014/main" id="{FE7AA17C-5AA1-4643-9F8D-8A43583653BC}"/>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Práctica: películas favoritas por usuario</a:t>
            </a:r>
          </a:p>
        </p:txBody>
      </p:sp>
      <p:cxnSp>
        <p:nvCxnSpPr>
          <p:cNvPr id="18" name="Conector recto de flecha 17"/>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08617526-370A-49DF-92B1-5253A5E1FD66}"/>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15E49BE5-F58B-49AD-888C-B381AEA3DF1A}"/>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34</a:t>
            </a:r>
          </a:p>
        </p:txBody>
      </p:sp>
      <p:sp>
        <p:nvSpPr>
          <p:cNvPr id="6" name="Rectángulo 5">
            <a:extLst>
              <a:ext uri="{FF2B5EF4-FFF2-40B4-BE49-F238E27FC236}">
                <a16:creationId xmlns:a16="http://schemas.microsoft.com/office/drawing/2014/main" id="{FC3ABB73-AF15-4C6C-AD9A-00725841BCCD}"/>
              </a:ext>
            </a:extLst>
          </p:cNvPr>
          <p:cNvSpPr>
            <a:spLocks noGrp="1"/>
          </p:cNvSpPr>
          <p:nvPr/>
        </p:nvSpPr>
        <p:spPr>
          <a:xfrm>
            <a:off x="400050" y="20764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PARTE 1</a:t>
            </a:r>
          </a:p>
        </p:txBody>
      </p:sp>
      <p:sp>
        <p:nvSpPr>
          <p:cNvPr id="7" name="Rectángulo 6">
            <a:extLst>
              <a:ext uri="{FF2B5EF4-FFF2-40B4-BE49-F238E27FC236}">
                <a16:creationId xmlns:a16="http://schemas.microsoft.com/office/drawing/2014/main" id="{A63E6381-90AE-4EB6-9864-BFE5546BB683}"/>
              </a:ext>
            </a:extLst>
          </p:cNvPr>
          <p:cNvSpPr>
            <a:spLocks noGrp="1"/>
          </p:cNvSpPr>
          <p:nvPr/>
        </p:nvSpPr>
        <p:spPr>
          <a:xfrm>
            <a:off x="400050" y="24765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Cuentas</a:t>
            </a:r>
          </a:p>
        </p:txBody>
      </p:sp>
      <p:sp>
        <p:nvSpPr>
          <p:cNvPr id="8" name="Rectángulo 7">
            <a:extLst>
              <a:ext uri="{FF2B5EF4-FFF2-40B4-BE49-F238E27FC236}">
                <a16:creationId xmlns:a16="http://schemas.microsoft.com/office/drawing/2014/main" id="{DCD8010C-0355-480C-A4B4-DD99D2F59B80}"/>
              </a:ext>
            </a:extLst>
          </p:cNvPr>
          <p:cNvSpPr>
            <a:spLocks noGrp="1"/>
          </p:cNvSpPr>
          <p:nvPr/>
        </p:nvSpPr>
        <p:spPr>
          <a:xfrm>
            <a:off x="400050" y="3181350"/>
            <a:ext cx="3568700" cy="22288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Crear Razor Pages con cuentas individuales. Probar registro, login, logout y acceso anónimo.</a:t>
            </a:r>
          </a:p>
        </p:txBody>
      </p:sp>
      <p:sp>
        <p:nvSpPr>
          <p:cNvPr id="9" name="Rectángulo 8">
            <a:extLst>
              <a:ext uri="{FF2B5EF4-FFF2-40B4-BE49-F238E27FC236}">
                <a16:creationId xmlns:a16="http://schemas.microsoft.com/office/drawing/2014/main" id="{3309DB76-09BC-448D-B41E-2718F8C8D682}"/>
              </a:ext>
            </a:extLst>
          </p:cNvPr>
          <p:cNvSpPr>
            <a:spLocks noGrp="1"/>
          </p:cNvSpPr>
          <p:nvPr/>
        </p:nvSpPr>
        <p:spPr>
          <a:xfrm>
            <a:off x="4311650" y="20764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PARTE 2</a:t>
            </a:r>
          </a:p>
        </p:txBody>
      </p:sp>
      <p:sp>
        <p:nvSpPr>
          <p:cNvPr id="10" name="Rectángulo 9">
            <a:extLst>
              <a:ext uri="{FF2B5EF4-FFF2-40B4-BE49-F238E27FC236}">
                <a16:creationId xmlns:a16="http://schemas.microsoft.com/office/drawing/2014/main" id="{F0172F71-017C-4D76-8E93-7AD581B7D70C}"/>
              </a:ext>
            </a:extLst>
          </p:cNvPr>
          <p:cNvSpPr>
            <a:spLocks noGrp="1"/>
          </p:cNvSpPr>
          <p:nvPr/>
        </p:nvSpPr>
        <p:spPr>
          <a:xfrm>
            <a:off x="4311650" y="24765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Favoritas</a:t>
            </a:r>
          </a:p>
        </p:txBody>
      </p:sp>
      <p:sp>
        <p:nvSpPr>
          <p:cNvPr id="11" name="Rectángulo 10">
            <a:extLst>
              <a:ext uri="{FF2B5EF4-FFF2-40B4-BE49-F238E27FC236}">
                <a16:creationId xmlns:a16="http://schemas.microsoft.com/office/drawing/2014/main" id="{02302160-92CA-4833-89C6-099E426BD856}"/>
              </a:ext>
            </a:extLst>
          </p:cNvPr>
          <p:cNvSpPr>
            <a:spLocks noGrp="1"/>
          </p:cNvSpPr>
          <p:nvPr/>
        </p:nvSpPr>
        <p:spPr>
          <a:xfrm>
            <a:off x="4311650" y="3181350"/>
            <a:ext cx="3568700" cy="22288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Relacionar cada favorita con UserId. Listar, añadir y eliminar solo las del usuario actual.</a:t>
            </a:r>
          </a:p>
        </p:txBody>
      </p:sp>
      <p:sp>
        <p:nvSpPr>
          <p:cNvPr id="12" name="Rectángulo 11">
            <a:extLst>
              <a:ext uri="{FF2B5EF4-FFF2-40B4-BE49-F238E27FC236}">
                <a16:creationId xmlns:a16="http://schemas.microsoft.com/office/drawing/2014/main" id="{E7414803-7148-4884-BA6E-E69EFDD597A2}"/>
              </a:ext>
            </a:extLst>
          </p:cNvPr>
          <p:cNvSpPr>
            <a:spLocks noGrp="1"/>
          </p:cNvSpPr>
          <p:nvPr/>
        </p:nvSpPr>
        <p:spPr>
          <a:xfrm>
            <a:off x="8223250" y="2076450"/>
            <a:ext cx="35687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PARTE 3</a:t>
            </a:r>
          </a:p>
        </p:txBody>
      </p:sp>
      <p:sp>
        <p:nvSpPr>
          <p:cNvPr id="13" name="Rectángulo 12">
            <a:extLst>
              <a:ext uri="{FF2B5EF4-FFF2-40B4-BE49-F238E27FC236}">
                <a16:creationId xmlns:a16="http://schemas.microsoft.com/office/drawing/2014/main" id="{31A2D21B-53B8-4743-A43E-D4C5CB2B99E6}"/>
              </a:ext>
            </a:extLst>
          </p:cNvPr>
          <p:cNvSpPr>
            <a:spLocks noGrp="1"/>
          </p:cNvSpPr>
          <p:nvPr/>
        </p:nvSpPr>
        <p:spPr>
          <a:xfrm>
            <a:off x="8223250" y="2476500"/>
            <a:ext cx="3568700" cy="552450"/>
          </a:xfrm>
          <a:prstGeom prst="rect">
            <a:avLst/>
          </a:prstGeom>
          <a:noFill/>
          <a:ln w="0">
            <a:noFill/>
            <a:prstDash val="solid"/>
          </a:ln>
        </p:spPr>
        <p:txBody>
          <a:bodyPr wrap="square" lIns="0" tIns="0" rIns="0" bIns="0" anchor="t">
            <a:norm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Protección</a:t>
            </a:r>
          </a:p>
        </p:txBody>
      </p:sp>
      <p:sp>
        <p:nvSpPr>
          <p:cNvPr id="14" name="Rectángulo 13">
            <a:extLst>
              <a:ext uri="{FF2B5EF4-FFF2-40B4-BE49-F238E27FC236}">
                <a16:creationId xmlns:a16="http://schemas.microsoft.com/office/drawing/2014/main" id="{1FEA5BFD-AB2B-475A-8E6E-6DA44D7CB2FD}"/>
              </a:ext>
            </a:extLst>
          </p:cNvPr>
          <p:cNvSpPr>
            <a:spLocks noGrp="1"/>
          </p:cNvSpPr>
          <p:nvPr/>
        </p:nvSpPr>
        <p:spPr>
          <a:xfrm>
            <a:off x="8223250" y="3181350"/>
            <a:ext cx="3568700" cy="2228850"/>
          </a:xfrm>
          <a:prstGeom prst="rect">
            <a:avLst/>
          </a:prstGeom>
          <a:noFill/>
          <a:ln w="0">
            <a:noFill/>
            <a:prstDash val="solid"/>
          </a:ln>
        </p:spPr>
        <p:txBody>
          <a:bodyPr wrap="square" lIns="0" tIns="0" rIns="0" bIns="0" anchor="t">
            <a:normAutofit/>
          </a:bodyPr>
          <a:lstStyle/>
          <a:p>
            <a:pPr algn="l">
              <a:defRPr sz="1425" b="0">
                <a:solidFill>
                  <a:srgbClr val="565E6B"/>
                </a:solidFill>
                <a:latin typeface="Arial"/>
                <a:ea typeface="Arial"/>
                <a:cs typeface="Arial"/>
              </a:defRPr>
            </a:pPr>
            <a:r>
              <a:rPr sz="1425" b="0">
                <a:solidFill>
                  <a:srgbClr val="565E6B"/>
                </a:solidFill>
                <a:latin typeface="Arial"/>
                <a:ea typeface="Arial"/>
                <a:cs typeface="Arial"/>
              </a:rPr>
              <a:t>Aplicar [Authorize], validar en servidor y añadir un rol Administrador como ampliación.</a:t>
            </a:r>
          </a:p>
        </p:txBody>
      </p:sp>
      <p:sp>
        <p:nvSpPr>
          <p:cNvPr id="15" name="Rectángulo 14">
            <a:extLst>
              <a:ext uri="{FF2B5EF4-FFF2-40B4-BE49-F238E27FC236}">
                <a16:creationId xmlns:a16="http://schemas.microsoft.com/office/drawing/2014/main" id="{C2FEFC91-12D5-4C37-9060-B22B3C1537B4}"/>
              </a:ext>
            </a:extLst>
          </p:cNvPr>
          <p:cNvSpPr>
            <a:spLocks noGrp="1"/>
          </p:cNvSpPr>
          <p:nvPr/>
        </p:nvSpPr>
        <p:spPr>
          <a:xfrm>
            <a:off x="1200150" y="5524500"/>
            <a:ext cx="9791700" cy="400050"/>
          </a:xfrm>
          <a:prstGeom prst="rect">
            <a:avLst/>
          </a:prstGeom>
          <a:noFill/>
          <a:ln w="0">
            <a:noFill/>
            <a:prstDash val="solid"/>
          </a:ln>
        </p:spPr>
        <p:txBody>
          <a:bodyPr wrap="square" lIns="0" tIns="0" rIns="0" bIns="0" anchor="t">
            <a:normAutofit/>
          </a:bodyPr>
          <a:lstStyle/>
          <a:p>
            <a:pPr algn="ctr">
              <a:defRPr sz="1650" b="1">
                <a:solidFill>
                  <a:srgbClr val="000000"/>
                </a:solidFill>
                <a:latin typeface="Arial"/>
                <a:ea typeface="Arial"/>
                <a:cs typeface="Arial"/>
              </a:defRPr>
            </a:pPr>
            <a:r>
              <a:rPr sz="1650" b="1">
                <a:solidFill>
                  <a:srgbClr val="000000"/>
                </a:solidFill>
                <a:latin typeface="Arial"/>
                <a:ea typeface="Arial"/>
                <a:cs typeface="Arial"/>
              </a:rPr>
              <a:t>Criterio de éxito: dos usuarios nunca pueden modificar las favoritas del otro.</a:t>
            </a:r>
          </a:p>
        </p:txBody>
      </p:sp>
    </p:spTree>
    <p:extLst>
      <p:ext uri="{BB962C8B-B14F-4D97-AF65-F5344CB8AC3E}">
        <p14:creationId xmlns:p14="http://schemas.microsoft.com/office/powerpoint/2010/main" val="959001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9F10270-9DC1-457C-95E1-DD3CA7607A9A}"/>
              </a:ext>
            </a:extLst>
          </p:cNvPr>
          <p:cNvSpPr>
            <a:spLocks noGrp="1"/>
          </p:cNvSpPr>
          <p:nvPr/>
        </p:nvSpPr>
        <p:spPr>
          <a:xfrm>
            <a:off x="400050" y="323850"/>
            <a:ext cx="6858000" cy="266700"/>
          </a:xfrm>
          <a:prstGeom prst="rect">
            <a:avLst/>
          </a:prstGeom>
          <a:noFill/>
          <a:ln w="0">
            <a:noFill/>
            <a:prstDash val="solid"/>
          </a:ln>
        </p:spPr>
        <p:txBody>
          <a:bodyPr wrap="square" lIns="0" tIns="0" rIns="0" bIns="0" anchor="t">
            <a:no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PREGUNTAS DE REPASO</a:t>
            </a:r>
          </a:p>
        </p:txBody>
      </p:sp>
      <p:sp>
        <p:nvSpPr>
          <p:cNvPr id="2" name="title-35">
            <a:extLst>
              <a:ext uri="{FF2B5EF4-FFF2-40B4-BE49-F238E27FC236}">
                <a16:creationId xmlns:a16="http://schemas.microsoft.com/office/drawing/2014/main" id="{D93DB0EE-F538-4151-BE8F-1A685DC71F31}"/>
              </a:ext>
            </a:extLst>
          </p:cNvPr>
          <p:cNvSpPr>
            <a:spLocks noGrp="1"/>
          </p:cNvSpPr>
          <p:nvPr/>
        </p:nvSpPr>
        <p:spPr>
          <a:xfrm>
            <a:off x="400050" y="685800"/>
            <a:ext cx="11049000" cy="762000"/>
          </a:xfrm>
          <a:prstGeom prst="rect">
            <a:avLst/>
          </a:prstGeom>
          <a:noFill/>
          <a:ln w="0">
            <a:noFill/>
            <a:prstDash val="solid"/>
          </a:ln>
        </p:spPr>
        <p:txBody>
          <a:bodyPr wrap="square" lIns="0" tIns="0" rIns="0" bIns="0" anchor="t">
            <a:normAutofit/>
          </a:bodyPr>
          <a:lstStyle/>
          <a:p>
            <a:pPr algn="l">
              <a:defRPr sz="3000" b="1">
                <a:solidFill>
                  <a:srgbClr val="000000"/>
                </a:solidFill>
                <a:latin typeface="Arial"/>
                <a:ea typeface="Arial"/>
                <a:cs typeface="Arial"/>
              </a:defRPr>
            </a:pPr>
            <a:r>
              <a:rPr sz="3000" b="1">
                <a:solidFill>
                  <a:srgbClr val="000000"/>
                </a:solidFill>
                <a:latin typeface="Arial"/>
                <a:ea typeface="Arial"/>
                <a:cs typeface="Arial"/>
              </a:rPr>
              <a:t>Comprueba si ya dominas las ideas esenciales</a:t>
            </a:r>
          </a:p>
        </p:txBody>
      </p:sp>
      <p:cxnSp>
        <p:nvCxnSpPr>
          <p:cNvPr id="9" name="Conector recto de flecha 8"/>
          <p:cNvCxnSpPr/>
          <p:nvPr/>
        </p:nvCxnSpPr>
        <p:spPr>
          <a:xfrm>
            <a:off x="400050" y="1485900"/>
            <a:ext cx="11391900" cy="0"/>
          </a:xfrm>
          <a:prstGeom prst="straightConnector1">
            <a:avLst/>
          </a:prstGeom>
          <a:ln w="9525">
            <a:solidFill>
              <a:srgbClr val="B8BCC4"/>
            </a:solidFill>
            <a:prstDash val="solid"/>
          </a:ln>
        </p:spPr>
      </p:cxnSp>
      <p:sp>
        <p:nvSpPr>
          <p:cNvPr id="4" name="Rectángulo 3">
            <a:extLst>
              <a:ext uri="{FF2B5EF4-FFF2-40B4-BE49-F238E27FC236}">
                <a16:creationId xmlns:a16="http://schemas.microsoft.com/office/drawing/2014/main" id="{B5847F1F-40A7-4ABC-BD25-4E48A533F227}"/>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5" name="Rectángulo 4">
            <a:extLst>
              <a:ext uri="{FF2B5EF4-FFF2-40B4-BE49-F238E27FC236}">
                <a16:creationId xmlns:a16="http://schemas.microsoft.com/office/drawing/2014/main" id="{0578B65B-243C-490C-9738-F4D8543B93C1}"/>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35</a:t>
            </a:r>
          </a:p>
        </p:txBody>
      </p:sp>
      <p:sp>
        <p:nvSpPr>
          <p:cNvPr id="6" name="Rectángulo 5">
            <a:extLst>
              <a:ext uri="{FF2B5EF4-FFF2-40B4-BE49-F238E27FC236}">
                <a16:creationId xmlns:a16="http://schemas.microsoft.com/office/drawing/2014/main" id="{8AE4B7A5-A289-4861-BA81-8A09E873020F}"/>
              </a:ext>
            </a:extLst>
          </p:cNvPr>
          <p:cNvSpPr>
            <a:spLocks noGrp="1"/>
          </p:cNvSpPr>
          <p:nvPr/>
        </p:nvSpPr>
        <p:spPr>
          <a:xfrm>
            <a:off x="781050" y="1885950"/>
            <a:ext cx="10629900" cy="3771900"/>
          </a:xfrm>
          <a:prstGeom prst="rect">
            <a:avLst/>
          </a:prstGeom>
          <a:noFill/>
          <a:ln w="0">
            <a:noFill/>
            <a:prstDash val="solid"/>
          </a:ln>
        </p:spPr>
        <p:txBody>
          <a:bodyPr wrap="square" lIns="0" tIns="0" rIns="0" bIns="0" anchor="t">
            <a:normAutofit/>
          </a:bodyPr>
          <a:lstStyle/>
          <a:p>
            <a:pPr algn="l">
              <a:defRPr sz="1800" b="0">
                <a:solidFill>
                  <a:srgbClr val="565E6B"/>
                </a:solidFill>
                <a:latin typeface="Arial"/>
                <a:ea typeface="Arial"/>
                <a:cs typeface="Arial"/>
              </a:defRPr>
            </a:pPr>
            <a:r>
              <a:rPr sz="1800" b="0">
                <a:solidFill>
                  <a:srgbClr val="565E6B"/>
                </a:solidFill>
                <a:latin typeface="Arial"/>
                <a:ea typeface="Arial"/>
                <a:cs typeface="Arial"/>
              </a:rPr>
              <a:t>1  ¿Qué proceso responde «quién eres»?</a:t>
            </a:r>
          </a:p>
          <a:p>
            <a:endParaRPr sz="1800" b="0">
              <a:solidFill>
                <a:srgbClr val="565E6B"/>
              </a:solidFill>
              <a:latin typeface="Arial"/>
              <a:ea typeface="Arial"/>
              <a:cs typeface="Arial"/>
            </a:endParaRPr>
          </a:p>
          <a:p>
            <a:pPr algn="l">
              <a:defRPr sz="1800" b="0">
                <a:solidFill>
                  <a:srgbClr val="565E6B"/>
                </a:solidFill>
                <a:latin typeface="Arial"/>
                <a:ea typeface="Arial"/>
                <a:cs typeface="Arial"/>
              </a:defRPr>
            </a:pPr>
            <a:r>
              <a:rPr sz="1800" b="0">
                <a:solidFill>
                  <a:srgbClr val="565E6B"/>
                </a:solidFill>
                <a:latin typeface="Arial"/>
                <a:ea typeface="Arial"/>
                <a:cs typeface="Arial"/>
              </a:rPr>
              <a:t>2  ¿Qué servicio coordina el inicio y el cierre de sesión?</a:t>
            </a:r>
          </a:p>
          <a:p>
            <a:endParaRPr sz="1800" b="0">
              <a:solidFill>
                <a:srgbClr val="565E6B"/>
              </a:solidFill>
              <a:latin typeface="Arial"/>
              <a:ea typeface="Arial"/>
              <a:cs typeface="Arial"/>
            </a:endParaRPr>
          </a:p>
          <a:p>
            <a:pPr algn="l">
              <a:defRPr sz="1800" b="0">
                <a:solidFill>
                  <a:srgbClr val="565E6B"/>
                </a:solidFill>
                <a:latin typeface="Arial"/>
                <a:ea typeface="Arial"/>
                <a:cs typeface="Arial"/>
              </a:defRPr>
            </a:pPr>
            <a:r>
              <a:rPr sz="1800" b="0">
                <a:solidFill>
                  <a:srgbClr val="565E6B"/>
                </a:solidFill>
                <a:latin typeface="Arial"/>
                <a:ea typeface="Arial"/>
                <a:cs typeface="Arial"/>
              </a:rPr>
              <a:t>3  ¿Se guarda la contraseña original en la base de datos?</a:t>
            </a:r>
          </a:p>
          <a:p>
            <a:endParaRPr sz="1800" b="0">
              <a:solidFill>
                <a:srgbClr val="565E6B"/>
              </a:solidFill>
              <a:latin typeface="Arial"/>
              <a:ea typeface="Arial"/>
              <a:cs typeface="Arial"/>
            </a:endParaRPr>
          </a:p>
          <a:p>
            <a:pPr algn="l">
              <a:defRPr sz="1800" b="0">
                <a:solidFill>
                  <a:srgbClr val="565E6B"/>
                </a:solidFill>
                <a:latin typeface="Arial"/>
                <a:ea typeface="Arial"/>
                <a:cs typeface="Arial"/>
              </a:defRPr>
            </a:pPr>
            <a:r>
              <a:rPr sz="1800" b="0">
                <a:solidFill>
                  <a:srgbClr val="565E6B"/>
                </a:solidFill>
                <a:latin typeface="Arial"/>
                <a:ea typeface="Arial"/>
                <a:cs typeface="Arial"/>
              </a:rPr>
              <a:t>4  ¿Cómo se asocia una película favorita con su propietario?</a:t>
            </a:r>
          </a:p>
          <a:p>
            <a:endParaRPr sz="1800" b="0">
              <a:solidFill>
                <a:srgbClr val="565E6B"/>
              </a:solidFill>
              <a:latin typeface="Arial"/>
              <a:ea typeface="Arial"/>
              <a:cs typeface="Arial"/>
            </a:endParaRPr>
          </a:p>
          <a:p>
            <a:pPr algn="l">
              <a:defRPr sz="1800" b="0">
                <a:solidFill>
                  <a:srgbClr val="565E6B"/>
                </a:solidFill>
                <a:latin typeface="Arial"/>
                <a:ea typeface="Arial"/>
                <a:cs typeface="Arial"/>
              </a:defRPr>
            </a:pPr>
            <a:r>
              <a:rPr sz="1800" b="0">
                <a:solidFill>
                  <a:srgbClr val="565E6B"/>
                </a:solidFill>
                <a:latin typeface="Arial"/>
                <a:ea typeface="Arial"/>
                <a:cs typeface="Arial"/>
              </a:rPr>
              <a:t>5  ¿Qué consigue el scaffolding de Identity?</a:t>
            </a:r>
          </a:p>
        </p:txBody>
      </p:sp>
    </p:spTree>
    <p:extLst>
      <p:ext uri="{BB962C8B-B14F-4D97-AF65-F5344CB8AC3E}">
        <p14:creationId xmlns:p14="http://schemas.microsoft.com/office/powerpoint/2010/main" val="322281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A2A20A95-46CE-4501-9B2F-EFD11AA73D72}"/>
              </a:ext>
            </a:extLst>
          </p:cNvPr>
          <p:cNvSpPr>
            <a:spLocks noGrp="1"/>
          </p:cNvSpPr>
          <p:nvPr/>
        </p:nvSpPr>
        <p:spPr>
          <a:xfrm>
            <a:off x="400050" y="381000"/>
            <a:ext cx="2857500" cy="266700"/>
          </a:xfrm>
          <a:prstGeom prst="rect">
            <a:avLst/>
          </a:prstGeom>
          <a:noFill/>
          <a:ln w="0">
            <a:noFill/>
            <a:prstDash val="solid"/>
          </a:ln>
        </p:spPr>
        <p:txBody>
          <a:bodyPr wrap="square" lIns="0" tIns="0" rIns="0" bIns="0" anchor="t">
            <a:no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IDEA FINAL</a:t>
            </a:r>
          </a:p>
        </p:txBody>
      </p:sp>
      <p:sp>
        <p:nvSpPr>
          <p:cNvPr id="2" name="Rectángulo 1">
            <a:extLst>
              <a:ext uri="{FF2B5EF4-FFF2-40B4-BE49-F238E27FC236}">
                <a16:creationId xmlns:a16="http://schemas.microsoft.com/office/drawing/2014/main" id="{18C11D8A-C3E2-474A-A158-D9A9CD0AC9B4}"/>
              </a:ext>
            </a:extLst>
          </p:cNvPr>
          <p:cNvSpPr>
            <a:spLocks noGrp="1"/>
          </p:cNvSpPr>
          <p:nvPr/>
        </p:nvSpPr>
        <p:spPr>
          <a:xfrm>
            <a:off x="400050" y="1695450"/>
            <a:ext cx="10287000" cy="1809750"/>
          </a:xfrm>
          <a:prstGeom prst="rect">
            <a:avLst/>
          </a:prstGeom>
          <a:noFill/>
          <a:ln w="0">
            <a:noFill/>
            <a:prstDash val="solid"/>
          </a:ln>
        </p:spPr>
        <p:txBody>
          <a:bodyPr wrap="square" lIns="0" tIns="0" rIns="0" bIns="0" anchor="t">
            <a:normAutofit/>
          </a:bodyPr>
          <a:lstStyle/>
          <a:p>
            <a:pPr algn="l">
              <a:defRPr sz="4350" b="1">
                <a:solidFill>
                  <a:srgbClr val="000000"/>
                </a:solidFill>
                <a:latin typeface="Arial"/>
                <a:ea typeface="Arial"/>
                <a:cs typeface="Arial"/>
              </a:defRPr>
            </a:pPr>
            <a:r>
              <a:rPr sz="4350" b="1">
                <a:solidFill>
                  <a:srgbClr val="000000"/>
                </a:solidFill>
                <a:latin typeface="Arial"/>
                <a:ea typeface="Arial"/>
                <a:cs typeface="Arial"/>
              </a:rPr>
              <a:t>Identity aporta la infraestructura;</a:t>
            </a:r>
          </a:p>
          <a:p>
            <a:pPr algn="l">
              <a:defRPr sz="4350" b="1">
                <a:solidFill>
                  <a:srgbClr val="000000"/>
                </a:solidFill>
                <a:latin typeface="Arial"/>
                <a:ea typeface="Arial"/>
                <a:cs typeface="Arial"/>
              </a:defRPr>
            </a:pPr>
            <a:r>
              <a:rPr sz="4350" b="1">
                <a:solidFill>
                  <a:srgbClr val="000000"/>
                </a:solidFill>
                <a:latin typeface="Arial"/>
                <a:ea typeface="Arial"/>
                <a:cs typeface="Arial"/>
              </a:rPr>
              <a:t>tu aplicación aporta las reglas.</a:t>
            </a:r>
          </a:p>
        </p:txBody>
      </p:sp>
      <p:sp>
        <p:nvSpPr>
          <p:cNvPr id="3" name="Rectángulo 2">
            <a:extLst>
              <a:ext uri="{FF2B5EF4-FFF2-40B4-BE49-F238E27FC236}">
                <a16:creationId xmlns:a16="http://schemas.microsoft.com/office/drawing/2014/main" id="{83C50914-3A76-4DBC-BEE0-A53680DF8FC1}"/>
              </a:ext>
            </a:extLst>
          </p:cNvPr>
          <p:cNvSpPr>
            <a:spLocks noGrp="1"/>
          </p:cNvSpPr>
          <p:nvPr/>
        </p:nvSpPr>
        <p:spPr>
          <a:xfrm>
            <a:off x="400050" y="4419600"/>
            <a:ext cx="7048500" cy="1390650"/>
          </a:xfrm>
          <a:prstGeom prst="rect">
            <a:avLst/>
          </a:prstGeom>
          <a:noFill/>
          <a:ln w="0">
            <a:noFill/>
            <a:prstDash val="solid"/>
          </a:ln>
        </p:spPr>
        <p:txBody>
          <a:bodyPr wrap="square" lIns="0" tIns="0" rIns="0" bIns="0" anchor="t">
            <a:normAutofit/>
          </a:bodyPr>
          <a:lstStyle/>
          <a:p>
            <a:pPr algn="l">
              <a:defRPr sz="1800" b="0">
                <a:solidFill>
                  <a:srgbClr val="565E6B"/>
                </a:solidFill>
                <a:latin typeface="Arial"/>
                <a:ea typeface="Arial"/>
                <a:cs typeface="Arial"/>
              </a:defRPr>
            </a:pPr>
            <a:r>
              <a:rPr sz="1800" b="0">
                <a:solidFill>
                  <a:srgbClr val="565E6B"/>
                </a:solidFill>
                <a:latin typeface="Arial"/>
                <a:ea typeface="Arial"/>
                <a:cs typeface="Arial"/>
              </a:rPr>
              <a:t>1. Configura servicios y almacenamiento</a:t>
            </a:r>
          </a:p>
          <a:p>
            <a:pPr algn="l">
              <a:defRPr sz="1800" b="0">
                <a:solidFill>
                  <a:srgbClr val="565E6B"/>
                </a:solidFill>
                <a:latin typeface="Arial"/>
                <a:ea typeface="Arial"/>
                <a:cs typeface="Arial"/>
              </a:defRPr>
            </a:pPr>
            <a:r>
              <a:rPr sz="1800" b="0">
                <a:solidFill>
                  <a:srgbClr val="565E6B"/>
                </a:solidFill>
                <a:latin typeface="Arial"/>
                <a:ea typeface="Arial"/>
                <a:cs typeface="Arial"/>
              </a:rPr>
              <a:t>2. Usa los managers</a:t>
            </a:r>
          </a:p>
          <a:p>
            <a:pPr algn="l">
              <a:defRPr sz="1800" b="0">
                <a:solidFill>
                  <a:srgbClr val="565E6B"/>
                </a:solidFill>
                <a:latin typeface="Arial"/>
                <a:ea typeface="Arial"/>
                <a:cs typeface="Arial"/>
              </a:defRPr>
            </a:pPr>
            <a:r>
              <a:rPr sz="1800" b="0">
                <a:solidFill>
                  <a:srgbClr val="565E6B"/>
                </a:solidFill>
                <a:latin typeface="Arial"/>
                <a:ea typeface="Arial"/>
                <a:cs typeface="Arial"/>
              </a:rPr>
              <a:t>3. Protege en el servidor</a:t>
            </a:r>
          </a:p>
          <a:p>
            <a:pPr algn="l">
              <a:defRPr sz="1800" b="0">
                <a:solidFill>
                  <a:srgbClr val="565E6B"/>
                </a:solidFill>
                <a:latin typeface="Arial"/>
                <a:ea typeface="Arial"/>
                <a:cs typeface="Arial"/>
              </a:defRPr>
            </a:pPr>
            <a:r>
              <a:rPr sz="1800" b="0">
                <a:solidFill>
                  <a:srgbClr val="565E6B"/>
                </a:solidFill>
                <a:latin typeface="Arial"/>
                <a:ea typeface="Arial"/>
                <a:cs typeface="Arial"/>
              </a:rPr>
              <a:t>4. Personaliza solo lo necesario</a:t>
            </a:r>
          </a:p>
        </p:txBody>
      </p:sp>
      <p:sp>
        <p:nvSpPr>
          <p:cNvPr id="4" name="Rectángulo: esquinas redondeadas 3">
            <a:extLst>
              <a:ext uri="{FF2B5EF4-FFF2-40B4-BE49-F238E27FC236}">
                <a16:creationId xmlns:a16="http://schemas.microsoft.com/office/drawing/2014/main" id="{6EA614BD-5F16-4CBB-A8B6-E2521F50C426}"/>
              </a:ext>
            </a:extLst>
          </p:cNvPr>
          <p:cNvSpPr>
            <a:spLocks noGrp="1"/>
          </p:cNvSpPr>
          <p:nvPr/>
        </p:nvSpPr>
        <p:spPr>
          <a:xfrm>
            <a:off x="8705850" y="4229100"/>
            <a:ext cx="3086100" cy="1581150"/>
          </a:xfrm>
          <a:prstGeom prst="roundRect">
            <a:avLst>
              <a:gd name="adj" fmla="val 7229"/>
            </a:avLst>
          </a:prstGeom>
          <a:solidFill>
            <a:srgbClr val="DCEEFF"/>
          </a:solidFill>
          <a:ln w="0">
            <a:noFill/>
            <a:prstDash val="solid"/>
          </a:ln>
        </p:spPr>
        <p:txBody>
          <a:bodyPr/>
          <a:lstStyle/>
          <a:p>
            <a:endParaRPr lang="es-ES"/>
          </a:p>
        </p:txBody>
      </p:sp>
      <p:sp>
        <p:nvSpPr>
          <p:cNvPr id="5" name="Rectángulo 4">
            <a:extLst>
              <a:ext uri="{FF2B5EF4-FFF2-40B4-BE49-F238E27FC236}">
                <a16:creationId xmlns:a16="http://schemas.microsoft.com/office/drawing/2014/main" id="{82BB70B1-2843-42D3-882B-4EF2ECF3EF13}"/>
              </a:ext>
            </a:extLst>
          </p:cNvPr>
          <p:cNvSpPr>
            <a:spLocks noGrp="1"/>
          </p:cNvSpPr>
          <p:nvPr/>
        </p:nvSpPr>
        <p:spPr>
          <a:xfrm>
            <a:off x="9010650" y="4552950"/>
            <a:ext cx="2476500" cy="952500"/>
          </a:xfrm>
          <a:prstGeom prst="rect">
            <a:avLst/>
          </a:prstGeom>
          <a:noFill/>
          <a:ln w="0">
            <a:noFill/>
            <a:prstDash val="solid"/>
          </a:ln>
        </p:spPr>
        <p:txBody>
          <a:bodyPr wrap="square" lIns="0" tIns="0" rIns="0" bIns="0" anchor="t">
            <a:normAutofit/>
          </a:bodyPr>
          <a:lstStyle/>
          <a:p>
            <a:pPr algn="ctr">
              <a:defRPr sz="1875" b="1">
                <a:solidFill>
                  <a:srgbClr val="000000"/>
                </a:solidFill>
                <a:latin typeface="Arial"/>
                <a:ea typeface="Arial"/>
                <a:cs typeface="Arial"/>
              </a:defRPr>
            </a:pPr>
            <a:r>
              <a:rPr sz="1875" b="1">
                <a:solidFill>
                  <a:srgbClr val="000000"/>
                </a:solidFill>
                <a:latin typeface="Arial"/>
                <a:ea typeface="Arial"/>
                <a:cs typeface="Arial"/>
              </a:rPr>
              <a:t>REGISTRO</a:t>
            </a:r>
          </a:p>
          <a:p>
            <a:pPr algn="ctr">
              <a:defRPr sz="1875" b="1">
                <a:solidFill>
                  <a:srgbClr val="000000"/>
                </a:solidFill>
                <a:latin typeface="Arial"/>
                <a:ea typeface="Arial"/>
                <a:cs typeface="Arial"/>
              </a:defRPr>
            </a:pPr>
            <a:r>
              <a:rPr sz="1875" b="1">
                <a:solidFill>
                  <a:srgbClr val="000000"/>
                </a:solidFill>
                <a:latin typeface="Arial"/>
                <a:ea typeface="Arial"/>
                <a:cs typeface="Arial"/>
              </a:rPr>
              <a:t>→ COOKIE</a:t>
            </a:r>
          </a:p>
          <a:p>
            <a:pPr algn="ctr">
              <a:defRPr sz="1875" b="1">
                <a:solidFill>
                  <a:srgbClr val="000000"/>
                </a:solidFill>
                <a:latin typeface="Arial"/>
                <a:ea typeface="Arial"/>
                <a:cs typeface="Arial"/>
              </a:defRPr>
            </a:pPr>
            <a:r>
              <a:rPr sz="1875" b="1">
                <a:solidFill>
                  <a:srgbClr val="000000"/>
                </a:solidFill>
                <a:latin typeface="Arial"/>
                <a:ea typeface="Arial"/>
                <a:cs typeface="Arial"/>
              </a:rPr>
              <a:t>→ PERMISO</a:t>
            </a:r>
          </a:p>
        </p:txBody>
      </p:sp>
      <p:sp>
        <p:nvSpPr>
          <p:cNvPr id="6" name="Rectángulo 5">
            <a:extLst>
              <a:ext uri="{FF2B5EF4-FFF2-40B4-BE49-F238E27FC236}">
                <a16:creationId xmlns:a16="http://schemas.microsoft.com/office/drawing/2014/main" id="{EA833646-D2AE-436D-8393-86C3FB92F16B}"/>
              </a:ext>
            </a:extLst>
          </p:cNvPr>
          <p:cNvSpPr>
            <a:spLocks noGrp="1"/>
          </p:cNvSpPr>
          <p:nvPr/>
        </p:nvSpPr>
        <p:spPr>
          <a:xfrm>
            <a:off x="400050" y="6305550"/>
            <a:ext cx="4762500" cy="190500"/>
          </a:xfrm>
          <a:prstGeom prst="rect">
            <a:avLst/>
          </a:prstGeom>
          <a:noFill/>
          <a:ln w="0">
            <a:noFill/>
            <a:prstDash val="solid"/>
          </a:ln>
        </p:spPr>
        <p:txBody>
          <a:bodyPr wrap="square" lIns="0" tIns="0" rIns="0" bIns="0" anchor="t">
            <a:noAutofit/>
          </a:bodyPr>
          <a:lstStyle/>
          <a:p>
            <a:pPr algn="l">
              <a:defRPr sz="900" b="0">
                <a:solidFill>
                  <a:srgbClr val="565E6B"/>
                </a:solidFill>
                <a:latin typeface="Arial"/>
                <a:ea typeface="Arial"/>
                <a:cs typeface="Arial"/>
              </a:defRPr>
            </a:pPr>
            <a:r>
              <a:rPr sz="900" b="0">
                <a:solidFill>
                  <a:srgbClr val="565E6B"/>
                </a:solidFill>
                <a:latin typeface="Arial"/>
                <a:ea typeface="Arial"/>
                <a:cs typeface="Arial"/>
              </a:rPr>
              <a:t>Material didáctico · C# · Razor Pages</a:t>
            </a:r>
          </a:p>
        </p:txBody>
      </p:sp>
      <p:sp>
        <p:nvSpPr>
          <p:cNvPr id="7" name="Rectángulo 6">
            <a:extLst>
              <a:ext uri="{FF2B5EF4-FFF2-40B4-BE49-F238E27FC236}">
                <a16:creationId xmlns:a16="http://schemas.microsoft.com/office/drawing/2014/main" id="{AAB82A5A-00D0-4BD3-8B8A-8BABB89CBEEF}"/>
              </a:ext>
            </a:extLst>
          </p:cNvPr>
          <p:cNvSpPr>
            <a:spLocks noGrp="1"/>
          </p:cNvSpPr>
          <p:nvPr/>
        </p:nvSpPr>
        <p:spPr>
          <a:xfrm>
            <a:off x="11220450" y="6267450"/>
            <a:ext cx="571500" cy="228600"/>
          </a:xfrm>
          <a:prstGeom prst="rect">
            <a:avLst/>
          </a:prstGeom>
          <a:noFill/>
          <a:ln w="0">
            <a:noFill/>
            <a:prstDash val="solid"/>
          </a:ln>
        </p:spPr>
        <p:txBody>
          <a:bodyPr wrap="square" lIns="0" tIns="0" rIns="0" bIns="0" anchor="t">
            <a:noAutofit/>
          </a:bodyPr>
          <a:lstStyle/>
          <a:p>
            <a:pPr algn="r">
              <a:defRPr sz="975" b="0">
                <a:solidFill>
                  <a:srgbClr val="565E6B"/>
                </a:solidFill>
                <a:latin typeface="Arial"/>
                <a:ea typeface="Arial"/>
                <a:cs typeface="Arial"/>
              </a:defRPr>
            </a:pPr>
            <a:r>
              <a:rPr sz="975" b="0">
                <a:solidFill>
                  <a:srgbClr val="565E6B"/>
                </a:solidFill>
                <a:latin typeface="Arial"/>
                <a:ea typeface="Arial"/>
                <a:cs typeface="Arial"/>
              </a:rPr>
              <a:t>36</a:t>
            </a:r>
          </a:p>
        </p:txBody>
      </p:sp>
    </p:spTree>
    <p:extLst>
      <p:ext uri="{BB962C8B-B14F-4D97-AF65-F5344CB8AC3E}">
        <p14:creationId xmlns:p14="http://schemas.microsoft.com/office/powerpoint/2010/main" val="42708413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5519</Words>
  <Application>Microsoft Office PowerPoint</Application>
  <DocSecurity>0</DocSecurity>
  <PresentationFormat>Panorámica</PresentationFormat>
  <Paragraphs>770</Paragraphs>
  <Slides>35</Slides>
  <Notes>35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35</vt:i4>
      </vt:variant>
    </vt:vector>
  </HeadingPairs>
  <TitlesOfParts>
    <vt:vector size="39" baseType="lpstr">
      <vt:lpstr>Arial</vt:lpstr>
      <vt:lpstr>Calibri</vt:lpstr>
      <vt:lpstr>Consolas</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Fernando Ruiz</cp:lastModifiedBy>
  <cp:revision>1</cp:revision>
  <cp:lastPrinted>2026-07-30T06:37:21Z</cp:lastPrinted>
  <dcterms:created xsi:type="dcterms:W3CDTF">2026-07-30T06:30:19Z</dcterms:created>
  <dcterms:modified xsi:type="dcterms:W3CDTF">2026-07-30T06:37:25Z</dcterms:modified>
</cp:coreProperties>
</file>