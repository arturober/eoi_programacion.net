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Pregunta inicial: «Cuando escribimos una URL, ¿qué código C# se ejecuta y quién crea el HTML?». La presentación responde a esa pregunta paso a paso.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https://learn.microsoft.com/aspnet/core/tutorials/razor-pages/razor-pages-start?view=aspnetcore-10.0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Razor Pages no elimina MVC: utiliza gran parte de su infraestructura, pero aplica una organización centrada en páginas. Conviene presentar primero la ventaja organizativa.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Insistir en que no son tres aplicaciones: son tres responsabilidades de una misma página. Después se verá la pareja de archivos.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  <a:p>
            <a:r>
              <a:t>- https://learn.microsoft.com/aspnet/core/mvc/views/razor?view=aspnetcore-10.0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en el explorador de VS Code una pareja real de archivos. La convención de nombres permite que la relación sea inmediata.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la línea de izquierda a derecha. Pregunta de control: «¿Viaja la clase PageModel al navegador?». Respuesta: no; se ejecuta en el servidor.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  <a:p>
            <a:r>
              <a:t>- https://learn.microsoft.com/aspnet/core/mvc/views/razor?view=aspnetcore-10.0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memorizar todo Program.cs. El objetivo es reconocer los dos puntos imprescindibles: registrar con AddRazorPages y mapear con MapRazorPages.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  <a:p>
            <a:r>
              <a:t>- https://learn.microsoft.com/aspnet/core/tutorials/razor-pages/razor-pages-start?view=aspnetcore-10.0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el ejemplo literalmente: HTML, salto a C# con @, vuelta a HTML. Razor es una sintaxis de plantillas que combina HTML, marcado Razor y C#.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https://learn.microsoft.com/aspnet/core/mvc/views/razor?view=aspnetcore-10.0</a:t>
            </a:r>
          </a:p>
          <a:p>
            <a:r>
              <a:t>- https://learn.microsoft.com/aspnet/core/razor-pages/?view=aspnetcore-10.0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sintaxis del constructor primario es C# moderno, no una característica exclusiva de Razor Pages. Separar la lógica de acceso a datos del HTML mejora la lectura.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  <a:p>
            <a:r>
              <a:t>- https://learn.microsoft.com/aspnet/core/data/ef-rp/intro?view=aspnetcore-10.0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Relacionar GET con «consultar» y POST con «enviar un cambio». Más adelante se puede presentar PUT/DELETE en APIs, pero Razor Pages usa habitualmente GET y POST.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binding como una conversión automática: texto de HTTP a int, string u objeto C#. Recordar que el binding a propiedades se aplica por defecto a verbos distintos de GET.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Seguir el mismo dato: Categoria.Nombre aparece en asp-for y llega a la propiedad Categoria. Advertir de que no se deben enlazar sin control propiedades que el cliente no debería modificar.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idea clave es «validar antes de guardar». return Page() conserva la página para mostrar los errores; una redirección los perdería.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DI con una frase simple: «La clase pide lo que necesita y ASP.NET Core se lo entrega». Esto evita crear manualmente el contexto en cada página.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https://learn.microsoft.com/aspnet/core/fundamentals/dependency-injection?view=aspnetcore-10.0</a:t>
            </a:r>
          </a:p>
          <a:p>
            <a:r>
              <a:t>- https://learn.microsoft.com/aspnet/core/data/ef-rp/intro?view=aspnetcore-10.0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Evitar la explicación «async hace todo más rápido». La mejora consiste en no mantener un hilo bloqueado mientras se espera una operación de E/S.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https://learn.microsoft.com/aspnet/core/data/ef-rp/intro?view=aspnetcore-10.0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Relacionar cada página con una única tarea. En proyectos pequeños esta organización facilita que el alumnado encuentre rápidamente el código.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  <a:p>
            <a:r>
              <a:t>- https://learn.microsoft.com/aspnet/core/data/ef-rp/intro?view=aspnetcore-10.0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diapositiva funciona como síntesis. Pedir al alumnado que identifique binding, GET, POST, validación, acceso asíncrono y resultados.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  <a:p>
            <a:r>
              <a:t>- https://learn.microsoft.com/aspnet/core/data/ef-rp/intro?view=aspnetcore-10.0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Mencionar el patrón Post/Redirect/Get: tras guardar correctamente se redirige, evitando repetir el envío al recargar. Recordar el riesgo de overposting.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https://learn.microsoft.com/aspnet/core/razor-pages/?view=aspnetcore-10.0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7CC1A0DC-E569-4540-A669-BDE2199F10A7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Razor Pages
en .NET 10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E5413D77-41D1-4ED5-86EE-585BC46FEFA0}"/>
              </a:ext>
            </a:extLst>
          </p:cNvPr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 err="1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Cómo</a:t>
            </a:r>
            <a:r>
              <a:rPr sz="1800" b="0" dirty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una</a:t>
            </a:r>
            <a:r>
              <a:rPr sz="1800" b="0" dirty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 URL, HTML y </a:t>
            </a:r>
            <a:r>
              <a:rPr sz="1800" b="0" dirty="0" err="1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una</a:t>
            </a:r>
            <a:r>
              <a:rPr sz="1800" b="0" dirty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clase</a:t>
            </a:r>
            <a:r>
              <a:rPr sz="1800" b="0" dirty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 C# </a:t>
            </a:r>
            <a:r>
              <a:rPr sz="1800" b="0" dirty="0" err="1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trabajan</a:t>
            </a:r>
            <a:r>
              <a:rPr sz="1800" b="0" dirty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 juntas
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FA1EA8DE-41F0-4694-9307-81B6F8498C9A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ASP.NET Core · Introducción</a:t>
            </a:r>
          </a:p>
        </p:txBody>
      </p:sp>
    </p:spTree>
    <p:extLst>
      <p:ext uri="{BB962C8B-B14F-4D97-AF65-F5344CB8AC3E}">
        <p14:creationId xmlns:p14="http://schemas.microsoft.com/office/powerpoint/2010/main" val="109017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2-p58-2">
            <a:extLst>
              <a:ext uri="{FF2B5EF4-FFF2-40B4-BE49-F238E27FC236}">
                <a16:creationId xmlns:a16="http://schemas.microsoft.com/office/drawing/2014/main" id="{D2ECD5E3-2831-4721-9462-580367F272A5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F1F97F81-9EF6-47A5-8F0C-E5C4F3DDEE9F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Razor Pages organiza la web alrededor de cada página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E99C4D3F-9E8D-4510-A184-6BB85A7E2F02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La idea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Cada pantalla reúne su ruta, su interfaz y la lógica que atiende las peticiones.
El código relacionado queda cerca y es fácil de localizar.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8A532715-9F50-4C28-8AB2-D8F9A8D3AC04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Dónde encaja especialmente bien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• Formularios
• Altas, consultas, cambios y borrados
• Aplicaciones centradas en páginas
• Proyectos educativos y administrativos</a:t>
            </a:r>
          </a:p>
        </p:txBody>
      </p:sp>
    </p:spTree>
    <p:extLst>
      <p:ext uri="{BB962C8B-B14F-4D97-AF65-F5344CB8AC3E}">
        <p14:creationId xmlns:p14="http://schemas.microsoft.com/office/powerpoint/2010/main" val="21652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2F663808-B84E-4159-9217-6B1B7202FDFE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F7025164-A89B-4052-8D64-611C49EE58DB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Cada página une ruta, interfaz y lógica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D046A077-5B2A-4CE9-8BB9-A09F19B2BDE1}"/>
              </a:ext>
            </a:extLst>
          </p:cNvPr>
          <p:cNvSpPr>
            <a:spLocks noGrp="1"/>
          </p:cNvSpPr>
          <p:nvPr/>
        </p:nvSpPr>
        <p:spPr>
          <a:xfrm>
            <a:off x="393668" y="3365468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1 · Ruta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La ubicación dentro de Pages determina normalmente la URL.</a:t>
            </a:r>
          </a:p>
        </p:txBody>
      </p:sp>
      <p:sp>
        <p:nvSpPr>
          <p:cNvPr id="4" name="Content-Placeholder-1-5">
            <a:extLst>
              <a:ext uri="{FF2B5EF4-FFF2-40B4-BE49-F238E27FC236}">
                <a16:creationId xmlns:a16="http://schemas.microsoft.com/office/drawing/2014/main" id="{EB4F78EB-CFDD-4F70-87E9-E63F7AC58051}"/>
              </a:ext>
            </a:extLst>
          </p:cNvPr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3 · PageModel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Contiene propiedades y métodos C# como OnGet y OnPost.</a:t>
            </a:r>
          </a:p>
        </p:txBody>
      </p:sp>
      <p:sp>
        <p:nvSpPr>
          <p:cNvPr id="5" name="Content-Placeholder-2-6">
            <a:extLst>
              <a:ext uri="{FF2B5EF4-FFF2-40B4-BE49-F238E27FC236}">
                <a16:creationId xmlns:a16="http://schemas.microsoft.com/office/drawing/2014/main" id="{FCA1A01F-BD06-4790-BA1A-7C27EE3F1AE2}"/>
              </a:ext>
            </a:extLst>
          </p:cNvPr>
          <p:cNvSpPr>
            <a:spLocks noGrp="1"/>
          </p:cNvSpPr>
          <p:nvPr/>
        </p:nvSpPr>
        <p:spPr>
          <a:xfrm>
            <a:off x="4311682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2 · .cshtml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Contiene HTML, directivas Razor, Tag Helpers y datos del modelo.</a:t>
            </a:r>
          </a:p>
        </p:txBody>
      </p:sp>
    </p:spTree>
    <p:extLst>
      <p:ext uri="{BB962C8B-B14F-4D97-AF65-F5344CB8AC3E}">
        <p14:creationId xmlns:p14="http://schemas.microsoft.com/office/powerpoint/2010/main" val="150858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-Shape-532-p58-2">
            <a:extLst>
              <a:ext uri="{FF2B5EF4-FFF2-40B4-BE49-F238E27FC236}">
                <a16:creationId xmlns:a16="http://schemas.microsoft.com/office/drawing/2014/main" id="{8D437A6B-E443-4680-B7F5-F9280D60F2C2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651BD156-66FD-411C-A359-03DD951C47ED}"/>
              </a:ext>
            </a:extLst>
          </p:cNvPr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Dos archivos colaboran para construir una página</a:t>
            </a:r>
          </a:p>
        </p:txBody>
      </p:sp>
      <p:sp>
        <p:nvSpPr>
          <p:cNvPr id="3" name="Rounded-Rectangle-1-4">
            <a:extLst>
              <a:ext uri="{FF2B5EF4-FFF2-40B4-BE49-F238E27FC236}">
                <a16:creationId xmlns:a16="http://schemas.microsoft.com/office/drawing/2014/main" id="{363DB094-542E-4815-8AEE-684AC6282907}"/>
              </a:ext>
            </a:extLst>
          </p:cNvPr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ES"/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35D037A8-FCDF-409A-9EC2-ACEE3C55E6A8}"/>
              </a:ext>
            </a:extLst>
          </p:cNvPr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Index.cshtml</a:t>
            </a:r>
          </a:p>
        </p:txBody>
      </p:sp>
      <p:sp>
        <p:nvSpPr>
          <p:cNvPr id="5" name="Content-Placeholder-15-6">
            <a:extLst>
              <a:ext uri="{FF2B5EF4-FFF2-40B4-BE49-F238E27FC236}">
                <a16:creationId xmlns:a16="http://schemas.microsoft.com/office/drawing/2014/main" id="{1AFA30ED-528B-4674-A59C-9CCC55A7E9E1}"/>
              </a:ext>
            </a:extLst>
          </p:cNvPr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HTML y directivas Razor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@page y @model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Presentación de los datos</a:t>
            </a:r>
          </a:p>
        </p:txBody>
      </p:sp>
      <p:sp>
        <p:nvSpPr>
          <p:cNvPr id="6" name="Rounded-Rectangle-7-7">
            <a:extLst>
              <a:ext uri="{FF2B5EF4-FFF2-40B4-BE49-F238E27FC236}">
                <a16:creationId xmlns:a16="http://schemas.microsoft.com/office/drawing/2014/main" id="{98DB0BAF-6C76-4227-A5A8-A3E9373E87FE}"/>
              </a:ext>
            </a:extLst>
          </p:cNvPr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4F9FB896-1B16-4FE9-8A66-4789C45890B5}"/>
              </a:ext>
            </a:extLst>
          </p:cNvPr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Index.cshtml.cs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A6BBB4C9-7BF7-4922-91E7-9ED314D00AAD}"/>
              </a:ext>
            </a:extLst>
          </p:cNvPr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Clase que hereda de PageModel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Propiedades para la página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Manejadores OnGet / OnPost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8F9EE44D-6BCB-4301-AAF1-91B145F907BE}"/>
              </a:ext>
            </a:extLst>
          </p:cNvPr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Ejemplo: Pages/Categorias/Index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Por convención, el archivo de C# añade .cs al nombre del archivo Razor. @model conecta ambos.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El alumnado debe aprender a abrirlos juntos.</a:t>
            </a:r>
          </a:p>
        </p:txBody>
      </p:sp>
    </p:spTree>
    <p:extLst>
      <p:ext uri="{BB962C8B-B14F-4D97-AF65-F5344CB8AC3E}">
        <p14:creationId xmlns:p14="http://schemas.microsoft.com/office/powerpoint/2010/main" val="114051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Number-Placeholder-3-2">
            <a:extLst>
              <a:ext uri="{FF2B5EF4-FFF2-40B4-BE49-F238E27FC236}">
                <a16:creationId xmlns:a16="http://schemas.microsoft.com/office/drawing/2014/main" id="{6163506A-88F2-4AEC-817F-E8BD2C604DE2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77E063C2-ADDD-4856-A6C6-2D3B265313CE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Una petición GET recorre tres pasos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FD3F9423-DE65-4C02-B06A-33DB0849393D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s-ES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5DB5315C-FF74-45C9-93F2-6CD98139527B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s-ES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7C3A656C-D23D-4806-BD4C-0D84985AB5BF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ABED7DCB-559A-4E91-8900-D49F74563A99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PETICIÓN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2A71469A-192E-4A59-A184-C9ED046C850F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C#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029B8E80-924B-40D1-9A1E-7B0FFB6097FC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D6470"/>
                </a:solidFill>
                <a:latin typeface="Helvetica Neue"/>
                <a:ea typeface="Helvetica Neue"/>
                <a:cs typeface="Helvetica Neue"/>
              </a:rPr>
              <a:t>RESPUESTA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95F200B6-CCBE-442A-8420-E994336D03AB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2 · Se ejecuta OnGet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El PageModel prepara los datos necesarios.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66D9F97D-120F-4780-96A8-DBB61FB8765C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1 · Llega la URL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El enrutamiento encuentra el archivo dentro de Pages.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0DD6F7FD-6499-4826-BD29-E698F8516A00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3 · Razor crea HTML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El servidor envía al navegador HTML, no código C#.</a:t>
            </a:r>
          </a:p>
        </p:txBody>
      </p:sp>
    </p:spTree>
    <p:extLst>
      <p:ext uri="{BB962C8B-B14F-4D97-AF65-F5344CB8AC3E}">
        <p14:creationId xmlns:p14="http://schemas.microsoft.com/office/powerpoint/2010/main" val="75232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4-p58-1">
            <a:extLst>
              <a:ext uri="{FF2B5EF4-FFF2-40B4-BE49-F238E27FC236}">
                <a16:creationId xmlns:a16="http://schemas.microsoft.com/office/drawing/2014/main" id="{BEE2EC20-5F39-4765-A8C7-170DC64920C6}"/>
              </a:ext>
            </a:extLst>
          </p:cNvPr>
          <p:cNvSpPr>
            <a:spLocks noGrp="1"/>
          </p:cNvSpPr>
          <p:nvPr/>
        </p:nvSpPr>
        <p:spPr>
          <a:xfrm>
            <a:off x="393668" y="1838801"/>
            <a:ext cx="5533168" cy="415556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Configuración mínima en .NET 10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6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var builder = WebApplication.CreateBuilder(args);
builder.Services.AddRazorPages();
var app = builder.Build();
app.UseHttpsRedirection();
app.UseRouting();
app.UseAuthorization();
app.MapStaticAssets();
app.MapRazorPages()
   .WithStaticAssets();
app.Run();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65" b="0">
              <a:solidFill>
                <a:srgbClr val="1F2937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65" b="0">
              <a:solidFill>
                <a:srgbClr val="1F293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C17E6CA9-407C-42F5-98E3-4539DC9C4BD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FC433228-11BF-4837-99D7-0506D06FBCC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Program.cs activa y publica las Razor Pages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75929436-4977-46CF-B7F3-5A8C7E26C70D}"/>
              </a:ext>
            </a:extLst>
          </p:cNvPr>
          <p:cNvSpPr>
            <a:spLocks noGrp="1"/>
          </p:cNvSpPr>
          <p:nvPr/>
        </p:nvSpPr>
        <p:spPr>
          <a:xfrm>
            <a:off x="6265069" y="2192655"/>
            <a:ext cx="5537168" cy="38017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AddRazorPages registra los servicios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ASP.NET Core sabrá crear PageModel, aplicar binding, validación y demás servicios.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MapRazorPages añade las rutas. En .NET 10, los proyectos nuevos también integran la gestión optimizada de archivos estáticos.</a:t>
            </a:r>
          </a:p>
        </p:txBody>
      </p:sp>
    </p:spTree>
    <p:extLst>
      <p:ext uri="{BB962C8B-B14F-4D97-AF65-F5344CB8AC3E}">
        <p14:creationId xmlns:p14="http://schemas.microsoft.com/office/powerpoint/2010/main" val="107097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2-p58-2">
            <a:extLst>
              <a:ext uri="{FF2B5EF4-FFF2-40B4-BE49-F238E27FC236}">
                <a16:creationId xmlns:a16="http://schemas.microsoft.com/office/drawing/2014/main" id="{7C18A50D-B4A3-482C-8952-D68BEA8F3276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D4FEAEA1-3B45-487D-AD83-4281C139240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Razor inserta valores C# dentro del HTML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C34B37FB-FC50-491D-81B0-8A1E970C8734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Index.cshtml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@page
@model IndexModel
&lt;h1&gt;@Model.Titulo&lt;/h1&gt;
&lt;ul&gt;
@foreach (Categoria categoria
          in Model.Categorias)
{
    &lt;li&gt;@categoria.Nombre&lt;/li&gt;
}
&lt;/ul&gt;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54E06410-D1F4-4C9D-A2BB-5E43F6E596E0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Cómo leerlo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• @page convierte el archivo en una página enrutable.
• @model indica qué PageModel utiliza.
• @ cambia temporalmente de HTML a C#.
• Model permite leer sus propiedades.</a:t>
            </a:r>
          </a:p>
        </p:txBody>
      </p:sp>
    </p:spTree>
    <p:extLst>
      <p:ext uri="{BB962C8B-B14F-4D97-AF65-F5344CB8AC3E}">
        <p14:creationId xmlns:p14="http://schemas.microsoft.com/office/powerpoint/2010/main" val="46204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2-p58-2">
            <a:extLst>
              <a:ext uri="{FF2B5EF4-FFF2-40B4-BE49-F238E27FC236}">
                <a16:creationId xmlns:a16="http://schemas.microsoft.com/office/drawing/2014/main" id="{A5AC147C-9D8E-4738-927F-48906731FD41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9FE1A7B5-BDE0-4D32-98EA-F35DD5D883DE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PageModel prepara los datos y toma decisiones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6EC106A9-900C-4552-9ED6-59DF0744ACCD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Index.cshtml.cs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public class IndexModel(
    TrivialContext contexto) : PageModel
{
    public List&lt;Categoria&gt; Categorias
        { get; set; } = [];
    public async Task OnGetAsync()
    {
        Categorias = await contexto.Categorias
            .OrderBy(c =&gt; c.Nombre)
            .ToListAsync();
    }
}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3C0341B4-0072-4BB4-A1A5-8BCF948A631F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Responsabilidades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1. Recibir servicios por el constructor.
2. Consultar o modificar datos.
3. Exponer propiedades a .cshtml.
4. Devolver Page, RedirectToPage, NotFound u otro resultado cuando sea necesario.</a:t>
            </a:r>
          </a:p>
        </p:txBody>
      </p:sp>
    </p:spTree>
    <p:extLst>
      <p:ext uri="{BB962C8B-B14F-4D97-AF65-F5344CB8AC3E}">
        <p14:creationId xmlns:p14="http://schemas.microsoft.com/office/powerpoint/2010/main" val="119424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-Shape-532-p58-2">
            <a:extLst>
              <a:ext uri="{FF2B5EF4-FFF2-40B4-BE49-F238E27FC236}">
                <a16:creationId xmlns:a16="http://schemas.microsoft.com/office/drawing/2014/main" id="{731066DE-D263-4985-A8C6-071AFE1CC12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27409702-2626-407B-8999-F811C585AAED}"/>
              </a:ext>
            </a:extLst>
          </p:cNvPr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GET muestra información; POST procesa cambios</a:t>
            </a:r>
          </a:p>
        </p:txBody>
      </p:sp>
      <p:sp>
        <p:nvSpPr>
          <p:cNvPr id="3" name="Rounded-Rectangle-1-4">
            <a:extLst>
              <a:ext uri="{FF2B5EF4-FFF2-40B4-BE49-F238E27FC236}">
                <a16:creationId xmlns:a16="http://schemas.microsoft.com/office/drawing/2014/main" id="{CE490102-02EC-490C-AD17-B59D7BF3181C}"/>
              </a:ext>
            </a:extLst>
          </p:cNvPr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ES"/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7D2DAFB5-1082-424F-B1B7-597ADFCC4F98}"/>
              </a:ext>
            </a:extLst>
          </p:cNvPr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OnGetAsync</a:t>
            </a:r>
          </a:p>
        </p:txBody>
      </p:sp>
      <p:sp>
        <p:nvSpPr>
          <p:cNvPr id="5" name="Content-Placeholder-15-6">
            <a:extLst>
              <a:ext uri="{FF2B5EF4-FFF2-40B4-BE49-F238E27FC236}">
                <a16:creationId xmlns:a16="http://schemas.microsoft.com/office/drawing/2014/main" id="{D7DA4B74-03D0-4FA3-98FE-D1131D13C7C2}"/>
              </a:ext>
            </a:extLst>
          </p:cNvPr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Abre una página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Carga datos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No debería modificar información</a:t>
            </a:r>
          </a:p>
        </p:txBody>
      </p:sp>
      <p:sp>
        <p:nvSpPr>
          <p:cNvPr id="6" name="Rounded-Rectangle-7-7">
            <a:extLst>
              <a:ext uri="{FF2B5EF4-FFF2-40B4-BE49-F238E27FC236}">
                <a16:creationId xmlns:a16="http://schemas.microsoft.com/office/drawing/2014/main" id="{A5CCD27D-D24A-4FED-A56C-E0F2F18BDA45}"/>
              </a:ext>
            </a:extLst>
          </p:cNvPr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2F30BCD3-6AC5-4E37-9C2D-735B262EB397}"/>
              </a:ext>
            </a:extLst>
          </p:cNvPr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OnPostAsync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DFCBFF1C-AC68-406E-8803-2C40A1C7F0CE}"/>
              </a:ext>
            </a:extLst>
          </p:cNvPr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Recibe un formulario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Valida y guarda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Suele terminar con una redirección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8AD7B6E8-CEE4-44D4-9888-2F44614B8343}"/>
              </a:ext>
            </a:extLst>
          </p:cNvPr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Los nombres de los manejadores siguen una convención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OnGet / OnGetAsync responden a GET. OnPost / OnPostAsync responden a formularios enviados con POST.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El sufijo Async acompaña a métodos asíncronos.</a:t>
            </a:r>
          </a:p>
        </p:txBody>
      </p:sp>
    </p:spTree>
    <p:extLst>
      <p:ext uri="{BB962C8B-B14F-4D97-AF65-F5344CB8AC3E}">
        <p14:creationId xmlns:p14="http://schemas.microsoft.com/office/powerpoint/2010/main" val="44946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-Placeholder-1-2">
            <a:extLst>
              <a:ext uri="{FF2B5EF4-FFF2-40B4-BE49-F238E27FC236}">
                <a16:creationId xmlns:a16="http://schemas.microsoft.com/office/drawing/2014/main" id="{FAB9D19E-FA15-4872-9082-9223948F9EF2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6B2889C8-E5F2-4E25-A154-5CE0E38C2369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model binding convierte datos HTTP en valores C#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E6F559CD-3756-494B-B3D3-67BAE87E2F48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Ruta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@page "{id:int}" → OnGetAsync(int id)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B3E907EA-4104-40B5-BBF9-10817D7FB5EC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Query string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?busqueda=redes → string? busqueda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266278A4-0F4B-4341-B455-90C71FA47CE7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Formulario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asp-for genera nombres que ASP.NET Core puede enlazar.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F2059DAD-DC7D-4E66-9A0E-1D0E29E2C8BC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PageModel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[BindProperty] permite recibir un objeto mediante POST.</a:t>
            </a:r>
          </a:p>
        </p:txBody>
      </p:sp>
    </p:spTree>
    <p:extLst>
      <p:ext uri="{BB962C8B-B14F-4D97-AF65-F5344CB8AC3E}">
        <p14:creationId xmlns:p14="http://schemas.microsoft.com/office/powerpoint/2010/main" val="175364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4-p58-1">
            <a:extLst>
              <a:ext uri="{FF2B5EF4-FFF2-40B4-BE49-F238E27FC236}">
                <a16:creationId xmlns:a16="http://schemas.microsoft.com/office/drawing/2014/main" id="{E1374AD5-2CB6-4BD1-9656-C83AC388DD64}"/>
              </a:ext>
            </a:extLst>
          </p:cNvPr>
          <p:cNvSpPr>
            <a:spLocks noGrp="1"/>
          </p:cNvSpPr>
          <p:nvPr/>
        </p:nvSpPr>
        <p:spPr>
          <a:xfrm>
            <a:off x="393668" y="1838801"/>
            <a:ext cx="5533168" cy="415556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Editar.cshtml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@page "{id:int}"
@model EditarModel
&lt;form method="post"&gt;
    &lt;input asp-for="Categoria.Id"
           type="hidden" /&gt;
    &lt;label asp-for="Categoria.Nombre"&gt;
    &lt;/label&gt;
    &lt;input asp-for="Categoria.Nombre"
           class="form-control" /&gt;
    &lt;span asp-validation-for=
          "Categoria.Nombre"&gt;&lt;/span&gt;
    &lt;button type="submit"&gt;Guardar&lt;/button&gt;
&lt;/form&gt;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290" b="0">
              <a:solidFill>
                <a:srgbClr val="1F2937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290" b="0">
              <a:solidFill>
                <a:srgbClr val="1F293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A9CC0F59-2E60-4F66-9136-18EC496B3F73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EE844170-CF7F-403E-979D-9242FFE3882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[BindProperty] conecta el formulario con una propiedad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396964A4-2C35-4DF2-A659-FE7392FEBB3B}"/>
              </a:ext>
            </a:extLst>
          </p:cNvPr>
          <p:cNvSpPr>
            <a:spLocks noGrp="1"/>
          </p:cNvSpPr>
          <p:nvPr/>
        </p:nvSpPr>
        <p:spPr>
          <a:xfrm>
            <a:off x="6265069" y="2192655"/>
            <a:ext cx="5537168" cy="38017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Editar.cshtml.cs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[BindProperty]
public Categoria Categoria
    { get; set; } = new();
public async Task&lt;IActionResult&gt;
    OnPostAsync()
{
    if (!ModelState.IsValid)
        return Page();
    contexto.Categorias.Update(Categoria);
    await contexto.SaveChangesAsync();
    return RedirectToPage("Index");
}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Los nombres generados por asp-for coinciden con la ruta de la propiedad.</a:t>
            </a:r>
          </a:p>
        </p:txBody>
      </p:sp>
    </p:spTree>
    <p:extLst>
      <p:ext uri="{BB962C8B-B14F-4D97-AF65-F5344CB8AC3E}">
        <p14:creationId xmlns:p14="http://schemas.microsoft.com/office/powerpoint/2010/main" val="198271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-Placeholder-1-2">
            <a:extLst>
              <a:ext uri="{FF2B5EF4-FFF2-40B4-BE49-F238E27FC236}">
                <a16:creationId xmlns:a16="http://schemas.microsoft.com/office/drawing/2014/main" id="{D5430805-9F77-4675-9CB4-E3F9D9C62AFC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2F3D7634-1F02-4526-B124-824B880F7C16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validación detiene el guardado si los datos no son válidos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DE9F9B02-B70A-4767-B179-203AD9D16BAD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1 · Reglas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[Required]
[StringLength(50)]
public string Nombre { get; set; } = "";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10BA7A35-295B-4BF7-985E-0B856428EE6E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2 · Binding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ASP.NET Core crea el objeto y registra los errores.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4F3C0D2A-C67E-4D08-BF3B-5C924490B10F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3 · Comprobación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if (!ModelState.IsValid)
    return Page();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A161B73F-6261-45DD-879B-F5212C491DEA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4 · Mensajes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asp-validation-for muestra el error junto al campo.</a:t>
            </a:r>
          </a:p>
        </p:txBody>
      </p:sp>
    </p:spTree>
    <p:extLst>
      <p:ext uri="{BB962C8B-B14F-4D97-AF65-F5344CB8AC3E}">
        <p14:creationId xmlns:p14="http://schemas.microsoft.com/office/powerpoint/2010/main" val="1303362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DF602D48-0C37-4CC1-8479-D0542EC2A10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08C3CF35-2036-4AD1-8163-298363F127A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DI entrega servicios al PageModel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650FA19D-9484-44E3-85AF-C149E2BFCE90}"/>
              </a:ext>
            </a:extLst>
          </p:cNvPr>
          <p:cNvSpPr>
            <a:spLocks noGrp="1"/>
          </p:cNvSpPr>
          <p:nvPr/>
        </p:nvSpPr>
        <p:spPr>
          <a:xfrm>
            <a:off x="393668" y="3365468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1 · Registrar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builder.Services
 .AddDbContext&lt;TrivialContext&gt;();</a:t>
            </a:r>
          </a:p>
        </p:txBody>
      </p:sp>
      <p:sp>
        <p:nvSpPr>
          <p:cNvPr id="4" name="Content-Placeholder-1-5">
            <a:extLst>
              <a:ext uri="{FF2B5EF4-FFF2-40B4-BE49-F238E27FC236}">
                <a16:creationId xmlns:a16="http://schemas.microsoft.com/office/drawing/2014/main" id="{7E13B089-D26F-4E79-AE36-96639A3C38C5}"/>
              </a:ext>
            </a:extLst>
          </p:cNvPr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3 · Utilizar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await contexto.Categorias
  .ToListAsync();</a:t>
            </a:r>
          </a:p>
        </p:txBody>
      </p:sp>
      <p:sp>
        <p:nvSpPr>
          <p:cNvPr id="5" name="Content-Placeholder-2-6">
            <a:extLst>
              <a:ext uri="{FF2B5EF4-FFF2-40B4-BE49-F238E27FC236}">
                <a16:creationId xmlns:a16="http://schemas.microsoft.com/office/drawing/2014/main" id="{20B539CB-0CD6-43ED-B764-A5930335D986}"/>
              </a:ext>
            </a:extLst>
          </p:cNvPr>
          <p:cNvSpPr>
            <a:spLocks noGrp="1"/>
          </p:cNvSpPr>
          <p:nvPr/>
        </p:nvSpPr>
        <p:spPr>
          <a:xfrm>
            <a:off x="4311682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2 · Recibir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public class IndexModel(
  TrivialContext contexto)
  : PageModel</a:t>
            </a:r>
          </a:p>
        </p:txBody>
      </p:sp>
    </p:spTree>
    <p:extLst>
      <p:ext uri="{BB962C8B-B14F-4D97-AF65-F5344CB8AC3E}">
        <p14:creationId xmlns:p14="http://schemas.microsoft.com/office/powerpoint/2010/main" val="59141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2-p58-2">
            <a:extLst>
              <a:ext uri="{FF2B5EF4-FFF2-40B4-BE49-F238E27FC236}">
                <a16:creationId xmlns:a16="http://schemas.microsoft.com/office/drawing/2014/main" id="{72F3F7E1-C3BF-40E4-8155-211BC90833B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9F9D3145-39F1-438F-839E-2F37540F17C6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Async y await evitan bloquear el servidor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2C758BD4-6BBC-4C52-834E-733036405120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Operaciones habituales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Categoria? categoria =
    await contexto.Categorias
        .FindAsync(id);
List&lt;Categoria&gt; categorias =
    await contexto.Categorias
        .ToListAsync();
await contexto.SaveChangesAsync();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E2F81FE6-F9D5-4913-9667-FE5487EA14AA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Qué significa realmente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Mientras la aplicación espera una operación de entrada/salida, el servidor puede atender otras solicitudes.
No hace que la consulta SQL sea mágicamente más rápida: mejora el uso de los recursos del servidor.</a:t>
            </a:r>
          </a:p>
        </p:txBody>
      </p:sp>
    </p:spTree>
    <p:extLst>
      <p:ext uri="{BB962C8B-B14F-4D97-AF65-F5344CB8AC3E}">
        <p14:creationId xmlns:p14="http://schemas.microsoft.com/office/powerpoint/2010/main" val="26373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-Placeholder-1-2">
            <a:extLst>
              <a:ext uri="{FF2B5EF4-FFF2-40B4-BE49-F238E27FC236}">
                <a16:creationId xmlns:a16="http://schemas.microsoft.com/office/drawing/2014/main" id="{02B4829A-A47E-453A-BC66-5115CA4F4DE0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0FAF75D8-53C9-44DC-9251-1E3953E89CA3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 CRUD se divide en páginas pequeñas y predecibles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CB4DA358-9257-4EEE-A19F-DB72DADD73BE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Index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GET consulta y muestra el listado.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4840530D-90BB-42D9-A879-D3EBC8C58956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Crear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GET muestra el formulario. POST valida y añade.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617C6C85-5035-46B5-8BDC-77D3385609A6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Editar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GET carga por id. POST valida y actualiza.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40EED760-3ECE-46BA-88EC-EE04537C6E65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Eliminar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POST localiza y borra tras confirmar la acción.</a:t>
            </a:r>
          </a:p>
        </p:txBody>
      </p:sp>
    </p:spTree>
    <p:extLst>
      <p:ext uri="{BB962C8B-B14F-4D97-AF65-F5344CB8AC3E}">
        <p14:creationId xmlns:p14="http://schemas.microsoft.com/office/powerpoint/2010/main" val="1523055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4-p58-1">
            <a:extLst>
              <a:ext uri="{FF2B5EF4-FFF2-40B4-BE49-F238E27FC236}">
                <a16:creationId xmlns:a16="http://schemas.microsoft.com/office/drawing/2014/main" id="{7A092BB8-2565-42F9-B1B6-8C89C0B0F48D}"/>
              </a:ext>
            </a:extLst>
          </p:cNvPr>
          <p:cNvSpPr>
            <a:spLocks noGrp="1"/>
          </p:cNvSpPr>
          <p:nvPr/>
        </p:nvSpPr>
        <p:spPr>
          <a:xfrm>
            <a:off x="393668" y="1838801"/>
            <a:ext cx="5533168" cy="415556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Editar.cshtml.cs</a:t>
            </a: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 b="0">
                <a:solidFill>
                  <a:srgbClr val="1F2937"/>
                </a:solidFill>
                <a:latin typeface="Aptos Mono"/>
                <a:ea typeface="Aptos Mono"/>
                <a:cs typeface="Aptos Mono"/>
              </a:rPr>
              <a:t>public async Task&lt;IActionResult&gt;
    OnGetAsync(int id)
{
    Categoria? categoria =
        await contexto.Categorias.FindAsync(id);
    if (categoria is null) return NotFound();
    Categoria = categoria;
    return Page();
}
public async Task&lt;IActionResult&gt;
    OnPostAsync()
{
    if (!ModelState.IsValid) return Page();
    contexto.Categorias.Update(Categoria);
    await contexto.SaveChangesAsync();
    return RedirectToPage("Index");
}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290" b="0">
              <a:solidFill>
                <a:srgbClr val="1F2937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290" b="0">
              <a:solidFill>
                <a:srgbClr val="1F293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2A5B1C8E-5242-47BB-94CF-B720B8E0A75E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C02F0EF5-6646-4A0E-AA41-746A39EBF0FB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Una página de edición repite siempre el mismo patrón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8932624A-0269-4AFD-B39A-CE2BAECB5E3E}"/>
              </a:ext>
            </a:extLst>
          </p:cNvPr>
          <p:cNvSpPr>
            <a:spLocks noGrp="1"/>
          </p:cNvSpPr>
          <p:nvPr/>
        </p:nvSpPr>
        <p:spPr>
          <a:xfrm>
            <a:off x="6265069" y="2192655"/>
            <a:ext cx="5537168" cy="38017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Cómo razonarlo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GET
1. Recibe el id.
2. Busca la entidad.
3. Devuelve 404 o muestra la página.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POST
1. Recibe el formulario.
2. Valida.
3. Guarda.
4. Redirige al listado.</a:t>
            </a:r>
          </a:p>
        </p:txBody>
      </p:sp>
    </p:spTree>
    <p:extLst>
      <p:ext uri="{BB962C8B-B14F-4D97-AF65-F5344CB8AC3E}">
        <p14:creationId xmlns:p14="http://schemas.microsoft.com/office/powerpoint/2010/main" val="2061492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-Shape-532-p58-2">
            <a:extLst>
              <a:ext uri="{FF2B5EF4-FFF2-40B4-BE49-F238E27FC236}">
                <a16:creationId xmlns:a16="http://schemas.microsoft.com/office/drawing/2014/main" id="{F40EAA52-0C6C-46F5-9C51-EB3BE06D7039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3F251FE4-874C-42E0-8A46-34653B8A8DD1}"/>
              </a:ext>
            </a:extLst>
          </p:cNvPr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Reglas para un proyecto claro y seguro</a:t>
            </a:r>
          </a:p>
        </p:txBody>
      </p:sp>
      <p:sp>
        <p:nvSpPr>
          <p:cNvPr id="3" name="Rounded-Rectangle-1-4">
            <a:extLst>
              <a:ext uri="{FF2B5EF4-FFF2-40B4-BE49-F238E27FC236}">
                <a16:creationId xmlns:a16="http://schemas.microsoft.com/office/drawing/2014/main" id="{A9CEF416-03B1-4ABE-A87D-169330385C29}"/>
              </a:ext>
            </a:extLst>
          </p:cNvPr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ES"/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C3A469C2-D45A-4463-B60D-1166DA2079A5}"/>
              </a:ext>
            </a:extLst>
          </p:cNvPr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Conviene</a:t>
            </a:r>
          </a:p>
        </p:txBody>
      </p:sp>
      <p:sp>
        <p:nvSpPr>
          <p:cNvPr id="5" name="Content-Placeholder-15-6">
            <a:extLst>
              <a:ext uri="{FF2B5EF4-FFF2-40B4-BE49-F238E27FC236}">
                <a16:creationId xmlns:a16="http://schemas.microsoft.com/office/drawing/2014/main" id="{F35DA710-0C2D-412D-8B5A-9A577351E640}"/>
              </a:ext>
            </a:extLst>
          </p:cNvPr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HTML sencillo; lógica en PageModel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Validar antes de guardar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RedirectToPage tras un POST correcto</a:t>
            </a:r>
          </a:p>
        </p:txBody>
      </p:sp>
      <p:sp>
        <p:nvSpPr>
          <p:cNvPr id="6" name="Rounded-Rectangle-7-7">
            <a:extLst>
              <a:ext uri="{FF2B5EF4-FFF2-40B4-BE49-F238E27FC236}">
                <a16:creationId xmlns:a16="http://schemas.microsoft.com/office/drawing/2014/main" id="{BFA5BD1A-5566-4E86-98D4-325DAFCD73EF}"/>
              </a:ext>
            </a:extLst>
          </p:cNvPr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8C827C73-335F-4D74-9ED4-8FDF6CAC07ED}"/>
              </a:ext>
            </a:extLst>
          </p:cNvPr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Evita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884A98FB-FBA0-42D1-9711-F3EE364403CF}"/>
              </a:ext>
            </a:extLst>
          </p:cNvPr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Consultar toda la tabla sin necesidad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Enlazar propiedades sensibles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Mezclar acceso a datos dentro del HTML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133BA658-0838-4DF7-BF30-F8088F9B9C52}"/>
              </a:ext>
            </a:extLst>
          </p:cNvPr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9D1"/>
                </a:solidFill>
                <a:latin typeface="Helvetica Neue"/>
                <a:ea typeface="Helvetica Neue"/>
                <a:cs typeface="Helvetica Neue"/>
              </a:rPr>
              <a:t>Buenas prácticas para las primeras aplicaciones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El objetivo no es escribir menos líneas a cualquier precio, sino que cada línea tenga una responsabilidad comprensible.</a:t>
            </a:r>
          </a:p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30343B"/>
                </a:solidFill>
                <a:latin typeface="Helvetica Neue"/>
                <a:ea typeface="Helvetica Neue"/>
                <a:cs typeface="Helvetica Neue"/>
              </a:rPr>
              <a:t>La simplicidad también evita errores.</a:t>
            </a:r>
          </a:p>
        </p:txBody>
      </p:sp>
    </p:spTree>
    <p:extLst>
      <p:ext uri="{BB962C8B-B14F-4D97-AF65-F5344CB8AC3E}">
        <p14:creationId xmlns:p14="http://schemas.microsoft.com/office/powerpoint/2010/main" val="10830858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2515</Words>
  <Application>Microsoft Office PowerPoint</Application>
  <DocSecurity>0</DocSecurity>
  <PresentationFormat>Panorámica</PresentationFormat>
  <Paragraphs>220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 Mono</vt:lpstr>
      <vt:lpstr>Calibri</vt:lpstr>
      <vt:lpstr>Helvetica Neue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Fernando Ruiz</cp:lastModifiedBy>
  <cp:revision>1</cp:revision>
  <cp:lastPrinted>2026-07-28T16:36:46Z</cp:lastPrinted>
  <dcterms:created xsi:type="dcterms:W3CDTF">2026-07-28T11:40:50Z</dcterms:created>
  <dcterms:modified xsi:type="dcterms:W3CDTF">2026-07-28T16:37:31Z</dcterms:modified>
</cp:coreProperties>
</file>