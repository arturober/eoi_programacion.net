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6715125" y="0"/>
            <a:ext cx="2428875" cy="1714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715125" y="0"/>
            <a:ext cx="2428875" cy="1714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514350" y="310753"/>
            <a:ext cx="1973014" cy="185738"/>
          </a:xfrm>
          <a:prstGeom prst="roundRect">
            <a:avLst>
              <a:gd name="adj" fmla="val 20513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728663" y="346472"/>
            <a:ext cx="7553846" cy="146304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CURSO DE INICIACIÓN · 50 DIAPOSITIVAS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85788" y="35361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5A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984" dirty="0"/>
          </a:p>
        </p:txBody>
      </p:sp>
      <p:sp>
        <p:nvSpPr>
          <p:cNvPr id="8" name="Text 4"/>
          <p:cNvSpPr/>
          <p:nvPr/>
        </p:nvSpPr>
        <p:spPr>
          <a:xfrm>
            <a:off x="8296796" y="285750"/>
            <a:ext cx="525909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-49" kern="0" dirty="0">
                <a:solidFill>
                  <a:srgbClr val="0078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.NET</a:t>
            </a:r>
            <a:endParaRPr lang="en-US" sz="1238" dirty="0"/>
          </a:p>
        </p:txBody>
      </p:sp>
      <p:sp>
        <p:nvSpPr>
          <p:cNvPr id="9" name="Text 5"/>
          <p:cNvSpPr/>
          <p:nvPr/>
        </p:nvSpPr>
        <p:spPr>
          <a:xfrm>
            <a:off x="514350" y="1002692"/>
            <a:ext cx="5092065" cy="1036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90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Razor Pages</a:t>
            </a:r>
            <a:endParaRPr lang="en-US" sz="3600" dirty="0"/>
          </a:p>
          <a:p>
            <a:pPr algn="l" indent="0" marL="0">
              <a:lnSpc>
                <a:spcPts val="3780"/>
              </a:lnSpc>
              <a:buNone/>
            </a:pPr>
            <a:r>
              <a:rPr lang="en-US" sz="3600" b="1" spc="-90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 </a:t>
            </a:r>
            <a:pPr algn="l" indent="0" marL="0">
              <a:lnSpc>
                <a:spcPts val="3780"/>
              </a:lnSpc>
              <a:buNone/>
            </a:pPr>
            <a:r>
              <a:rPr lang="en-US" sz="3600" b="1" spc="-90" kern="0" dirty="0">
                <a:solidFill>
                  <a:srgbClr val="0078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ASP.NET Core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514350" y="2105509"/>
            <a:ext cx="3714750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 aplicaciones web sencillas con C#: agenda de teléfonos y lista de tareas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5486400" y="1000125"/>
            <a:ext cx="3143250" cy="1493713"/>
          </a:xfrm>
          <a:prstGeom prst="roundRect">
            <a:avLst>
              <a:gd name="adj" fmla="val 7652"/>
            </a:avLst>
          </a:prstGeom>
          <a:solidFill>
            <a:srgbClr val="1E1E1E"/>
          </a:solidFill>
          <a:ln/>
          <a:effectLst>
            <a:outerShdw sx="100000" sy="100000" kx="0" ky="0" algn="bl" rotWithShape="0" blurRad="457200" dist="228600" dir="5400000">
              <a:srgbClr val="0078D4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486400" y="1000125"/>
            <a:ext cx="3143250" cy="239316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5486400" y="1235869"/>
            <a:ext cx="3143250" cy="0"/>
          </a:xfrm>
          <a:prstGeom prst="line">
            <a:avLst/>
          </a:prstGeom>
          <a:noFill/>
          <a:ln w="7144">
            <a:solidFill>
              <a:srgbClr val="3C3C3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586413" y="1073348"/>
            <a:ext cx="85725" cy="85725"/>
          </a:xfrm>
          <a:prstGeom prst="ellipse">
            <a:avLst/>
          </a:prstGeom>
          <a:solidFill>
            <a:srgbClr val="FF5F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729288" y="1073348"/>
            <a:ext cx="85725" cy="85725"/>
          </a:xfrm>
          <a:prstGeom prst="ellipse">
            <a:avLst/>
          </a:prstGeom>
          <a:solidFill>
            <a:srgbClr val="FFB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872163" y="1073348"/>
            <a:ext cx="85725" cy="85725"/>
          </a:xfrm>
          <a:prstGeom prst="ellipse">
            <a:avLst/>
          </a:prstGeom>
          <a:solidFill>
            <a:srgbClr val="27C9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086475" y="1057275"/>
            <a:ext cx="244316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D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Index.cshtml.cs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643563" y="1396603"/>
            <a:ext cx="2986088" cy="1067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class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IndexModel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: 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PageModel</a:t>
            </a:r>
            <a:endParaRPr lang="en-US" sz="800" dirty="0"/>
          </a:p>
          <a:p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string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Saludo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{ 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} = 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"¡Hola, alumnos!"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void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OnGet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 { }</a:t>
            </a:r>
            <a:endParaRPr lang="en-US" sz="800" dirty="0"/>
          </a:p>
          <a:p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14350" y="474345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6" dirty="0"/>
          </a:p>
        </p:txBody>
      </p:sp>
      <p:sp>
        <p:nvSpPr>
          <p:cNvPr id="20" name="Text 16"/>
          <p:cNvSpPr/>
          <p:nvPr/>
        </p:nvSpPr>
        <p:spPr>
          <a:xfrm>
            <a:off x="742950" y="4745236"/>
            <a:ext cx="251292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15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Material didáctico para alumnos que están aprendiendo C#</a:t>
            </a:r>
            <a:endParaRPr lang="en-US" sz="731" dirty="0"/>
          </a:p>
        </p:txBody>
      </p:sp>
      <p:sp>
        <p:nvSpPr>
          <p:cNvPr id="21" name="Text 17"/>
          <p:cNvSpPr/>
          <p:nvPr/>
        </p:nvSpPr>
        <p:spPr>
          <a:xfrm>
            <a:off x="6784896" y="4747022"/>
            <a:ext cx="630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0078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Curso 2026</a:t>
            </a:r>
            <a:endParaRPr lang="en-US" sz="731" dirty="0"/>
          </a:p>
        </p:txBody>
      </p:sp>
      <p:sp>
        <p:nvSpPr>
          <p:cNvPr id="22" name="Text 18"/>
          <p:cNvSpPr/>
          <p:nvPr/>
        </p:nvSpPr>
        <p:spPr>
          <a:xfrm>
            <a:off x="7368332" y="474702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7476381" y="4747022"/>
            <a:ext cx="12455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Nivel principiante-intermedio</a:t>
            </a:r>
            <a:endParaRPr lang="en-US" sz="731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35719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446056"/>
            <a:ext cx="961236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457200"/>
            <a:ext cx="91551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PÚBLICO OBJETIVO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28663"/>
            <a:ext cx="4080510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40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¿Para quién es este curso?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514350" y="1125810"/>
            <a:ext cx="3886200" cy="86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Esta presentación está dirigida a estudiantes que ya conocen los fundamentos del lenguaje C# —variables, bucles, clases, métodos— y quieren dar el salto a desarrollar aplicaciones web completas usando el ecosistema .NET. No se requiere experiencia previa en desarrollo web, aunque conviene tener una idea básica de qué es HTML y una petición HTTP.</a:t>
            </a:r>
            <a:endParaRPr lang="en-US" sz="816" dirty="0"/>
          </a:p>
        </p:txBody>
      </p:sp>
      <p:sp>
        <p:nvSpPr>
          <p:cNvPr id="7" name="Text 4"/>
          <p:cNvSpPr/>
          <p:nvPr/>
        </p:nvSpPr>
        <p:spPr>
          <a:xfrm>
            <a:off x="514350" y="2071241"/>
            <a:ext cx="48169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REQUISITOS PREVIOS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14350" y="227841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07C1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9" name="Text 6"/>
          <p:cNvSpPr/>
          <p:nvPr/>
        </p:nvSpPr>
        <p:spPr>
          <a:xfrm>
            <a:off x="728663" y="2271266"/>
            <a:ext cx="3671888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Conocer C# básico (tipos, clases, métodos)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4350" y="249986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07C1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1" name="Text 8"/>
          <p:cNvSpPr/>
          <p:nvPr/>
        </p:nvSpPr>
        <p:spPr>
          <a:xfrm>
            <a:off x="728663" y="2492722"/>
            <a:ext cx="3671888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Saber qué es una clase y un objeto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14350" y="272132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07C1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3" name="Text 10"/>
          <p:cNvSpPr/>
          <p:nvPr/>
        </p:nvSpPr>
        <p:spPr>
          <a:xfrm>
            <a:off x="728663" y="2714179"/>
            <a:ext cx="3671888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Tener instalado Visual Studio 2022 o VS Code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14350" y="294277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07C1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5" name="Text 12"/>
          <p:cNvSpPr/>
          <p:nvPr/>
        </p:nvSpPr>
        <p:spPr>
          <a:xfrm>
            <a:off x="728663" y="2935635"/>
            <a:ext cx="3671888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Ganas de construir aplicaciones reales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47022" y="1423392"/>
            <a:ext cx="3879056" cy="703659"/>
          </a:xfrm>
          <a:prstGeom prst="roundRect">
            <a:avLst>
              <a:gd name="adj" fmla="val 18951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907756" y="1603772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944547" y="1640562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828" dirty="0"/>
          </a:p>
        </p:txBody>
      </p:sp>
      <p:sp>
        <p:nvSpPr>
          <p:cNvPr id="19" name="Text 16"/>
          <p:cNvSpPr/>
          <p:nvPr/>
        </p:nvSpPr>
        <p:spPr>
          <a:xfrm>
            <a:off x="5379244" y="1555552"/>
            <a:ext cx="3086100" cy="272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0078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</a:t>
            </a:r>
            <a:endParaRPr lang="en-US" sz="2138" dirty="0"/>
          </a:p>
        </p:txBody>
      </p:sp>
      <p:sp>
        <p:nvSpPr>
          <p:cNvPr id="20" name="Text 17"/>
          <p:cNvSpPr/>
          <p:nvPr/>
        </p:nvSpPr>
        <p:spPr>
          <a:xfrm>
            <a:off x="5379244" y="1855589"/>
            <a:ext cx="319582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diapositivas con teoría + práctica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747022" y="2248495"/>
            <a:ext cx="3879056" cy="703659"/>
          </a:xfrm>
          <a:prstGeom prst="roundRect">
            <a:avLst>
              <a:gd name="adj" fmla="val 18951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907756" y="2428875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944547" y="2465665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24" name="Text 21"/>
          <p:cNvSpPr/>
          <p:nvPr/>
        </p:nvSpPr>
        <p:spPr>
          <a:xfrm>
            <a:off x="5379244" y="2380655"/>
            <a:ext cx="3086100" cy="272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0078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2138" dirty="0"/>
          </a:p>
        </p:txBody>
      </p:sp>
      <p:sp>
        <p:nvSpPr>
          <p:cNvPr id="25" name="Text 22"/>
          <p:cNvSpPr/>
          <p:nvPr/>
        </p:nvSpPr>
        <p:spPr>
          <a:xfrm>
            <a:off x="5379244" y="2680692"/>
            <a:ext cx="319582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proyectos completos paso a paso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747022" y="3073598"/>
            <a:ext cx="3879056" cy="703659"/>
          </a:xfrm>
          <a:prstGeom prst="roundRect">
            <a:avLst>
              <a:gd name="adj" fmla="val 18951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907756" y="3253978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944547" y="3290768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828" dirty="0"/>
          </a:p>
        </p:txBody>
      </p:sp>
      <p:sp>
        <p:nvSpPr>
          <p:cNvPr id="29" name="Text 26"/>
          <p:cNvSpPr/>
          <p:nvPr/>
        </p:nvSpPr>
        <p:spPr>
          <a:xfrm>
            <a:off x="5379244" y="3205758"/>
            <a:ext cx="3086100" cy="272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0078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6h</a:t>
            </a:r>
            <a:endParaRPr lang="en-US" sz="2138" dirty="0"/>
          </a:p>
        </p:txBody>
      </p:sp>
      <p:sp>
        <p:nvSpPr>
          <p:cNvPr id="30" name="Text 27"/>
          <p:cNvSpPr/>
          <p:nvPr/>
        </p:nvSpPr>
        <p:spPr>
          <a:xfrm>
            <a:off x="5379244" y="3505795"/>
            <a:ext cx="319582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tiempo estimado de estudio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50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1168405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400050"/>
            <a:ext cx="112268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PROYECTOS PRÁCTICOS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4624094" cy="27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spc="-36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Qué vamos a construir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980033"/>
            <a:ext cx="44038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Dos aplicaciones completas que cubren los patrones esenciales del desarrollo web con Razor Pages</a:t>
            </a:r>
            <a:endParaRPr lang="en-US" sz="788" dirty="0"/>
          </a:p>
        </p:txBody>
      </p:sp>
      <p:sp>
        <p:nvSpPr>
          <p:cNvPr id="7" name="Text 4"/>
          <p:cNvSpPr/>
          <p:nvPr/>
        </p:nvSpPr>
        <p:spPr>
          <a:xfrm>
            <a:off x="517922" y="1276499"/>
            <a:ext cx="3979069" cy="2888307"/>
          </a:xfrm>
          <a:prstGeom prst="roundRect">
            <a:avLst>
              <a:gd name="adj" fmla="val 5276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44" y="1442591"/>
            <a:ext cx="371475" cy="3714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3305" y="1472952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2109" dirty="0"/>
          </a:p>
        </p:txBody>
      </p:sp>
      <p:sp>
        <p:nvSpPr>
          <p:cNvPr id="10" name="Text 6"/>
          <p:cNvSpPr/>
          <p:nvPr/>
        </p:nvSpPr>
        <p:spPr>
          <a:xfrm>
            <a:off x="1178719" y="1437233"/>
            <a:ext cx="164261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0078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PROYECTO 1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178719" y="1583680"/>
            <a:ext cx="1540928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-12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Agenda de teléfonos</a:t>
            </a:r>
            <a:endParaRPr lang="en-US" sz="1238" dirty="0"/>
          </a:p>
        </p:txBody>
      </p:sp>
      <p:sp>
        <p:nvSpPr>
          <p:cNvPr id="12" name="Text 8"/>
          <p:cNvSpPr/>
          <p:nvPr/>
        </p:nvSpPr>
        <p:spPr>
          <a:xfrm>
            <a:off x="692944" y="1876574"/>
            <a:ext cx="3629025" cy="1905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Una aplicación CRUD clásica para gestionar contactos: nombre, teléfono, email. Aprenderás a crear páginas Razor, manejar formularios y validar datos —todo en memoria, sin base de datos.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92944" y="3797725"/>
            <a:ext cx="365671" cy="218027"/>
          </a:xfrm>
          <a:prstGeom prst="roundRect">
            <a:avLst>
              <a:gd name="adj" fmla="val 4364356"/>
            </a:avLst>
          </a:prstGeom>
          <a:solidFill>
            <a:srgbClr val="FFFFFF"/>
          </a:solidFill>
          <a:ln w="7144">
            <a:solidFill>
              <a:srgbClr val="DEECF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92944" y="3809405"/>
            <a:ext cx="36567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0078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CRUD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5764" y="3797725"/>
            <a:ext cx="575518" cy="218027"/>
          </a:xfrm>
          <a:prstGeom prst="roundRect">
            <a:avLst>
              <a:gd name="adj" fmla="val 4364356"/>
            </a:avLst>
          </a:prstGeom>
          <a:solidFill>
            <a:srgbClr val="FFFFFF"/>
          </a:solidFill>
          <a:ln w="7144">
            <a:solidFill>
              <a:srgbClr val="DEECF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1036870" y="3809405"/>
            <a:ext cx="73330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0078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Formularios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748433" y="3797725"/>
            <a:ext cx="522945" cy="218027"/>
          </a:xfrm>
          <a:prstGeom prst="roundRect">
            <a:avLst>
              <a:gd name="adj" fmla="val 4364356"/>
            </a:avLst>
          </a:prstGeom>
          <a:solidFill>
            <a:srgbClr val="FFFFFF"/>
          </a:solidFill>
          <a:ln w="7144">
            <a:solidFill>
              <a:srgbClr val="DEECF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1678618" y="3809405"/>
            <a:ext cx="66257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0078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Validación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328528" y="3797725"/>
            <a:ext cx="585453" cy="218027"/>
          </a:xfrm>
          <a:prstGeom prst="roundRect">
            <a:avLst>
              <a:gd name="adj" fmla="val 4364356"/>
            </a:avLst>
          </a:prstGeom>
          <a:solidFill>
            <a:srgbClr val="FFFFFF"/>
          </a:solidFill>
          <a:ln w="7144">
            <a:solidFill>
              <a:srgbClr val="DEECF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2300157" y="3809405"/>
            <a:ext cx="64219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0078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 memoria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647009" y="1276499"/>
            <a:ext cx="3979069" cy="2888307"/>
          </a:xfrm>
          <a:prstGeom prst="roundRect">
            <a:avLst>
              <a:gd name="adj" fmla="val 5276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031" y="1442591"/>
            <a:ext cx="371475" cy="37147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52392" y="1472952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109" dirty="0"/>
          </a:p>
        </p:txBody>
      </p:sp>
      <p:sp>
        <p:nvSpPr>
          <p:cNvPr id="24" name="Text 19"/>
          <p:cNvSpPr/>
          <p:nvPr/>
        </p:nvSpPr>
        <p:spPr>
          <a:xfrm>
            <a:off x="5307806" y="1437233"/>
            <a:ext cx="1880107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0078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PROYECTO 2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5307806" y="1583680"/>
            <a:ext cx="1580119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-12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Lista de tareas (To-Do)</a:t>
            </a:r>
            <a:endParaRPr lang="en-US" sz="1238" dirty="0"/>
          </a:p>
        </p:txBody>
      </p:sp>
      <p:sp>
        <p:nvSpPr>
          <p:cNvPr id="26" name="Text 21"/>
          <p:cNvSpPr/>
          <p:nvPr/>
        </p:nvSpPr>
        <p:spPr>
          <a:xfrm>
            <a:off x="4822031" y="1876574"/>
            <a:ext cx="3629025" cy="1905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Una aplicación de tareas pendientes con persistencia en base de datos SQLite usando Entity Framework Core. Marca tareas como completadas, añade nuevas y elimínalas.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4822031" y="3797725"/>
            <a:ext cx="432867" cy="218027"/>
          </a:xfrm>
          <a:prstGeom prst="roundRect">
            <a:avLst>
              <a:gd name="adj" fmla="val 4364356"/>
            </a:avLst>
          </a:prstGeom>
          <a:solidFill>
            <a:srgbClr val="FFFFFF"/>
          </a:solidFill>
          <a:ln w="7144">
            <a:solidFill>
              <a:srgbClr val="DEECF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4798892" y="3809405"/>
            <a:ext cx="47914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0078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EF Core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5312048" y="3797725"/>
            <a:ext cx="393464" cy="218027"/>
          </a:xfrm>
          <a:prstGeom prst="roundRect">
            <a:avLst>
              <a:gd name="adj" fmla="val 4364356"/>
            </a:avLst>
          </a:prstGeom>
          <a:solidFill>
            <a:srgbClr val="FFFFFF"/>
          </a:solidFill>
          <a:ln w="7144">
            <a:solidFill>
              <a:srgbClr val="DEECF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5285992" y="3809405"/>
            <a:ext cx="44557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0078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SQLite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5762662" y="3797725"/>
            <a:ext cx="596838" cy="218027"/>
          </a:xfrm>
          <a:prstGeom prst="roundRect">
            <a:avLst>
              <a:gd name="adj" fmla="val 4364356"/>
            </a:avLst>
          </a:prstGeom>
          <a:solidFill>
            <a:srgbClr val="FFFFFF"/>
          </a:solidFill>
          <a:ln w="7144">
            <a:solidFill>
              <a:srgbClr val="DEECF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5663256" y="3809405"/>
            <a:ext cx="7956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0078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Persistencia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6416650" y="3797725"/>
            <a:ext cx="590364" cy="218027"/>
          </a:xfrm>
          <a:prstGeom prst="roundRect">
            <a:avLst>
              <a:gd name="adj" fmla="val 4364356"/>
            </a:avLst>
          </a:prstGeom>
          <a:solidFill>
            <a:srgbClr val="FFFFFF"/>
          </a:solidFill>
          <a:ln w="7144">
            <a:solidFill>
              <a:srgbClr val="DEECF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6345178" y="3809405"/>
            <a:ext cx="73330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0078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Migraciones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514350" y="4311253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CONCEPTOS TRANSVERSALES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514350" y="4473473"/>
            <a:ext cx="829791" cy="282778"/>
          </a:xfrm>
          <a:prstGeom prst="roundRect">
            <a:avLst>
              <a:gd name="adj" fmla="val 26947"/>
            </a:avLst>
          </a:prstGeom>
          <a:solidFill>
            <a:srgbClr val="F8F9FB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748594" y="4557713"/>
            <a:ext cx="647052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Razor syntax</a:t>
            </a:r>
            <a:endParaRPr lang="en-US" sz="675" dirty="0"/>
          </a:p>
        </p:txBody>
      </p:sp>
      <p:sp>
        <p:nvSpPr>
          <p:cNvPr id="38" name="Text 33"/>
          <p:cNvSpPr/>
          <p:nvPr/>
        </p:nvSpPr>
        <p:spPr>
          <a:xfrm>
            <a:off x="621506" y="456485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39" name="Text 34"/>
          <p:cNvSpPr/>
          <p:nvPr/>
        </p:nvSpPr>
        <p:spPr>
          <a:xfrm>
            <a:off x="1415579" y="4473473"/>
            <a:ext cx="795524" cy="282778"/>
          </a:xfrm>
          <a:prstGeom prst="roundRect">
            <a:avLst>
              <a:gd name="adj" fmla="val 26947"/>
            </a:avLst>
          </a:prstGeom>
          <a:solidFill>
            <a:srgbClr val="F8F9FB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1665610" y="4557713"/>
            <a:ext cx="581211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Page Model</a:t>
            </a:r>
            <a:endParaRPr lang="en-US" sz="675" dirty="0"/>
          </a:p>
        </p:txBody>
      </p:sp>
      <p:sp>
        <p:nvSpPr>
          <p:cNvPr id="41" name="Text 36"/>
          <p:cNvSpPr/>
          <p:nvPr/>
        </p:nvSpPr>
        <p:spPr>
          <a:xfrm>
            <a:off x="1522735" y="456485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42" name="Text 37"/>
          <p:cNvSpPr/>
          <p:nvPr/>
        </p:nvSpPr>
        <p:spPr>
          <a:xfrm>
            <a:off x="2282540" y="4473473"/>
            <a:ext cx="802444" cy="282778"/>
          </a:xfrm>
          <a:prstGeom prst="roundRect">
            <a:avLst>
              <a:gd name="adj" fmla="val 26947"/>
            </a:avLst>
          </a:prstGeom>
          <a:solidFill>
            <a:srgbClr val="F8F9FB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2524353" y="4557713"/>
            <a:ext cx="604567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Tag Helpers</a:t>
            </a:r>
            <a:endParaRPr lang="en-US" sz="675" dirty="0"/>
          </a:p>
        </p:txBody>
      </p:sp>
      <p:sp>
        <p:nvSpPr>
          <p:cNvPr id="44" name="Text 39"/>
          <p:cNvSpPr/>
          <p:nvPr/>
        </p:nvSpPr>
        <p:spPr>
          <a:xfrm>
            <a:off x="2389696" y="456485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45" name="Text 40"/>
          <p:cNvSpPr/>
          <p:nvPr/>
        </p:nvSpPr>
        <p:spPr>
          <a:xfrm>
            <a:off x="3156421" y="4473473"/>
            <a:ext cx="814388" cy="282778"/>
          </a:xfrm>
          <a:prstGeom prst="roundRect">
            <a:avLst>
              <a:gd name="adj" fmla="val 26947"/>
            </a:avLst>
          </a:prstGeom>
          <a:solidFill>
            <a:srgbClr val="F8F9FB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1"/>
          <p:cNvSpPr/>
          <p:nvPr/>
        </p:nvSpPr>
        <p:spPr>
          <a:xfrm>
            <a:off x="3406453" y="4557713"/>
            <a:ext cx="5223197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Async/await</a:t>
            </a:r>
            <a:endParaRPr lang="en-US" sz="800" dirty="0"/>
          </a:p>
        </p:txBody>
      </p:sp>
      <p:sp>
        <p:nvSpPr>
          <p:cNvPr id="47" name="Text 42"/>
          <p:cNvSpPr/>
          <p:nvPr/>
        </p:nvSpPr>
        <p:spPr>
          <a:xfrm>
            <a:off x="3263578" y="456485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84" dirty="0"/>
          </a:p>
        </p:txBody>
      </p:sp>
      <p:sp>
        <p:nvSpPr>
          <p:cNvPr id="48" name="Text 43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50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5272" y="388906"/>
            <a:ext cx="515113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2057" y="400050"/>
            <a:ext cx="48154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AGENDA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8521065" cy="27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spc="-36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Índice del curso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980033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Seis capítulos que te llevan desde cero hasta construir aplicaciones completas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14350" y="1810048"/>
            <a:ext cx="3886200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4350" y="1411114"/>
            <a:ext cx="80010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61" kern="0" dirty="0">
                <a:solidFill>
                  <a:srgbClr val="0078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1143000" y="1372939"/>
            <a:ext cx="3367278" cy="176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-10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Fundamentos de la web en .NET</a:t>
            </a:r>
            <a:endParaRPr lang="en-US" sz="956" dirty="0"/>
          </a:p>
        </p:txBody>
      </p:sp>
      <p:sp>
        <p:nvSpPr>
          <p:cNvPr id="10" name="Text 7"/>
          <p:cNvSpPr/>
          <p:nvPr/>
        </p:nvSpPr>
        <p:spPr>
          <a:xfrm>
            <a:off x="1143000" y="1576536"/>
            <a:ext cx="3257550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ASP.NET Core, Razor Pages, ventajas y arquitectura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14350" y="2350740"/>
            <a:ext cx="3886200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4350" y="1951806"/>
            <a:ext cx="80010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61" kern="0" dirty="0">
                <a:solidFill>
                  <a:srgbClr val="0078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025" dirty="0"/>
          </a:p>
        </p:txBody>
      </p:sp>
      <p:sp>
        <p:nvSpPr>
          <p:cNvPr id="13" name="Text 10"/>
          <p:cNvSpPr/>
          <p:nvPr/>
        </p:nvSpPr>
        <p:spPr>
          <a:xfrm>
            <a:off x="1143000" y="1913632"/>
            <a:ext cx="3257550" cy="176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-10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 primera aplicación</a:t>
            </a:r>
            <a:endParaRPr lang="en-US" sz="956" dirty="0"/>
          </a:p>
        </p:txBody>
      </p:sp>
      <p:sp>
        <p:nvSpPr>
          <p:cNvPr id="14" name="Text 11"/>
          <p:cNvSpPr/>
          <p:nvPr/>
        </p:nvSpPr>
        <p:spPr>
          <a:xfrm>
            <a:off x="1143000" y="2117229"/>
            <a:ext cx="3257550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Crear el proyecto, estructura de carpetas, ejecución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14350" y="2492499"/>
            <a:ext cx="80010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61" kern="0" dirty="0">
                <a:solidFill>
                  <a:srgbClr val="0078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2025" dirty="0"/>
          </a:p>
        </p:txBody>
      </p:sp>
      <p:sp>
        <p:nvSpPr>
          <p:cNvPr id="16" name="Text 13"/>
          <p:cNvSpPr/>
          <p:nvPr/>
        </p:nvSpPr>
        <p:spPr>
          <a:xfrm>
            <a:off x="1143000" y="2454325"/>
            <a:ext cx="3420428" cy="176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-10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Sintaxis Razor</a:t>
            </a:r>
            <a:endParaRPr lang="en-US" sz="956" dirty="0"/>
          </a:p>
        </p:txBody>
      </p:sp>
      <p:sp>
        <p:nvSpPr>
          <p:cNvPr id="17" name="Text 14"/>
          <p:cNvSpPr/>
          <p:nvPr/>
        </p:nvSpPr>
        <p:spPr>
          <a:xfrm>
            <a:off x="1143000" y="2657921"/>
            <a:ext cx="3257550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Expresiones, bloques de código, directivas, Tag Helpers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743450" y="1810048"/>
            <a:ext cx="3886200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43450" y="1411114"/>
            <a:ext cx="80010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61" kern="0" dirty="0">
                <a:solidFill>
                  <a:srgbClr val="0078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2025" dirty="0"/>
          </a:p>
        </p:txBody>
      </p:sp>
      <p:sp>
        <p:nvSpPr>
          <p:cNvPr id="20" name="Text 17"/>
          <p:cNvSpPr/>
          <p:nvPr/>
        </p:nvSpPr>
        <p:spPr>
          <a:xfrm>
            <a:off x="5372100" y="1372939"/>
            <a:ext cx="3257550" cy="176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-10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 Page Model</a:t>
            </a:r>
            <a:endParaRPr lang="en-US" sz="956" dirty="0"/>
          </a:p>
        </p:txBody>
      </p:sp>
      <p:sp>
        <p:nvSpPr>
          <p:cNvPr id="21" name="Text 18"/>
          <p:cNvSpPr/>
          <p:nvPr/>
        </p:nvSpPr>
        <p:spPr>
          <a:xfrm>
            <a:off x="5372100" y="1576536"/>
            <a:ext cx="3367278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PageModel, BindProperty, OnGet/OnPost, async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743450" y="2350740"/>
            <a:ext cx="3886200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43450" y="1951806"/>
            <a:ext cx="80010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61" kern="0" dirty="0">
                <a:solidFill>
                  <a:srgbClr val="0078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2025" dirty="0"/>
          </a:p>
        </p:txBody>
      </p:sp>
      <p:sp>
        <p:nvSpPr>
          <p:cNvPr id="24" name="Text 21"/>
          <p:cNvSpPr/>
          <p:nvPr/>
        </p:nvSpPr>
        <p:spPr>
          <a:xfrm>
            <a:off x="5372100" y="1913632"/>
            <a:ext cx="3257550" cy="176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-10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Demo: Agenda de teléfonos</a:t>
            </a:r>
            <a:endParaRPr lang="en-US" sz="956" dirty="0"/>
          </a:p>
        </p:txBody>
      </p:sp>
      <p:sp>
        <p:nvSpPr>
          <p:cNvPr id="25" name="Text 22"/>
          <p:cNvSpPr/>
          <p:nvPr/>
        </p:nvSpPr>
        <p:spPr>
          <a:xfrm>
            <a:off x="5372100" y="2117229"/>
            <a:ext cx="3367278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CRUD completo en memoria con validación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743450" y="2492499"/>
            <a:ext cx="80010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61" kern="0" dirty="0">
                <a:solidFill>
                  <a:srgbClr val="0078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2025" dirty="0"/>
          </a:p>
        </p:txBody>
      </p:sp>
      <p:sp>
        <p:nvSpPr>
          <p:cNvPr id="27" name="Text 24"/>
          <p:cNvSpPr/>
          <p:nvPr/>
        </p:nvSpPr>
        <p:spPr>
          <a:xfrm>
            <a:off x="5372100" y="2454325"/>
            <a:ext cx="3518154" cy="176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-10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Demo: Lista de tareas con BD</a:t>
            </a:r>
            <a:endParaRPr lang="en-US" sz="956" dirty="0"/>
          </a:p>
        </p:txBody>
      </p:sp>
      <p:sp>
        <p:nvSpPr>
          <p:cNvPr id="28" name="Text 25"/>
          <p:cNvSpPr/>
          <p:nvPr/>
        </p:nvSpPr>
        <p:spPr>
          <a:xfrm>
            <a:off x="5372100" y="2657921"/>
            <a:ext cx="3257550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Entity Framework Core, SQLite, migraciones, CRUD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50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6850" y="0"/>
            <a:ext cx="5715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428625" y="3714750"/>
            <a:ext cx="2000250" cy="1143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8625" y="3714750"/>
            <a:ext cx="2000250" cy="1143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685800" y="1249152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078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CAPÍTULO · RAZOR PAGES EN ASP.NET CORE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685800" y="1538474"/>
            <a:ext cx="845820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b="1" spc="-216" kern="0" dirty="0">
                <a:solidFill>
                  <a:srgbClr val="00BCF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</a:t>
            </a:r>
            <a:pPr algn="l" indent="0" marL="0">
              <a:lnSpc>
                <a:spcPts val="5400"/>
              </a:lnSpc>
              <a:buNone/>
            </a:pPr>
            <a:r>
              <a:rPr lang="en-US" sz="5400" b="1" spc="-216" kern="0" dirty="0">
                <a:solidFill>
                  <a:srgbClr val="DEEC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06</a:t>
            </a:r>
            <a:endParaRPr lang="en-US" sz="5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24299"/>
            <a:ext cx="457200" cy="2143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5800" y="2617180"/>
            <a:ext cx="8458200" cy="84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1"/>
              </a:lnSpc>
              <a:buNone/>
            </a:pPr>
            <a:r>
              <a:rPr lang="en-US" sz="2925" b="1" spc="-73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Fundamentos de la web</a:t>
            </a:r>
            <a:endParaRPr lang="en-US" sz="2925" dirty="0"/>
          </a:p>
          <a:p>
            <a:pPr algn="l" indent="0" marL="0">
              <a:lnSpc>
                <a:spcPts val="3071"/>
              </a:lnSpc>
              <a:buNone/>
            </a:pPr>
            <a:r>
              <a:rPr lang="en-US" sz="2925" b="1" spc="-73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 .NET</a:t>
            </a:r>
            <a:endParaRPr lang="en-US" sz="2925" dirty="0"/>
          </a:p>
        </p:txBody>
      </p:sp>
      <p:sp>
        <p:nvSpPr>
          <p:cNvPr id="9" name="Text 4"/>
          <p:cNvSpPr/>
          <p:nvPr/>
        </p:nvSpPr>
        <p:spPr>
          <a:xfrm>
            <a:off x="685800" y="3540063"/>
            <a:ext cx="4429125" cy="38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Qué es ASP.NET Core, qué son las Razor Pages y por qué son ideales para empezar a desarrollar aplicaciones web con C#.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50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446056"/>
            <a:ext cx="630615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91695" y="457200"/>
            <a:ext cx="63020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CONCEPTO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28663"/>
            <a:ext cx="4110514" cy="27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spc="-36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¿Qué es ASP.NET Core?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094333"/>
            <a:ext cx="3914775" cy="678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ASP.NET Core es el framework web moderno, open source y multiplataforma de Microsoft. Permite construir aplicaciones web, APIs REST y microservicios con C#, y se ejecuta en Windows, Linux y macOS. Es la evolución del antiguo ASP.NET, reescrito desde cero para ser más rápido, modular y ligero.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4350" y="1799779"/>
            <a:ext cx="3914775" cy="6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Una aplicación ASP.NET Core se compone de un servidor web (Kestrel), un pipeline de middleware que procesa cada petición HTTP, y un sistema de inyección de dependencias integrado. Razor Pages es uno de los modelos de programación disponibles dentro de este framework.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718447" y="1526977"/>
            <a:ext cx="1907381" cy="1026914"/>
          </a:xfrm>
          <a:prstGeom prst="roundRect">
            <a:avLst>
              <a:gd name="adj" fmla="val 11130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850606" y="1644848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65251" y="165949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1" name="Text 8"/>
          <p:cNvSpPr/>
          <p:nvPr/>
        </p:nvSpPr>
        <p:spPr>
          <a:xfrm>
            <a:off x="4850606" y="1973461"/>
            <a:ext cx="164306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Alto rendimiento</a:t>
            </a:r>
            <a:endParaRPr lang="en-US" sz="844" dirty="0"/>
          </a:p>
        </p:txBody>
      </p:sp>
      <p:sp>
        <p:nvSpPr>
          <p:cNvPr id="12" name="Text 9"/>
          <p:cNvSpPr/>
          <p:nvPr/>
        </p:nvSpPr>
        <p:spPr>
          <a:xfrm>
            <a:off x="4850606" y="2177058"/>
            <a:ext cx="1643063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Uno de los frameworks web más rápidos del mercado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718697" y="1526977"/>
            <a:ext cx="1907381" cy="1026914"/>
          </a:xfrm>
          <a:prstGeom prst="roundRect">
            <a:avLst>
              <a:gd name="adj" fmla="val 11130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850856" y="1644848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865501" y="165949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547" dirty="0"/>
          </a:p>
        </p:txBody>
      </p:sp>
      <p:sp>
        <p:nvSpPr>
          <p:cNvPr id="16" name="Text 13"/>
          <p:cNvSpPr/>
          <p:nvPr/>
        </p:nvSpPr>
        <p:spPr>
          <a:xfrm>
            <a:off x="6850856" y="1973461"/>
            <a:ext cx="164306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Multiplataforma</a:t>
            </a:r>
            <a:endParaRPr lang="en-US" sz="844" dirty="0"/>
          </a:p>
        </p:txBody>
      </p:sp>
      <p:sp>
        <p:nvSpPr>
          <p:cNvPr id="17" name="Text 14"/>
          <p:cNvSpPr/>
          <p:nvPr/>
        </p:nvSpPr>
        <p:spPr>
          <a:xfrm>
            <a:off x="6850856" y="2177058"/>
            <a:ext cx="1643063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Windows, Linux y macOS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718447" y="2646759"/>
            <a:ext cx="1907381" cy="1026914"/>
          </a:xfrm>
          <a:prstGeom prst="roundRect">
            <a:avLst>
              <a:gd name="adj" fmla="val 11130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850606" y="2764631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65251" y="277927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1" name="Text 18"/>
          <p:cNvSpPr/>
          <p:nvPr/>
        </p:nvSpPr>
        <p:spPr>
          <a:xfrm>
            <a:off x="4850606" y="3093244"/>
            <a:ext cx="164306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Modular</a:t>
            </a:r>
            <a:endParaRPr lang="en-US" sz="844" dirty="0"/>
          </a:p>
        </p:txBody>
      </p:sp>
      <p:sp>
        <p:nvSpPr>
          <p:cNvPr id="22" name="Text 19"/>
          <p:cNvSpPr/>
          <p:nvPr/>
        </p:nvSpPr>
        <p:spPr>
          <a:xfrm>
            <a:off x="4850606" y="3296841"/>
            <a:ext cx="1643063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NuGet packages, solo añades lo que usas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718697" y="2646759"/>
            <a:ext cx="1907381" cy="1026914"/>
          </a:xfrm>
          <a:prstGeom prst="roundRect">
            <a:avLst>
              <a:gd name="adj" fmla="val 11130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850856" y="2764631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865501" y="277927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26" name="Text 23"/>
          <p:cNvSpPr/>
          <p:nvPr/>
        </p:nvSpPr>
        <p:spPr>
          <a:xfrm>
            <a:off x="6850856" y="3093244"/>
            <a:ext cx="1643062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Seguro</a:t>
            </a:r>
            <a:endParaRPr lang="en-US" sz="844" dirty="0"/>
          </a:p>
        </p:txBody>
      </p:sp>
      <p:sp>
        <p:nvSpPr>
          <p:cNvPr id="27" name="Text 24"/>
          <p:cNvSpPr/>
          <p:nvPr/>
        </p:nvSpPr>
        <p:spPr>
          <a:xfrm>
            <a:off x="6850856" y="3296841"/>
            <a:ext cx="1741646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HTTPS, autenticación, CSRF integrado</a:t>
            </a:r>
            <a:endParaRPr lang="en-US" sz="703" dirty="0"/>
          </a:p>
        </p:txBody>
      </p:sp>
      <p:sp>
        <p:nvSpPr>
          <p:cNvPr id="28" name="Text 25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50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1027986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400050"/>
            <a:ext cx="98226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CONCEPTO CENTRAL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8521065" cy="27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spc="-36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¿Qué es Razor Pages?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065758"/>
            <a:ext cx="8115300" cy="646509"/>
          </a:xfrm>
          <a:prstGeom prst="roundRect">
            <a:avLst>
              <a:gd name="adj" fmla="val 20626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532209" y="1065758"/>
            <a:ext cx="0" cy="646509"/>
          </a:xfrm>
          <a:prstGeom prst="line">
            <a:avLst/>
          </a:prstGeom>
          <a:noFill/>
          <a:ln w="35719">
            <a:solidFill>
              <a:srgbClr val="0078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9579" y="1403300"/>
            <a:ext cx="385763" cy="142875"/>
          </a:xfrm>
          <a:prstGeom prst="roundRect">
            <a:avLst>
              <a:gd name="adj" fmla="val 2666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18420" y="1403300"/>
            <a:ext cx="514350" cy="142875"/>
          </a:xfrm>
          <a:prstGeom prst="roundRect">
            <a:avLst>
              <a:gd name="adj" fmla="val 2666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35806" y="1222921"/>
            <a:ext cx="7708106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Razor Pages es un modelo de programación dentro de ASP.NET Core que organiza la aplicación en </a:t>
            </a:r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0078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páginas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—no en controladores— donde cada página tiene su archivo </a:t>
            </a:r>
            <a:pPr algn="l" indent="0" marL="0">
              <a:lnSpc>
                <a:spcPts val="1308"/>
              </a:lnSpc>
              <a:buNone/>
            </a:pPr>
            <a:r>
              <a:rPr lang="en-US" sz="800" dirty="0">
                <a:solidFill>
                  <a:srgbClr val="D4D4D4"/>
                </a:solidFill>
                <a:highlight>
                  <a:srgbClr val="1E1E1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.cshtml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(vista HTML) y su archivo </a:t>
            </a:r>
            <a:pPr algn="l" indent="0" marL="0">
              <a:lnSpc>
                <a:spcPts val="1308"/>
              </a:lnSpc>
              <a:buNone/>
            </a:pPr>
            <a:r>
              <a:rPr lang="en-US" sz="800" dirty="0">
                <a:solidFill>
                  <a:srgbClr val="D4D4D4"/>
                </a:solidFill>
                <a:highlight>
                  <a:srgbClr val="1E1E1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.cshtml.cs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(lógica en C#). Es la forma más sencilla de construir aplicaciones web con C#.</a:t>
            </a:r>
            <a:endParaRPr lang="en-US" sz="844" dirty="0"/>
          </a:p>
        </p:txBody>
      </p:sp>
      <p:sp>
        <p:nvSpPr>
          <p:cNvPr id="11" name="Text 8"/>
          <p:cNvSpPr/>
          <p:nvPr/>
        </p:nvSpPr>
        <p:spPr>
          <a:xfrm>
            <a:off x="517922" y="1858714"/>
            <a:ext cx="2621756" cy="2881164"/>
          </a:xfrm>
          <a:prstGeom prst="roundRect">
            <a:avLst>
              <a:gd name="adj" fmla="val 4360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50081" y="1990874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68655" y="200944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688" dirty="0"/>
          </a:p>
        </p:txBody>
      </p:sp>
      <p:sp>
        <p:nvSpPr>
          <p:cNvPr id="14" name="Text 11"/>
          <p:cNvSpPr/>
          <p:nvPr/>
        </p:nvSpPr>
        <p:spPr>
          <a:xfrm>
            <a:off x="650081" y="2348061"/>
            <a:ext cx="2357438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spc="-9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Basado en páginas</a:t>
            </a:r>
            <a:endParaRPr lang="en-US" sz="872" dirty="0"/>
          </a:p>
        </p:txBody>
      </p:sp>
      <p:sp>
        <p:nvSpPr>
          <p:cNvPr id="15" name="Text 12"/>
          <p:cNvSpPr/>
          <p:nvPr/>
        </p:nvSpPr>
        <p:spPr>
          <a:xfrm>
            <a:off x="982042" y="2696319"/>
            <a:ext cx="342900" cy="142875"/>
          </a:xfrm>
          <a:prstGeom prst="roundRect">
            <a:avLst>
              <a:gd name="adj" fmla="val 2666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6194" y="2696319"/>
            <a:ext cx="471488" cy="142875"/>
          </a:xfrm>
          <a:prstGeom prst="roundRect">
            <a:avLst>
              <a:gd name="adj" fmla="val 2666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50081" y="2835622"/>
            <a:ext cx="985838" cy="142875"/>
          </a:xfrm>
          <a:prstGeom prst="roundRect">
            <a:avLst>
              <a:gd name="adj" fmla="val 2666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50081" y="2557016"/>
            <a:ext cx="23574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Cada URL del sitio corresponde a un archivo físico en la carpeta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4D4D4"/>
                </a:solidFill>
                <a:highlight>
                  <a:srgbClr val="1E1E1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La URL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4D4D4"/>
                </a:solidFill>
                <a:highlight>
                  <a:srgbClr val="1E1E1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/Contacto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se sirve desde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4D4D4"/>
                </a:solidFill>
                <a:highlight>
                  <a:srgbClr val="1E1E1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Pages/Contacto.cshtml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261122" y="1858714"/>
            <a:ext cx="2621756" cy="2881164"/>
          </a:xfrm>
          <a:prstGeom prst="roundRect">
            <a:avLst>
              <a:gd name="adj" fmla="val 4360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393281" y="1990874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411855" y="200944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2" name="Text 19"/>
          <p:cNvSpPr/>
          <p:nvPr/>
        </p:nvSpPr>
        <p:spPr>
          <a:xfrm>
            <a:off x="3393281" y="2348061"/>
            <a:ext cx="2357438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spc="-9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Separación limpia</a:t>
            </a:r>
            <a:endParaRPr lang="en-US" sz="872" dirty="0"/>
          </a:p>
        </p:txBody>
      </p:sp>
      <p:sp>
        <p:nvSpPr>
          <p:cNvPr id="23" name="Text 20"/>
          <p:cNvSpPr/>
          <p:nvPr/>
        </p:nvSpPr>
        <p:spPr>
          <a:xfrm>
            <a:off x="3781276" y="2557016"/>
            <a:ext cx="385763" cy="142875"/>
          </a:xfrm>
          <a:prstGeom prst="roundRect">
            <a:avLst>
              <a:gd name="adj" fmla="val 2666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822031" y="2557016"/>
            <a:ext cx="514350" cy="142875"/>
          </a:xfrm>
          <a:prstGeom prst="roundRect">
            <a:avLst>
              <a:gd name="adj" fmla="val 2666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3393281" y="2557016"/>
            <a:ext cx="23574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 HTML (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4D4D4"/>
                </a:solidFill>
                <a:highlight>
                  <a:srgbClr val="1E1E1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.cshtml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y la lógica C# (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4D4D4"/>
                </a:solidFill>
                <a:highlight>
                  <a:srgbClr val="1E1E1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.cshtml.cs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viven en archivos separados pero unidos por convención de nombres.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004322" y="1858714"/>
            <a:ext cx="2621756" cy="2881164"/>
          </a:xfrm>
          <a:prstGeom prst="roundRect">
            <a:avLst>
              <a:gd name="adj" fmla="val 4360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136481" y="1990874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155055" y="200944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688" dirty="0"/>
          </a:p>
        </p:txBody>
      </p:sp>
      <p:sp>
        <p:nvSpPr>
          <p:cNvPr id="29" name="Text 26"/>
          <p:cNvSpPr/>
          <p:nvPr/>
        </p:nvSpPr>
        <p:spPr>
          <a:xfrm>
            <a:off x="6136481" y="2348061"/>
            <a:ext cx="2357438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spc="-9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Ideal para empezar</a:t>
            </a:r>
            <a:endParaRPr lang="en-US" sz="872" dirty="0"/>
          </a:p>
        </p:txBody>
      </p:sp>
      <p:sp>
        <p:nvSpPr>
          <p:cNvPr id="30" name="Text 27"/>
          <p:cNvSpPr/>
          <p:nvPr/>
        </p:nvSpPr>
        <p:spPr>
          <a:xfrm>
            <a:off x="6136481" y="2557016"/>
            <a:ext cx="23574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Curva de aprendizaje suave: no requiere entender el patrón MVC ni enrutamiento avanzado para construir tu primera app funcional.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50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764225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47004" y="400050"/>
            <a:ext cx="85319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COMPARATIVA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8629650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b="1" spc="-34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Razor Pages vs MVC vs Blazor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950119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Tres formas de construir aplicaciones web en ASP.NET Core — cada una con sus puntos fuertes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212652"/>
            <a:ext cx="8108156" cy="1866305"/>
          </a:xfrm>
          <a:prstGeom prst="roundRect">
            <a:avLst>
              <a:gd name="adj" fmla="val 6124"/>
            </a:avLst>
          </a:prstGeom>
          <a:noFill/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494" y="1216223"/>
          <a:ext cx="8101013" cy="914400"/>
        </p:xfrm>
        <a:graphic>
          <a:graphicData uri="http://schemas.openxmlformats.org/drawingml/2006/table">
            <a:tbl>
              <a:tblPr/>
              <a:tblGrid>
                <a:gridCol w="2025253"/>
                <a:gridCol w="2203512"/>
                <a:gridCol w="2077603"/>
                <a:gridCol w="179464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Criterio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5A9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Razor Pages ELEGIDO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MVC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Blazor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Organización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5A9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Por páginas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Por controladores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Por componentes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Curva de aprendizaje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5A9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Baja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Media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Media-Alta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Mejor para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5A9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Apps CRUD, formularios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APIs y apps complejas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SPAs interactivas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Lenguaje en el cliente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5A9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HTML + Razor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HTML + Razor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C# (WebAssembly)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Recomendado para principiantes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5A9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Sí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 tanto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 al inicio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14350" y="3196828"/>
            <a:ext cx="8115300" cy="450056"/>
          </a:xfrm>
          <a:prstGeom prst="roundRect">
            <a:avLst>
              <a:gd name="adj" fmla="val 16931"/>
            </a:avLst>
          </a:prstGeom>
          <a:solidFill>
            <a:srgbClr val="E1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528638" y="3196828"/>
            <a:ext cx="0" cy="450056"/>
          </a:xfrm>
          <a:prstGeom prst="line">
            <a:avLst/>
          </a:prstGeom>
          <a:noFill/>
          <a:ln w="28575">
            <a:solidFill>
              <a:srgbClr val="00BCF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4350" y="3196828"/>
            <a:ext cx="8115300" cy="531759"/>
          </a:xfrm>
          <a:prstGeom prst="rect">
            <a:avLst/>
          </a:prstGeom>
          <a:noFill/>
          <a:ln/>
        </p:spPr>
        <p:txBody>
          <a:bodyPr wrap="square" lIns="114300" tIns="85725" rIns="114300" bIns="8572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5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 este curso usamos Razor Pages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B5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porque es el modelo más natural para aplicaciones web con formularios y operaciones CRUD: agenda de teléfonos, lista de tareas, gestión de inventario, etc.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50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1158136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400050"/>
            <a:ext cx="111241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POR QUÉ RAZOR PAGES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8629650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b="1" spc="-34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Ventajas para principiantes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950119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Seis razones por las que Razor Pages es la mejor puerta de entrada al desarrollo web con C#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241227"/>
            <a:ext cx="2640732" cy="1702891"/>
          </a:xfrm>
          <a:prstGeom prst="roundRect">
            <a:avLst>
              <a:gd name="adj" fmla="val 6712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914012" y="1330523"/>
            <a:ext cx="1813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-16" kern="0" dirty="0">
                <a:solidFill>
                  <a:srgbClr val="00BCF2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88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81" y="1359098"/>
            <a:ext cx="285750" cy="285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8655" y="1377672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1" name="Text 7"/>
          <p:cNvSpPr/>
          <p:nvPr/>
        </p:nvSpPr>
        <p:spPr>
          <a:xfrm>
            <a:off x="650081" y="1716286"/>
            <a:ext cx="2486141" cy="163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spc="-8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 enrutamiento complejo</a:t>
            </a:r>
            <a:endParaRPr lang="en-US" sz="816" dirty="0"/>
          </a:p>
        </p:txBody>
      </p:sp>
      <p:sp>
        <p:nvSpPr>
          <p:cNvPr id="12" name="Text 8"/>
          <p:cNvSpPr/>
          <p:nvPr/>
        </p:nvSpPr>
        <p:spPr>
          <a:xfrm>
            <a:off x="650081" y="1907381"/>
            <a:ext cx="2376413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 URL se deriva automáticamente de la ruta del archivo .cshtml dentro de Pages/. Cero configuración.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251522" y="1241227"/>
            <a:ext cx="2640843" cy="1702891"/>
          </a:xfrm>
          <a:prstGeom prst="roundRect">
            <a:avLst>
              <a:gd name="adj" fmla="val 6712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647724" y="1330523"/>
            <a:ext cx="1813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-16" kern="0" dirty="0">
                <a:solidFill>
                  <a:srgbClr val="00BCF2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88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682" y="1359098"/>
            <a:ext cx="285750" cy="285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02256" y="1377672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7" name="Text 12"/>
          <p:cNvSpPr/>
          <p:nvPr/>
        </p:nvSpPr>
        <p:spPr>
          <a:xfrm>
            <a:off x="3383682" y="1716286"/>
            <a:ext cx="2376525" cy="1636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spc="-8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Modelo por página</a:t>
            </a:r>
            <a:endParaRPr lang="en-US" sz="816" dirty="0"/>
          </a:p>
        </p:txBody>
      </p:sp>
      <p:sp>
        <p:nvSpPr>
          <p:cNvPr id="18" name="Text 13"/>
          <p:cNvSpPr/>
          <p:nvPr/>
        </p:nvSpPr>
        <p:spPr>
          <a:xfrm>
            <a:off x="3383682" y="1907381"/>
            <a:ext cx="2376525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Cada página encapsula su lógica. No hay un controlador gigante con 30 acciones: el código está donde lo necesitas.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5985235" y="1241227"/>
            <a:ext cx="2640732" cy="1702891"/>
          </a:xfrm>
          <a:prstGeom prst="roundRect">
            <a:avLst>
              <a:gd name="adj" fmla="val 6712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8381325" y="1330523"/>
            <a:ext cx="1813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-16" kern="0" dirty="0">
                <a:solidFill>
                  <a:srgbClr val="00BCF2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88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94" y="1359098"/>
            <a:ext cx="285750" cy="2857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35968" y="1377672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688" dirty="0"/>
          </a:p>
        </p:txBody>
      </p:sp>
      <p:sp>
        <p:nvSpPr>
          <p:cNvPr id="23" name="Text 17"/>
          <p:cNvSpPr/>
          <p:nvPr/>
        </p:nvSpPr>
        <p:spPr>
          <a:xfrm>
            <a:off x="6117394" y="1716286"/>
            <a:ext cx="2376413" cy="1636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spc="-8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Curva suave</a:t>
            </a:r>
            <a:endParaRPr lang="en-US" sz="816" dirty="0"/>
          </a:p>
        </p:txBody>
      </p:sp>
      <p:sp>
        <p:nvSpPr>
          <p:cNvPr id="24" name="Text 18"/>
          <p:cNvSpPr/>
          <p:nvPr/>
        </p:nvSpPr>
        <p:spPr>
          <a:xfrm>
            <a:off x="6117394" y="1907381"/>
            <a:ext cx="2376413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 sabes C#, en una hora estás construyendo páginas funcionales. No necesitas aprender JavaScript ni un framework frontend.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517922" y="3036987"/>
            <a:ext cx="2640732" cy="1702891"/>
          </a:xfrm>
          <a:prstGeom prst="roundRect">
            <a:avLst>
              <a:gd name="adj" fmla="val 6712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2914012" y="3126284"/>
            <a:ext cx="1813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-16" kern="0" dirty="0">
                <a:solidFill>
                  <a:srgbClr val="00BCF2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88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081" y="3154859"/>
            <a:ext cx="285750" cy="2857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68655" y="3173432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29" name="Text 22"/>
          <p:cNvSpPr/>
          <p:nvPr/>
        </p:nvSpPr>
        <p:spPr>
          <a:xfrm>
            <a:off x="650081" y="3512046"/>
            <a:ext cx="2376413" cy="1636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spc="-8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Protección integrada</a:t>
            </a:r>
            <a:endParaRPr lang="en-US" sz="816" dirty="0"/>
          </a:p>
        </p:txBody>
      </p:sp>
      <p:sp>
        <p:nvSpPr>
          <p:cNvPr id="30" name="Text 23"/>
          <p:cNvSpPr/>
          <p:nvPr/>
        </p:nvSpPr>
        <p:spPr>
          <a:xfrm>
            <a:off x="650081" y="3703141"/>
            <a:ext cx="2376413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 páginas POST incluyen automáticamente tokens anti-falsificación (CSRF). Validación de modelos incluida.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3251522" y="3036987"/>
            <a:ext cx="2640843" cy="1702891"/>
          </a:xfrm>
          <a:prstGeom prst="roundRect">
            <a:avLst>
              <a:gd name="adj" fmla="val 6712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5647724" y="3126284"/>
            <a:ext cx="1813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-16" kern="0" dirty="0">
                <a:solidFill>
                  <a:srgbClr val="00BCF2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788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682" y="3154859"/>
            <a:ext cx="285750" cy="28575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402256" y="3173432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5" name="Text 27"/>
          <p:cNvSpPr/>
          <p:nvPr/>
        </p:nvSpPr>
        <p:spPr>
          <a:xfrm>
            <a:off x="3383682" y="3512046"/>
            <a:ext cx="2376525" cy="1636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spc="-8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Tag Helpers</a:t>
            </a:r>
            <a:endParaRPr lang="en-US" sz="816" dirty="0"/>
          </a:p>
        </p:txBody>
      </p:sp>
      <p:sp>
        <p:nvSpPr>
          <p:cNvPr id="36" name="Text 28"/>
          <p:cNvSpPr/>
          <p:nvPr/>
        </p:nvSpPr>
        <p:spPr>
          <a:xfrm>
            <a:off x="3383682" y="3703141"/>
            <a:ext cx="2376525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Escribe HTML limpio con atributos especiales que generan formularios y enlaces tipados. Más legible que los HTML Helpers clásicos.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5985235" y="3036987"/>
            <a:ext cx="2640732" cy="1702891"/>
          </a:xfrm>
          <a:prstGeom prst="roundRect">
            <a:avLst>
              <a:gd name="adj" fmla="val 6712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8381325" y="3126284"/>
            <a:ext cx="1813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-16" kern="0" dirty="0">
                <a:solidFill>
                  <a:srgbClr val="00BCF2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788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7394" y="3154859"/>
            <a:ext cx="285750" cy="28575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135968" y="3173432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688" dirty="0"/>
          </a:p>
        </p:txBody>
      </p:sp>
      <p:sp>
        <p:nvSpPr>
          <p:cNvPr id="41" name="Text 32"/>
          <p:cNvSpPr/>
          <p:nvPr/>
        </p:nvSpPr>
        <p:spPr>
          <a:xfrm>
            <a:off x="6117394" y="3512046"/>
            <a:ext cx="2376413" cy="1636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spc="-8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Escalable</a:t>
            </a:r>
            <a:endParaRPr lang="en-US" sz="816" dirty="0"/>
          </a:p>
        </p:txBody>
      </p:sp>
      <p:sp>
        <p:nvSpPr>
          <p:cNvPr id="42" name="Text 33"/>
          <p:cNvSpPr/>
          <p:nvPr/>
        </p:nvSpPr>
        <p:spPr>
          <a:xfrm>
            <a:off x="6117394" y="3703141"/>
            <a:ext cx="2376413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Empieza con una página simple y crece hasta aplicaciones profesionales. Razor Pages convive con APIs y Blazor en la misma app.</a:t>
            </a:r>
            <a:endParaRPr lang="en-US" sz="800" dirty="0"/>
          </a:p>
        </p:txBody>
      </p:sp>
      <p:sp>
        <p:nvSpPr>
          <p:cNvPr id="43" name="Text 34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50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807087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31270" y="400050"/>
            <a:ext cx="92752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ARQUITECTURA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8629650" cy="235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575" b="1" spc="-32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Arquitectura de una aplicación Razor Pages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93438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Cómo se procesa una petición HTTP desde el navegador hasta la página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196913"/>
            <a:ext cx="3964781" cy="411435"/>
          </a:xfrm>
          <a:prstGeom prst="roundRect">
            <a:avLst>
              <a:gd name="adj" fmla="val 23151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1506" y="1302618"/>
            <a:ext cx="200025" cy="200025"/>
          </a:xfrm>
          <a:prstGeom prst="ellipse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21506" y="130261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50119" y="1302618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56905" y="130940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266" dirty="0"/>
          </a:p>
        </p:txBody>
      </p:sp>
      <p:sp>
        <p:nvSpPr>
          <p:cNvPr id="12" name="Text 9"/>
          <p:cNvSpPr/>
          <p:nvPr/>
        </p:nvSpPr>
        <p:spPr>
          <a:xfrm>
            <a:off x="1221581" y="1271922"/>
            <a:ext cx="315753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Petición HTTP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221581" y="1418369"/>
            <a:ext cx="3267266" cy="11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 navegador pide /Contacto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436019" y="15976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266" dirty="0"/>
          </a:p>
        </p:txBody>
      </p:sp>
      <p:sp>
        <p:nvSpPr>
          <p:cNvPr id="15" name="Text 12"/>
          <p:cNvSpPr/>
          <p:nvPr/>
        </p:nvSpPr>
        <p:spPr>
          <a:xfrm>
            <a:off x="517922" y="1715505"/>
            <a:ext cx="3964781" cy="411435"/>
          </a:xfrm>
          <a:prstGeom prst="roundRect">
            <a:avLst>
              <a:gd name="adj" fmla="val 23151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21506" y="1821210"/>
            <a:ext cx="200025" cy="200025"/>
          </a:xfrm>
          <a:prstGeom prst="ellipse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1506" y="182121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950119" y="1821210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956905" y="182799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266" dirty="0"/>
          </a:p>
        </p:txBody>
      </p:sp>
      <p:sp>
        <p:nvSpPr>
          <p:cNvPr id="20" name="Text 17"/>
          <p:cNvSpPr/>
          <p:nvPr/>
        </p:nvSpPr>
        <p:spPr>
          <a:xfrm>
            <a:off x="1221581" y="1790514"/>
            <a:ext cx="315753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Middleware pipeline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221581" y="1936961"/>
            <a:ext cx="3157538" cy="11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Program.cs procesa la petición: routing, auth, etc.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436019" y="211622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517922" y="2234096"/>
            <a:ext cx="3964781" cy="411435"/>
          </a:xfrm>
          <a:prstGeom prst="roundRect">
            <a:avLst>
              <a:gd name="adj" fmla="val 23151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21506" y="2339801"/>
            <a:ext cx="200025" cy="200025"/>
          </a:xfrm>
          <a:prstGeom prst="ellipse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21506" y="233980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950119" y="2339801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956905" y="234658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1221581" y="2309106"/>
            <a:ext cx="315753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Enrutamiento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221581" y="2455552"/>
            <a:ext cx="3267266" cy="11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ASP.NET Core busca Pages/Contacto.cshtml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2436019" y="263481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266" dirty="0"/>
          </a:p>
        </p:txBody>
      </p:sp>
      <p:sp>
        <p:nvSpPr>
          <p:cNvPr id="31" name="Text 28"/>
          <p:cNvSpPr/>
          <p:nvPr/>
        </p:nvSpPr>
        <p:spPr>
          <a:xfrm>
            <a:off x="517922" y="2752688"/>
            <a:ext cx="3964781" cy="411435"/>
          </a:xfrm>
          <a:prstGeom prst="roundRect">
            <a:avLst>
              <a:gd name="adj" fmla="val 23151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21506" y="2858393"/>
            <a:ext cx="200025" cy="200025"/>
          </a:xfrm>
          <a:prstGeom prst="ellipse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21506" y="285839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950119" y="2858393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956905" y="286518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6" name="Text 33"/>
          <p:cNvSpPr/>
          <p:nvPr/>
        </p:nvSpPr>
        <p:spPr>
          <a:xfrm>
            <a:off x="1221581" y="2827697"/>
            <a:ext cx="315753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Page Model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221581" y="2974144"/>
            <a:ext cx="3267266" cy="11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 ejecuta OnGet() en Contacto.cshtml.cs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2436019" y="315340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266" dirty="0"/>
          </a:p>
        </p:txBody>
      </p:sp>
      <p:sp>
        <p:nvSpPr>
          <p:cNvPr id="39" name="Text 36"/>
          <p:cNvSpPr/>
          <p:nvPr/>
        </p:nvSpPr>
        <p:spPr>
          <a:xfrm>
            <a:off x="517922" y="3271279"/>
            <a:ext cx="3964781" cy="411435"/>
          </a:xfrm>
          <a:prstGeom prst="roundRect">
            <a:avLst>
              <a:gd name="adj" fmla="val 23151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621506" y="3376985"/>
            <a:ext cx="200025" cy="200025"/>
          </a:xfrm>
          <a:prstGeom prst="ellipse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21506" y="337698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950119" y="3376985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956905" y="338377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44" name="Text 41"/>
          <p:cNvSpPr/>
          <p:nvPr/>
        </p:nvSpPr>
        <p:spPr>
          <a:xfrm>
            <a:off x="1221581" y="3346289"/>
            <a:ext cx="315753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Renderizado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1221581" y="3492736"/>
            <a:ext cx="3267266" cy="11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 combina HTML + datos y se envía al navegador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657725" y="1193341"/>
            <a:ext cx="3971925" cy="1605558"/>
          </a:xfrm>
          <a:prstGeom prst="roundRect">
            <a:avLst>
              <a:gd name="adj" fmla="val 5933"/>
            </a:avLst>
          </a:prstGeom>
          <a:solidFill>
            <a:srgbClr val="1E1E1E"/>
          </a:solidFill>
          <a:ln/>
          <a:effectLst>
            <a:outerShdw sx="100000" sy="100000" kx="0" ky="0" algn="bl" rotWithShape="0" blurRad="285750" dist="114300" dir="5400000">
              <a:srgbClr val="0078D4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4657725" y="1193341"/>
            <a:ext cx="3971925" cy="205383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5"/>
          <p:cNvSpPr/>
          <p:nvPr/>
        </p:nvSpPr>
        <p:spPr>
          <a:xfrm>
            <a:off x="4657725" y="1395152"/>
            <a:ext cx="3971925" cy="0"/>
          </a:xfrm>
          <a:prstGeom prst="line">
            <a:avLst/>
          </a:prstGeom>
          <a:noFill/>
          <a:ln w="7144">
            <a:solidFill>
              <a:srgbClr val="3C3C3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743450" y="1256742"/>
            <a:ext cx="71438" cy="71438"/>
          </a:xfrm>
          <a:prstGeom prst="ellipse">
            <a:avLst/>
          </a:prstGeom>
          <a:solidFill>
            <a:srgbClr val="FF5F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4872038" y="1256742"/>
            <a:ext cx="71438" cy="71438"/>
          </a:xfrm>
          <a:prstGeom prst="ellipse">
            <a:avLst/>
          </a:prstGeom>
          <a:solidFill>
            <a:srgbClr val="FFB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5000625" y="1256742"/>
            <a:ext cx="71438" cy="71438"/>
          </a:xfrm>
          <a:prstGeom prst="ellipse">
            <a:avLst/>
          </a:prstGeom>
          <a:solidFill>
            <a:srgbClr val="27C9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5186363" y="1236204"/>
            <a:ext cx="3357563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D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772025" y="1527311"/>
            <a:ext cx="2626444" cy="127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var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builder =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WebApplication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CreateBuilder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(args);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builder.Services.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AddRazorPages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var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app = builder.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Build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app.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UseStaticFiles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app.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UseRouting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app.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MapRazorPages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app.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Run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657725" y="2884624"/>
            <a:ext cx="3971925" cy="234293"/>
          </a:xfrm>
          <a:prstGeom prst="roundRect">
            <a:avLst>
              <a:gd name="adj" fmla="val 24393"/>
            </a:avLst>
          </a:prstGeom>
          <a:solidFill>
            <a:srgbClr val="E1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2"/>
          <p:cNvSpPr/>
          <p:nvPr/>
        </p:nvSpPr>
        <p:spPr>
          <a:xfrm>
            <a:off x="4668441" y="2884624"/>
            <a:ext cx="0" cy="234293"/>
          </a:xfrm>
          <a:prstGeom prst="line">
            <a:avLst/>
          </a:prstGeom>
          <a:noFill/>
          <a:ln w="21431">
            <a:solidFill>
              <a:srgbClr val="00BCF2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657725" y="2884624"/>
            <a:ext cx="3971925" cy="299895"/>
          </a:xfrm>
          <a:prstGeom prst="rect">
            <a:avLst/>
          </a:prstGeom>
          <a:noFill/>
          <a:ln/>
        </p:spPr>
        <p:txBody>
          <a:bodyPr wrap="square" lIns="85725" tIns="57150" rIns="85725" bIns="5715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B5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Solo 4 líneas para arrancar una aplicación Razor Pages funcional.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50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997178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400050"/>
            <a:ext cx="95145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PATRÓN DE DISEÑO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8521065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b="1" spc="-34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 patrón Page Model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050131"/>
            <a:ext cx="3943350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 Razor Pages, cada página está formada por </a:t>
            </a:r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dos archivos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que trabajan juntos por convención de nombres: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4350" y="1434778"/>
            <a:ext cx="3943350" cy="900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39"/>
              </a:lnSpc>
              <a:spcAft>
                <a:spcPts val="563"/>
              </a:spcAft>
              <a:buSzPct val="100000"/>
              <a:buFont typeface="+mj-lt"/>
              <a:buAutoNum type="arabicPeriod" startAt="1"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 archivo </a:t>
            </a:r>
            <a:pPr algn="l" indent="0" marL="0">
              <a:lnSpc>
                <a:spcPts val="1139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0078D4"/>
                </a:solidFill>
                <a:highlight>
                  <a:srgbClr val="F3F6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.cshtml</a:t>
            </a:r>
            <a:pPr algn="l" indent="0" marL="0">
              <a:lnSpc>
                <a:spcPts val="1139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contiene el HTML y las expresiones Razor. Define la estructura visual de la página.</a:t>
            </a:r>
            <a:endParaRPr lang="en-US" sz="800" dirty="0"/>
          </a:p>
          <a:p>
            <a:pPr algn="l" marL="342900" indent="-342900">
              <a:lnSpc>
                <a:spcPts val="1139"/>
              </a:lnSpc>
              <a:spcAft>
                <a:spcPts val="563"/>
              </a:spcAft>
              <a:buSzPct val="100000"/>
              <a:buFont typeface="+mj-lt"/>
              <a:buAutoNum type="arabicPeriod" startAt="1"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 archivo </a:t>
            </a:r>
            <a:pPr algn="l" indent="0" marL="0">
              <a:lnSpc>
                <a:spcPts val="1139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0078D4"/>
                </a:solidFill>
                <a:highlight>
                  <a:srgbClr val="F3F6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.cshtml.cs</a:t>
            </a:r>
            <a:pPr algn="l" indent="0" marL="0">
              <a:lnSpc>
                <a:spcPts val="1139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contiene la clase PageModel, donde se escribe la lógica C#: cargar datos, procesar formularios, validar, etc.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308088" y="2466491"/>
            <a:ext cx="378954" cy="114300"/>
          </a:xfrm>
          <a:prstGeom prst="roundRect">
            <a:avLst>
              <a:gd name="adj" fmla="val 33333"/>
            </a:avLst>
          </a:prstGeom>
          <a:solidFill>
            <a:srgbClr val="F3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320937" y="2466491"/>
            <a:ext cx="314325" cy="114300"/>
          </a:xfrm>
          <a:prstGeom prst="roundRect">
            <a:avLst>
              <a:gd name="adj" fmla="val 33333"/>
            </a:avLst>
          </a:prstGeom>
          <a:solidFill>
            <a:srgbClr val="F3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693194" y="2466491"/>
            <a:ext cx="338212" cy="114300"/>
          </a:xfrm>
          <a:prstGeom prst="roundRect">
            <a:avLst>
              <a:gd name="adj" fmla="val 33333"/>
            </a:avLst>
          </a:prstGeom>
          <a:solidFill>
            <a:srgbClr val="F3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089337" y="2466491"/>
            <a:ext cx="547725" cy="114300"/>
          </a:xfrm>
          <a:prstGeom prst="roundRect">
            <a:avLst>
              <a:gd name="adj" fmla="val 33333"/>
            </a:avLst>
          </a:prstGeom>
          <a:solidFill>
            <a:srgbClr val="F3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14350" y="2302743"/>
            <a:ext cx="3943350" cy="51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 PageModel expone propiedades y métodos. Las propiedades se enlazan automáticamente al HTML mediante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0078D4"/>
                </a:solidFill>
                <a:highlight>
                  <a:srgbClr val="F3F6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@model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Los métodos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0078D4"/>
                </a:solidFill>
                <a:highlight>
                  <a:srgbClr val="F3F6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OnGet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0078D4"/>
                </a:solidFill>
                <a:highlight>
                  <a:srgbClr val="F3F6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OnPost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0078D4"/>
                </a:solidFill>
                <a:highlight>
                  <a:srgbClr val="F3F6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OnPostEditar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responden a los verbos HTTP correspondientes.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663440" y="1044988"/>
            <a:ext cx="1181576" cy="196025"/>
          </a:xfrm>
          <a:prstGeom prst="roundRect">
            <a:avLst>
              <a:gd name="adj" fmla="val 24295"/>
            </a:avLst>
          </a:prstGeom>
          <a:solidFill>
            <a:srgbClr val="F3F6FA"/>
          </a:solidFill>
          <a:ln w="7144">
            <a:solidFill>
              <a:srgbClr val="DEECF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86325" y="1091208"/>
            <a:ext cx="864394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Pages/Saludo.cshtml.cs</a:t>
            </a:r>
            <a:endParaRPr lang="en-US" sz="619" dirty="0"/>
          </a:p>
        </p:txBody>
      </p:sp>
      <p:sp>
        <p:nvSpPr>
          <p:cNvPr id="15" name="Text 12"/>
          <p:cNvSpPr/>
          <p:nvPr/>
        </p:nvSpPr>
        <p:spPr>
          <a:xfrm>
            <a:off x="4757738" y="110013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844" dirty="0"/>
          </a:p>
        </p:txBody>
      </p:sp>
      <p:sp>
        <p:nvSpPr>
          <p:cNvPr id="16" name="Text 13"/>
          <p:cNvSpPr/>
          <p:nvPr/>
        </p:nvSpPr>
        <p:spPr>
          <a:xfrm>
            <a:off x="4686300" y="1316236"/>
            <a:ext cx="3943350" cy="2355652"/>
          </a:xfrm>
          <a:prstGeom prst="roundRect">
            <a:avLst>
              <a:gd name="adj" fmla="val 4043"/>
            </a:avLst>
          </a:prstGeom>
          <a:solidFill>
            <a:srgbClr val="1E1E1E"/>
          </a:solidFill>
          <a:ln/>
          <a:effectLst>
            <a:outerShdw sx="100000" sy="100000" kx="0" ky="0" algn="bl" rotWithShape="0" blurRad="285750" dist="114300" dir="5400000">
              <a:srgbClr val="0078D4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686300" y="1316236"/>
            <a:ext cx="3943350" cy="205383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86300" y="1518047"/>
            <a:ext cx="3943350" cy="0"/>
          </a:xfrm>
          <a:prstGeom prst="line">
            <a:avLst/>
          </a:prstGeom>
          <a:noFill/>
          <a:ln w="7144">
            <a:solidFill>
              <a:srgbClr val="3C3C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2025" y="1379637"/>
            <a:ext cx="71438" cy="71438"/>
          </a:xfrm>
          <a:prstGeom prst="ellipse">
            <a:avLst/>
          </a:prstGeom>
          <a:solidFill>
            <a:srgbClr val="FF5F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900613" y="1379637"/>
            <a:ext cx="71438" cy="71438"/>
          </a:xfrm>
          <a:prstGeom prst="ellipse">
            <a:avLst/>
          </a:prstGeom>
          <a:solidFill>
            <a:srgbClr val="FFB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029200" y="1379637"/>
            <a:ext cx="71438" cy="71438"/>
          </a:xfrm>
          <a:prstGeom prst="ellipse">
            <a:avLst/>
          </a:prstGeom>
          <a:solidFill>
            <a:srgbClr val="27C9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214938" y="1359098"/>
            <a:ext cx="3328988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D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Saludo.cshtml.cs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800600" y="1650206"/>
            <a:ext cx="2519176" cy="2021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Microsoft.AspNetCore.Mvc.RazorPages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class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SaludoModel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: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PageModel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Propiedad disponible en la vista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string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Mensaje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{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} =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""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Se ejecuta al hacer GET /Saludo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void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OnGet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Mensaje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=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"¡Bienvenido a Razor Pages!"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686300" y="3757613"/>
            <a:ext cx="3943350" cy="238534"/>
          </a:xfrm>
          <a:prstGeom prst="roundRect">
            <a:avLst>
              <a:gd name="adj" fmla="val 23959"/>
            </a:avLst>
          </a:prstGeom>
          <a:solidFill>
            <a:srgbClr val="E1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4697016" y="3757613"/>
            <a:ext cx="0" cy="238534"/>
          </a:xfrm>
          <a:prstGeom prst="line">
            <a:avLst/>
          </a:prstGeom>
          <a:noFill/>
          <a:ln w="21431">
            <a:solidFill>
              <a:srgbClr val="00BCF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8772" y="3821906"/>
            <a:ext cx="815727" cy="100013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686300" y="3757613"/>
            <a:ext cx="3943350" cy="305324"/>
          </a:xfrm>
          <a:prstGeom prst="rect">
            <a:avLst/>
          </a:prstGeom>
          <a:noFill/>
          <a:ln/>
        </p:spPr>
        <p:txBody>
          <a:bodyPr wrap="square" lIns="85725" tIns="57150" rIns="85725" bIns="5715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B5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 sufijo </a:t>
            </a:r>
            <a:pPr algn="l" indent="0" marL="0">
              <a:lnSpc>
                <a:spcPts val="979"/>
              </a:lnSpc>
              <a:buNone/>
            </a:pPr>
            <a:r>
              <a:rPr lang="en-US" sz="800" b="1" dirty="0">
                <a:solidFill>
                  <a:srgbClr val="0B5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B5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es convención. La vista referenciará esta clase con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B5A7A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@model SaludoModel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B5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50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760765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5465" y="400050"/>
            <a:ext cx="83281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PREPARACIÓN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8521065" cy="251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b="1" spc="-34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Requisitos e instalación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950119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Antes de empezar, instala estas herramientas. Todo es gratuito.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212652"/>
            <a:ext cx="3964781" cy="609005"/>
          </a:xfrm>
          <a:prstGeom prst="roundRect">
            <a:avLst>
              <a:gd name="adj" fmla="val 15640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1506" y="1301948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E7F4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36151" y="131659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07C1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0" name="Text 7"/>
          <p:cNvSpPr/>
          <p:nvPr/>
        </p:nvSpPr>
        <p:spPr>
          <a:xfrm>
            <a:off x="1007269" y="1301948"/>
            <a:ext cx="33718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8" kern="0" dirty="0">
                <a:solidFill>
                  <a:srgbClr val="1B1B1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.NET SDK 8.0 o superior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07269" y="1473398"/>
            <a:ext cx="337185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Descárgalo gratis desde dotnet.microsoft.com. Incluye el runtime, el compilador y la CLI dotnet.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17922" y="1900238"/>
            <a:ext cx="3964781" cy="609005"/>
          </a:xfrm>
          <a:prstGeom prst="roundRect">
            <a:avLst>
              <a:gd name="adj" fmla="val 15640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21506" y="1989534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E7F4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36151" y="200417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07C1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547" dirty="0"/>
          </a:p>
        </p:txBody>
      </p:sp>
      <p:sp>
        <p:nvSpPr>
          <p:cNvPr id="15" name="Text 12"/>
          <p:cNvSpPr/>
          <p:nvPr/>
        </p:nvSpPr>
        <p:spPr>
          <a:xfrm>
            <a:off x="1007269" y="1989534"/>
            <a:ext cx="33718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8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Editor de código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07269" y="2160984"/>
            <a:ext cx="337185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Opciones recomendadas: Visual Studio 2022 Community (Windows/Mac) o Visual Studio Code con la extensión C# Dev Kit (multiplataforma).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7922" y="2587823"/>
            <a:ext cx="3964781" cy="609005"/>
          </a:xfrm>
          <a:prstGeom prst="roundRect">
            <a:avLst>
              <a:gd name="adj" fmla="val 15640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21506" y="2677120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E7F4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36151" y="269176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07C1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20" name="Text 17"/>
          <p:cNvSpPr/>
          <p:nvPr/>
        </p:nvSpPr>
        <p:spPr>
          <a:xfrm>
            <a:off x="1007269" y="2677120"/>
            <a:ext cx="33718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8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SQLite (opcional)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07269" y="2848570"/>
            <a:ext cx="337185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 el capítulo 6 (lista de tareas). EF Core usa SQLite por defecto, no requiere instalación separada.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17922" y="3275409"/>
            <a:ext cx="3964781" cy="479524"/>
          </a:xfrm>
          <a:prstGeom prst="roundRect">
            <a:avLst>
              <a:gd name="adj" fmla="val 19863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21506" y="3364706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E7F4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36151" y="337935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07C1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5" name="Text 22"/>
          <p:cNvSpPr/>
          <p:nvPr/>
        </p:nvSpPr>
        <p:spPr>
          <a:xfrm>
            <a:off x="1007269" y="3364706"/>
            <a:ext cx="348157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8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Terminal / línea de comandos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007269" y="3536156"/>
            <a:ext cx="3371850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Cualquier terminal sirve: PowerShell, CMD, bash o la integrada en VS Code (Ctrl+ñ).</a:t>
            </a:r>
            <a:endParaRPr lang="en-US" sz="703" dirty="0"/>
          </a:p>
        </p:txBody>
      </p:sp>
      <p:sp>
        <p:nvSpPr>
          <p:cNvPr id="27" name="Text 24"/>
          <p:cNvSpPr/>
          <p:nvPr/>
        </p:nvSpPr>
        <p:spPr>
          <a:xfrm>
            <a:off x="4657725" y="1209080"/>
            <a:ext cx="3971925" cy="1991767"/>
          </a:xfrm>
          <a:prstGeom prst="roundRect">
            <a:avLst>
              <a:gd name="adj" fmla="val 4782"/>
            </a:avLst>
          </a:prstGeom>
          <a:solidFill>
            <a:srgbClr val="1E1E1E"/>
          </a:solidFill>
          <a:ln/>
          <a:effectLst>
            <a:outerShdw sx="100000" sy="100000" kx="0" ky="0" algn="bl" rotWithShape="0" blurRad="285750" dist="114300" dir="5400000">
              <a:srgbClr val="0078D4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657725" y="1209080"/>
            <a:ext cx="3971925" cy="205383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4657725" y="1410891"/>
            <a:ext cx="3971925" cy="0"/>
          </a:xfrm>
          <a:prstGeom prst="line">
            <a:avLst/>
          </a:prstGeom>
          <a:noFill/>
          <a:ln w="7144">
            <a:solidFill>
              <a:srgbClr val="3C3C3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43450" y="1272480"/>
            <a:ext cx="71438" cy="71438"/>
          </a:xfrm>
          <a:prstGeom prst="ellipse">
            <a:avLst/>
          </a:prstGeom>
          <a:solidFill>
            <a:srgbClr val="FF5F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872038" y="1272480"/>
            <a:ext cx="71438" cy="71438"/>
          </a:xfrm>
          <a:prstGeom prst="ellipse">
            <a:avLst/>
          </a:prstGeom>
          <a:solidFill>
            <a:srgbClr val="FFB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000625" y="1272480"/>
            <a:ext cx="71438" cy="71438"/>
          </a:xfrm>
          <a:prstGeom prst="ellipse">
            <a:avLst/>
          </a:prstGeom>
          <a:solidFill>
            <a:srgbClr val="27C9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186363" y="1251942"/>
            <a:ext cx="3357563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D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— verificación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772025" y="1535906"/>
            <a:ext cx="1749103" cy="1664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Comprobar la versión instalada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dotnet --version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 Debería mostrar 8.0.x o superior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Listar los SDK instalados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dotnet --list-sdks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Crear tu primera app Razor Pages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dotnet new razor -o MiAgenda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cd MiAgenda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dotnet run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657725" y="3286571"/>
            <a:ext cx="3971925" cy="238534"/>
          </a:xfrm>
          <a:prstGeom prst="roundRect">
            <a:avLst>
              <a:gd name="adj" fmla="val 23959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4668441" y="3286571"/>
            <a:ext cx="0" cy="238534"/>
          </a:xfrm>
          <a:prstGeom prst="line">
            <a:avLst/>
          </a:prstGeom>
          <a:noFill/>
          <a:ln w="21431">
            <a:solidFill>
              <a:srgbClr val="0078D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64881" y="334863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125" dirty="0"/>
          </a:p>
        </p:txBody>
      </p:sp>
      <p:sp>
        <p:nvSpPr>
          <p:cNvPr id="38" name="Text 35"/>
          <p:cNvSpPr/>
          <p:nvPr/>
        </p:nvSpPr>
        <p:spPr>
          <a:xfrm>
            <a:off x="4936331" y="3343721"/>
            <a:ext cx="3607594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 primera ejecución descarga paquetes NuGet. Puede tardar 30-60 segundos.</a:t>
            </a:r>
            <a:endParaRPr lang="en-US" sz="675" dirty="0"/>
          </a:p>
        </p:txBody>
      </p:sp>
      <p:sp>
        <p:nvSpPr>
          <p:cNvPr id="39" name="Text 36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50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6850" y="0"/>
            <a:ext cx="5715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428625" y="3714750"/>
            <a:ext cx="2000250" cy="1143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8625" y="3714750"/>
            <a:ext cx="2000250" cy="1143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685800" y="1444154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078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CAPÍTULO · RAZOR PAGES EN ASP.NET CORE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685800" y="1733476"/>
            <a:ext cx="845820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b="1" spc="-216" kern="0" dirty="0">
                <a:solidFill>
                  <a:srgbClr val="00BCF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</a:t>
            </a:r>
            <a:pPr algn="l" indent="0" marL="0">
              <a:lnSpc>
                <a:spcPts val="5400"/>
              </a:lnSpc>
              <a:buNone/>
            </a:pPr>
            <a:r>
              <a:rPr lang="en-US" sz="5400" b="1" spc="-216" kern="0" dirty="0">
                <a:solidFill>
                  <a:srgbClr val="DEEC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06</a:t>
            </a:r>
            <a:endParaRPr lang="en-US" sz="5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19301"/>
            <a:ext cx="457200" cy="2143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5800" y="2812182"/>
            <a:ext cx="8161020" cy="421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1"/>
              </a:lnSpc>
              <a:buNone/>
            </a:pPr>
            <a:r>
              <a:rPr lang="en-US" sz="2925" b="1" spc="-73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 primera aplicación</a:t>
            </a:r>
            <a:endParaRPr lang="en-US" sz="2925" dirty="0"/>
          </a:p>
        </p:txBody>
      </p:sp>
      <p:sp>
        <p:nvSpPr>
          <p:cNvPr id="9" name="Text 4"/>
          <p:cNvSpPr/>
          <p:nvPr/>
        </p:nvSpPr>
        <p:spPr>
          <a:xfrm>
            <a:off x="685800" y="3345061"/>
            <a:ext cx="4429125" cy="38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 tu primer proyecto Razor Pages, entiende su estructura de carpetas y ejecuta la aplicación en el navegador.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50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504" y="388906"/>
            <a:ext cx="481841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400050"/>
            <a:ext cx="4461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PASO 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8521065" cy="251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b="1" spc="-34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Crear el proyecto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950119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Tres comandos en la terminal y tendrás tu primera aplicación web funcionando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14350" y="2028825"/>
            <a:ext cx="3943350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266230"/>
            <a:ext cx="200025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4350" y="126623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42963" y="1266230"/>
            <a:ext cx="361473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8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Crear el proyecto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842963" y="1437680"/>
            <a:ext cx="3614738" cy="130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Abre una terminal en la carpeta donde quieras crear el proyecto y ejecuta:</a:t>
            </a:r>
            <a:endParaRPr lang="en-US" sz="703" dirty="0"/>
          </a:p>
        </p:txBody>
      </p:sp>
      <p:sp>
        <p:nvSpPr>
          <p:cNvPr id="12" name="Text 8"/>
          <p:cNvSpPr/>
          <p:nvPr/>
        </p:nvSpPr>
        <p:spPr>
          <a:xfrm>
            <a:off x="842963" y="1595735"/>
            <a:ext cx="1314450" cy="171450"/>
          </a:xfrm>
          <a:prstGeom prst="roundRect">
            <a:avLst>
              <a:gd name="adj" fmla="val 22222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842963" y="1595735"/>
            <a:ext cx="1314450" cy="18688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new razor -o MiAgenda</a:t>
            </a:r>
            <a:endParaRPr lang="en-US" sz="675" dirty="0"/>
          </a:p>
        </p:txBody>
      </p:sp>
      <p:sp>
        <p:nvSpPr>
          <p:cNvPr id="14" name="Text 10"/>
          <p:cNvSpPr/>
          <p:nvPr/>
        </p:nvSpPr>
        <p:spPr>
          <a:xfrm>
            <a:off x="842963" y="1810048"/>
            <a:ext cx="3614738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Esto crea una carpeta MiAgenda con la plantilla Razor Pages lista para ejecutar.</a:t>
            </a:r>
            <a:endParaRPr lang="en-US" sz="703" dirty="0"/>
          </a:p>
        </p:txBody>
      </p:sp>
      <p:sp>
        <p:nvSpPr>
          <p:cNvPr id="15" name="Shape 11"/>
          <p:cNvSpPr/>
          <p:nvPr/>
        </p:nvSpPr>
        <p:spPr>
          <a:xfrm>
            <a:off x="514350" y="2729805"/>
            <a:ext cx="3943350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118122"/>
            <a:ext cx="200025" cy="2000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4350" y="211812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842963" y="2118122"/>
            <a:ext cx="361473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8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Entrar en la carpeta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820103" y="2286429"/>
            <a:ext cx="631508" cy="192024"/>
          </a:xfrm>
          <a:prstGeom prst="roundRect">
            <a:avLst>
              <a:gd name="adj" fmla="val 19841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777594" y="2296716"/>
            <a:ext cx="71652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MiAgenda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842963" y="2511028"/>
            <a:ext cx="3614738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Todos los comandos siguientes se ejecutan desde dentro del proyecto.</a:t>
            </a:r>
            <a:endParaRPr lang="en-US" sz="703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819102"/>
            <a:ext cx="200025" cy="2000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4350" y="281910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842963" y="2819102"/>
            <a:ext cx="3795474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8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Ejecutar la aplicación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821246" y="2987409"/>
            <a:ext cx="586359" cy="192024"/>
          </a:xfrm>
          <a:prstGeom prst="roundRect">
            <a:avLst>
              <a:gd name="adj" fmla="val 19841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799323" y="2997696"/>
            <a:ext cx="6302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run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842963" y="3212009"/>
            <a:ext cx="3614738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 primera vez tarda un poco mientras restaura paquetes. Verás algo como: Now listening on: http://localhost:5000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4686300" y="2056395"/>
            <a:ext cx="3943350" cy="1486793"/>
          </a:xfrm>
          <a:prstGeom prst="roundRect">
            <a:avLst>
              <a:gd name="adj" fmla="val 6406"/>
            </a:avLst>
          </a:prstGeom>
          <a:solidFill>
            <a:srgbClr val="1E1E1E"/>
          </a:solidFill>
          <a:ln/>
          <a:effectLst>
            <a:outerShdw sx="100000" sy="100000" kx="0" ky="0" algn="bl" rotWithShape="0" blurRad="285750" dist="114300" dir="5400000">
              <a:srgbClr val="0078D4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4686300" y="2056395"/>
            <a:ext cx="3943350" cy="205383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4"/>
          <p:cNvSpPr/>
          <p:nvPr/>
        </p:nvSpPr>
        <p:spPr>
          <a:xfrm>
            <a:off x="4686300" y="2258206"/>
            <a:ext cx="3943350" cy="0"/>
          </a:xfrm>
          <a:prstGeom prst="line">
            <a:avLst/>
          </a:prstGeom>
          <a:noFill/>
          <a:ln w="7144">
            <a:solidFill>
              <a:srgbClr val="3C3C3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772025" y="2119796"/>
            <a:ext cx="71438" cy="71438"/>
          </a:xfrm>
          <a:prstGeom prst="ellipse">
            <a:avLst/>
          </a:prstGeom>
          <a:solidFill>
            <a:srgbClr val="FF5F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4900613" y="2119796"/>
            <a:ext cx="71438" cy="71438"/>
          </a:xfrm>
          <a:prstGeom prst="ellipse">
            <a:avLst/>
          </a:prstGeom>
          <a:solidFill>
            <a:srgbClr val="FFB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5029200" y="2119796"/>
            <a:ext cx="71438" cy="71438"/>
          </a:xfrm>
          <a:prstGeom prst="ellipse">
            <a:avLst/>
          </a:prstGeom>
          <a:solidFill>
            <a:srgbClr val="27C9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5214938" y="2099258"/>
            <a:ext cx="3328988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D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— dotnet CLI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4800600" y="2390366"/>
            <a:ext cx="2840310" cy="1152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$ dotnet new razor -o MiAgenda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$ cd MiAgenda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$ dotnet run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info: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Microsoft.Hosting.Lifetime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]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Now listening on: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http://localhost:5000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info: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Microsoft.Hosting.Lifetime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]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Application started.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Press Ctrl+C to shut down.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4686300" y="3628913"/>
            <a:ext cx="3943350" cy="238534"/>
          </a:xfrm>
          <a:prstGeom prst="roundRect">
            <a:avLst>
              <a:gd name="adj" fmla="val 23959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1"/>
          <p:cNvSpPr/>
          <p:nvPr/>
        </p:nvSpPr>
        <p:spPr>
          <a:xfrm>
            <a:off x="4697016" y="3628913"/>
            <a:ext cx="0" cy="238534"/>
          </a:xfrm>
          <a:prstGeom prst="line">
            <a:avLst/>
          </a:prstGeom>
          <a:noFill/>
          <a:ln w="21431">
            <a:solidFill>
              <a:srgbClr val="0078D4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793456" y="369097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125" dirty="0"/>
          </a:p>
        </p:txBody>
      </p:sp>
      <p:sp>
        <p:nvSpPr>
          <p:cNvPr id="39" name="Text 33"/>
          <p:cNvSpPr/>
          <p:nvPr/>
        </p:nvSpPr>
        <p:spPr>
          <a:xfrm>
            <a:off x="5158457" y="3686063"/>
            <a:ext cx="934045" cy="114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4964906" y="3686063"/>
            <a:ext cx="3579019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Abre 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0078D4"/>
                </a:solidFill>
                <a:highlight>
                  <a:srgbClr val="FFFFFF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http://localhost:5000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en tu navegador y verás la plantilla por defecto de Razor Pages.</a:t>
            </a:r>
            <a:endParaRPr lang="en-US" sz="675" dirty="0"/>
          </a:p>
        </p:txBody>
      </p:sp>
      <p:sp>
        <p:nvSpPr>
          <p:cNvPr id="41" name="Text 35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/ 50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504" y="388906"/>
            <a:ext cx="481841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400050"/>
            <a:ext cx="4461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PASO 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8521065" cy="251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b="1" spc="-34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Estructura de carpetas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950119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Cada archivo tiene un papel. Conocerla te ahorrará tiempo y confusiones.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4350" y="1209080"/>
            <a:ext cx="3246053" cy="3534370"/>
          </a:xfrm>
          <a:prstGeom prst="roundRect">
            <a:avLst>
              <a:gd name="adj" fmla="val 2934"/>
            </a:avLst>
          </a:prstGeom>
          <a:solidFill>
            <a:srgbClr val="1E1E1E"/>
          </a:solidFill>
          <a:ln/>
          <a:effectLst>
            <a:outerShdw sx="100000" sy="100000" kx="0" ky="0" algn="bl" rotWithShape="0" blurRad="285750" dist="114300" dir="5400000">
              <a:srgbClr val="0078D4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14350" y="1209080"/>
            <a:ext cx="3246053" cy="205383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14350" y="1410891"/>
            <a:ext cx="3246053" cy="0"/>
          </a:xfrm>
          <a:prstGeom prst="line">
            <a:avLst/>
          </a:prstGeom>
          <a:noFill/>
          <a:ln w="7144">
            <a:solidFill>
              <a:srgbClr val="3C3C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0075" y="1272480"/>
            <a:ext cx="71438" cy="71438"/>
          </a:xfrm>
          <a:prstGeom prst="ellipse">
            <a:avLst/>
          </a:prstGeom>
          <a:solidFill>
            <a:srgbClr val="FF5F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28663" y="1272480"/>
            <a:ext cx="71438" cy="71438"/>
          </a:xfrm>
          <a:prstGeom prst="ellipse">
            <a:avLst/>
          </a:prstGeom>
          <a:solidFill>
            <a:srgbClr val="FFB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57250" y="1272480"/>
            <a:ext cx="71438" cy="71438"/>
          </a:xfrm>
          <a:prstGeom prst="ellipse">
            <a:avLst/>
          </a:prstGeom>
          <a:solidFill>
            <a:srgbClr val="27C9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042988" y="1251942"/>
            <a:ext cx="2631691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D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explorer — MiAgenda/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42938" y="1550194"/>
            <a:ext cx="1393366" cy="2334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MiAgenda/</a:t>
            </a:r>
            <a:endParaRPr lang="en-US" sz="8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├──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Pages/</a:t>
            </a:r>
            <a:endParaRPr lang="en-US" sz="8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│   ├──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Index.cshtml</a:t>
            </a:r>
            <a:endParaRPr lang="en-US" sz="8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│   ├──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Index.cshtml.cs</a:t>
            </a:r>
            <a:endParaRPr lang="en-US" sz="8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│   ├──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Privacy.cshtml</a:t>
            </a:r>
            <a:endParaRPr lang="en-US" sz="8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│   └──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Privacy.cshtml.cs</a:t>
            </a:r>
            <a:endParaRPr lang="en-US" sz="8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├──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wwwroot/</a:t>
            </a:r>
            <a:endParaRPr lang="en-US" sz="8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│   ├──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css/</a:t>
            </a:r>
            <a:endParaRPr lang="en-US" sz="8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│   ├──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js/</a:t>
            </a:r>
            <a:endParaRPr lang="en-US" sz="8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│   └──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lib/</a:t>
            </a:r>
            <a:endParaRPr lang="en-US" sz="8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├──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appsettings.json</a:t>
            </a:r>
            <a:endParaRPr lang="en-US" sz="8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├──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Program.cs</a:t>
            </a:r>
            <a:endParaRPr lang="en-US" sz="8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└──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MiAgenda.csproj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906850" y="1212652"/>
            <a:ext cx="2384561" cy="1717179"/>
          </a:xfrm>
          <a:prstGeom prst="roundRect">
            <a:avLst>
              <a:gd name="adj" fmla="val 5547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024722" y="1316236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035437" y="132695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6" dirty="0"/>
          </a:p>
        </p:txBody>
      </p:sp>
      <p:sp>
        <p:nvSpPr>
          <p:cNvPr id="18" name="Text 15"/>
          <p:cNvSpPr/>
          <p:nvPr/>
        </p:nvSpPr>
        <p:spPr>
          <a:xfrm>
            <a:off x="4024722" y="1601986"/>
            <a:ext cx="2148818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-8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Pages/ — Las páginas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551922" y="1775222"/>
            <a:ext cx="346472" cy="114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024722" y="1899456"/>
            <a:ext cx="464344" cy="114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024722" y="2023690"/>
            <a:ext cx="896541" cy="114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058445" y="2023690"/>
            <a:ext cx="425053" cy="114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024722" y="1775222"/>
            <a:ext cx="2148818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Carpeta donde viven TODAS las páginas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078D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.cshtml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y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078D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.cshtml.cs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La ruta del archivo = la URL.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078D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Pages/Contacto.cshtml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078D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/Contacto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384280" y="1212652"/>
            <a:ext cx="2384561" cy="1717179"/>
          </a:xfrm>
          <a:prstGeom prst="roundRect">
            <a:avLst>
              <a:gd name="adj" fmla="val 5547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502152" y="1316236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512868" y="132695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406" dirty="0"/>
          </a:p>
        </p:txBody>
      </p:sp>
      <p:sp>
        <p:nvSpPr>
          <p:cNvPr id="27" name="Text 24"/>
          <p:cNvSpPr/>
          <p:nvPr/>
        </p:nvSpPr>
        <p:spPr>
          <a:xfrm>
            <a:off x="6502152" y="1601986"/>
            <a:ext cx="2258546" cy="145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-8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wwwroot/ — Archivos estáticos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502152" y="1775222"/>
            <a:ext cx="2148818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CSS, JavaScript, imágenes, fuentes. Sirven directamente sin pasar por C#. Aquí pondrás tus estilos personalizados.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906850" y="3022699"/>
            <a:ext cx="2384561" cy="1717179"/>
          </a:xfrm>
          <a:prstGeom prst="roundRect">
            <a:avLst>
              <a:gd name="adj" fmla="val 5547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024722" y="3126284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035437" y="313699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406" dirty="0"/>
          </a:p>
        </p:txBody>
      </p:sp>
      <p:sp>
        <p:nvSpPr>
          <p:cNvPr id="32" name="Text 29"/>
          <p:cNvSpPr/>
          <p:nvPr/>
        </p:nvSpPr>
        <p:spPr>
          <a:xfrm>
            <a:off x="4024722" y="3412034"/>
            <a:ext cx="2258546" cy="145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-8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Program.cs — Configuración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024722" y="3833738"/>
            <a:ext cx="464344" cy="114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024722" y="3585270"/>
            <a:ext cx="2148818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Punto de entrada de la app. Define servicios, middleware y enrutamiento. En .NET 6+ reemplaza al antiguo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078D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Startup.cs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384280" y="3022699"/>
            <a:ext cx="2384561" cy="1717179"/>
          </a:xfrm>
          <a:prstGeom prst="roundRect">
            <a:avLst>
              <a:gd name="adj" fmla="val 5547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502152" y="3126284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6512868" y="313699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406" dirty="0"/>
          </a:p>
        </p:txBody>
      </p:sp>
      <p:sp>
        <p:nvSpPr>
          <p:cNvPr id="38" name="Text 35"/>
          <p:cNvSpPr/>
          <p:nvPr/>
        </p:nvSpPr>
        <p:spPr>
          <a:xfrm>
            <a:off x="6502152" y="3412034"/>
            <a:ext cx="2258546" cy="145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-8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appsettings.json + .csproj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502152" y="3585270"/>
            <a:ext cx="700088" cy="114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7144196" y="3709504"/>
            <a:ext cx="346472" cy="114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502152" y="3585270"/>
            <a:ext cx="2148818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078D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appsettings.json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cadenas de conexión, claves, configuración. El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078D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.csproj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define el SDK, paquetes NuGet y versión de .NET.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/ 50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504" y="388906"/>
            <a:ext cx="481841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400050"/>
            <a:ext cx="4461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PASO 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8629650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b="1" spc="-34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Program.cs: el punto de entrada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021556"/>
            <a:ext cx="3971925" cy="3721894"/>
          </a:xfrm>
          <a:prstGeom prst="roundRect">
            <a:avLst>
              <a:gd name="adj" fmla="val 2559"/>
            </a:avLst>
          </a:prstGeom>
          <a:solidFill>
            <a:srgbClr val="1E1E1E"/>
          </a:solidFill>
          <a:ln/>
          <a:effectLst>
            <a:outerShdw sx="100000" sy="100000" kx="0" ky="0" algn="bl" rotWithShape="0" blurRad="285750" dist="114300" dir="5400000">
              <a:srgbClr val="0078D4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14350" y="1021556"/>
            <a:ext cx="3971925" cy="205383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14350" y="1223367"/>
            <a:ext cx="3971925" cy="0"/>
          </a:xfrm>
          <a:prstGeom prst="line">
            <a:avLst/>
          </a:prstGeom>
          <a:noFill/>
          <a:ln w="7144">
            <a:solidFill>
              <a:srgbClr val="3C3C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0075" y="1084957"/>
            <a:ext cx="71438" cy="71438"/>
          </a:xfrm>
          <a:prstGeom prst="ellipse">
            <a:avLst/>
          </a:prstGeom>
          <a:solidFill>
            <a:srgbClr val="FF5F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28663" y="1084957"/>
            <a:ext cx="71438" cy="71438"/>
          </a:xfrm>
          <a:prstGeom prst="ellipse">
            <a:avLst/>
          </a:prstGeom>
          <a:solidFill>
            <a:srgbClr val="FFB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57250" y="1084957"/>
            <a:ext cx="71438" cy="71438"/>
          </a:xfrm>
          <a:prstGeom prst="ellipse">
            <a:avLst/>
          </a:prstGeom>
          <a:solidFill>
            <a:srgbClr val="27C9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042988" y="1064419"/>
            <a:ext cx="3357563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D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42938" y="1348383"/>
            <a:ext cx="2626444" cy="3395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var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builder =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WebApplication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CreateBuilder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(args);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Registrar servicios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builder.Services.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AddRazorPages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var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app = builder.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Build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Pipeline de middleware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(app.Environment.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IsDevelopment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())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app.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UseDeveloperExceptionPage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else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app.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UseExceptionHandler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"/Error"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app.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UseStaticFiles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app.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UseRouting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app.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UseAuthorization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Mapear páginas Razor a URLs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app.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MapRazorPages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app.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Run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661297" y="1775333"/>
            <a:ext cx="3964781" cy="463562"/>
          </a:xfrm>
          <a:prstGeom prst="roundRect">
            <a:avLst>
              <a:gd name="adj" fmla="val 20547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764881" y="186463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775597" y="1875346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7" name="Text 14"/>
          <p:cNvSpPr/>
          <p:nvPr/>
        </p:nvSpPr>
        <p:spPr>
          <a:xfrm>
            <a:off x="5107781" y="1864630"/>
            <a:ext cx="3414712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AddRazorPages()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107781" y="2025365"/>
            <a:ext cx="3414713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Registra los servicios internos que Razor Pages necesita (model binding, validación, etc.).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4661297" y="2317477"/>
            <a:ext cx="3964781" cy="587797"/>
          </a:xfrm>
          <a:prstGeom prst="roundRect">
            <a:avLst>
              <a:gd name="adj" fmla="val 16205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764881" y="2406774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775597" y="2417490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22" name="Text 19"/>
          <p:cNvSpPr/>
          <p:nvPr/>
        </p:nvSpPr>
        <p:spPr>
          <a:xfrm>
            <a:off x="5107781" y="2406774"/>
            <a:ext cx="3414712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 handling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107781" y="2567508"/>
            <a:ext cx="3414713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 desarrollo muestra errores detallados. En producción redirige a /Error para no filtrar información sensible.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661297" y="2983855"/>
            <a:ext cx="3964781" cy="463562"/>
          </a:xfrm>
          <a:prstGeom prst="roundRect">
            <a:avLst>
              <a:gd name="adj" fmla="val 20547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764881" y="3073152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75597" y="308386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406" dirty="0"/>
          </a:p>
        </p:txBody>
      </p:sp>
      <p:sp>
        <p:nvSpPr>
          <p:cNvPr id="27" name="Text 24"/>
          <p:cNvSpPr/>
          <p:nvPr/>
        </p:nvSpPr>
        <p:spPr>
          <a:xfrm>
            <a:off x="5107781" y="3073152"/>
            <a:ext cx="3414712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UseStaticFiles()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107781" y="3233886"/>
            <a:ext cx="3414713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Activa la carpeta wwwroot/ para servir CSS, JS e imágenes directamente al navegador.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4661297" y="3525999"/>
            <a:ext cx="3964781" cy="463562"/>
          </a:xfrm>
          <a:prstGeom prst="roundRect">
            <a:avLst>
              <a:gd name="adj" fmla="val 20547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64881" y="3615296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775597" y="3626011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32" name="Text 29"/>
          <p:cNvSpPr/>
          <p:nvPr/>
        </p:nvSpPr>
        <p:spPr>
          <a:xfrm>
            <a:off x="5107781" y="3615296"/>
            <a:ext cx="3414712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MapRazorPages()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107781" y="3776030"/>
            <a:ext cx="3414713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Conecta automáticamente URLs con archivos en Pages/. La convención lo hace todo.</a:t>
            </a:r>
            <a:endParaRPr lang="en-US" sz="675" dirty="0"/>
          </a:p>
        </p:txBody>
      </p:sp>
      <p:sp>
        <p:nvSpPr>
          <p:cNvPr id="34" name="Text 31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/ 50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1134137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400050"/>
            <a:ext cx="108841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ARCHIVOS ESPECIALES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8629650" cy="235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575" b="1" spc="-32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_ViewImports y _ViewStart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93438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Dos archivos con nombre reservado que configuran todas las páginas de la carpeta Pages/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196913"/>
            <a:ext cx="3979069" cy="3542965"/>
          </a:xfrm>
          <a:prstGeom prst="roundRect">
            <a:avLst>
              <a:gd name="adj" fmla="val 3226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94" y="1300497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6868" y="132157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1266" dirty="0"/>
          </a:p>
        </p:txBody>
      </p:sp>
      <p:sp>
        <p:nvSpPr>
          <p:cNvPr id="10" name="Text 6"/>
          <p:cNvSpPr/>
          <p:nvPr/>
        </p:nvSpPr>
        <p:spPr>
          <a:xfrm>
            <a:off x="935831" y="1342467"/>
            <a:ext cx="34432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_ViewImports.cshtml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35794" y="1600535"/>
            <a:ext cx="3743325" cy="934045"/>
          </a:xfrm>
          <a:prstGeom prst="roundRect">
            <a:avLst>
              <a:gd name="adj" fmla="val 8158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35794" y="1600535"/>
            <a:ext cx="3743325" cy="185738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635794" y="1782700"/>
            <a:ext cx="3743325" cy="0"/>
          </a:xfrm>
          <a:prstGeom prst="line">
            <a:avLst/>
          </a:prstGeom>
          <a:noFill/>
          <a:ln w="7144">
            <a:solidFill>
              <a:srgbClr val="3C3C3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07231" y="1657685"/>
            <a:ext cx="64294" cy="64294"/>
          </a:xfrm>
          <a:prstGeom prst="ellipse">
            <a:avLst/>
          </a:prstGeom>
          <a:solidFill>
            <a:srgbClr val="FF5F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814388" y="1657685"/>
            <a:ext cx="64294" cy="64294"/>
          </a:xfrm>
          <a:prstGeom prst="ellipse">
            <a:avLst/>
          </a:prstGeom>
          <a:solidFill>
            <a:srgbClr val="FFB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921544" y="1657685"/>
            <a:ext cx="64294" cy="64294"/>
          </a:xfrm>
          <a:prstGeom prst="ellipse">
            <a:avLst/>
          </a:prstGeom>
          <a:solidFill>
            <a:srgbClr val="27C9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1071563" y="1636254"/>
            <a:ext cx="323611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D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_ViewImports.cshtml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735806" y="1893429"/>
            <a:ext cx="2675223" cy="64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@using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MiAgenda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@using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MiAgenda.Data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@namespace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MiAgenda.Pages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@addTagHelper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*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Microsoft.AspNetCore.Mvc.TagHelpers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440024" y="2881052"/>
            <a:ext cx="542925" cy="114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2963763" y="2881052"/>
            <a:ext cx="542925" cy="114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635794" y="2606018"/>
            <a:ext cx="374332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Define directivas que se aplican a </a:t>
            </a:r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TODAS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las páginas de la carpeta (y subcarpetas). Aquí importas namespaces de C#, registras Tag Helpers y estableces el namespace por defecto. Si añades una carpeta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078D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Pages/Admin/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puedes crear su propio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078D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_ViewImports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para añadir using específicos de administración.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647009" y="1196913"/>
            <a:ext cx="3979069" cy="3542965"/>
          </a:xfrm>
          <a:prstGeom prst="roundRect">
            <a:avLst>
              <a:gd name="adj" fmla="val 3226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881" y="1300497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85955" y="132157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266" dirty="0"/>
          </a:p>
        </p:txBody>
      </p:sp>
      <p:sp>
        <p:nvSpPr>
          <p:cNvPr id="25" name="Text 20"/>
          <p:cNvSpPr/>
          <p:nvPr/>
        </p:nvSpPr>
        <p:spPr>
          <a:xfrm>
            <a:off x="5064919" y="1342467"/>
            <a:ext cx="34432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_ViewStart.cshtml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764881" y="1600535"/>
            <a:ext cx="3743325" cy="789831"/>
          </a:xfrm>
          <a:prstGeom prst="roundRect">
            <a:avLst>
              <a:gd name="adj" fmla="val 9648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4764881" y="1600535"/>
            <a:ext cx="3743325" cy="185738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3"/>
          <p:cNvSpPr/>
          <p:nvPr/>
        </p:nvSpPr>
        <p:spPr>
          <a:xfrm>
            <a:off x="4764881" y="1782700"/>
            <a:ext cx="3743325" cy="0"/>
          </a:xfrm>
          <a:prstGeom prst="line">
            <a:avLst/>
          </a:prstGeom>
          <a:noFill/>
          <a:ln w="7144">
            <a:solidFill>
              <a:srgbClr val="3C3C3C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836319" y="1657685"/>
            <a:ext cx="64294" cy="64294"/>
          </a:xfrm>
          <a:prstGeom prst="ellipse">
            <a:avLst/>
          </a:prstGeom>
          <a:solidFill>
            <a:srgbClr val="FF5F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4943475" y="1657685"/>
            <a:ext cx="64294" cy="64294"/>
          </a:xfrm>
          <a:prstGeom prst="ellipse">
            <a:avLst/>
          </a:prstGeom>
          <a:solidFill>
            <a:srgbClr val="FFB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5050631" y="1657685"/>
            <a:ext cx="64294" cy="64294"/>
          </a:xfrm>
          <a:prstGeom prst="ellipse">
            <a:avLst/>
          </a:prstGeom>
          <a:solidFill>
            <a:srgbClr val="27C9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5200650" y="1636254"/>
            <a:ext cx="323611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D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_ViewStart.cshtml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4864894" y="1893429"/>
            <a:ext cx="1183407" cy="49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@{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Layout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=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"_Layout"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4791670" y="2602892"/>
            <a:ext cx="621506" cy="114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4764881" y="2870783"/>
            <a:ext cx="621506" cy="114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4764881" y="2461803"/>
            <a:ext cx="374332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 ejecuta </a:t>
            </a:r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ANTES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que cualquier página. Lo más común es definir aquí el layout común (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078D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_Layout.cshtml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para que todas las páginas compartan la misma estructura HTML (cabecera, navegación, pie de página). Si una página específica no quiere layout, puede sobrescribirlo con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078D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 = null;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en su propio código.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 / 50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1318424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28663" y="435769"/>
            <a:ext cx="986954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PLANTILLA COMPARTIDA</a:t>
            </a:r>
            <a:endParaRPr lang="en-US" sz="675" dirty="0"/>
          </a:p>
        </p:txBody>
      </p:sp>
      <p:sp>
        <p:nvSpPr>
          <p:cNvPr id="5" name="Text 2"/>
          <p:cNvSpPr/>
          <p:nvPr/>
        </p:nvSpPr>
        <p:spPr>
          <a:xfrm>
            <a:off x="585788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5A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514350" y="671513"/>
            <a:ext cx="8629650" cy="294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 layout compartido (</a:t>
            </a:r>
            <a:pPr algn="l" indent="0" marL="0">
              <a:lnSpc>
                <a:spcPts val="2199"/>
              </a:lnSpc>
              <a:buNone/>
            </a:pPr>
            <a:r>
              <a:rPr lang="en-US" sz="1913" b="1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_Layout.cshtml</a:t>
            </a:r>
            <a:pPr algn="l" indent="0" marL="0">
              <a:lnSpc>
                <a:spcPts val="2199"/>
              </a:lnSpc>
              <a:buNone/>
            </a:pPr>
            <a:r>
              <a:rPr lang="en-US" sz="1913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1913" dirty="0"/>
          </a:p>
        </p:txBody>
      </p:sp>
      <p:sp>
        <p:nvSpPr>
          <p:cNvPr id="7" name="Text 4"/>
          <p:cNvSpPr/>
          <p:nvPr/>
        </p:nvSpPr>
        <p:spPr>
          <a:xfrm>
            <a:off x="514350" y="993651"/>
            <a:ext cx="657225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Una sola plantilla HTML envuelve a todas tus páginas — evita repetir cabeceras y pies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14350" y="131512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B71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685800" y="1307976"/>
            <a:ext cx="44909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PAGES/SHARED/_LAYOUT.CSHTML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4350" y="1493713"/>
            <a:ext cx="4662413" cy="3566406"/>
          </a:xfrm>
          <a:prstGeom prst="roundRect">
            <a:avLst>
              <a:gd name="adj" fmla="val 2671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71513" y="1629445"/>
            <a:ext cx="2277070" cy="3302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"es"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charset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"utf-8"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@ViewData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- Mi Agenda&lt;/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"stylesheet"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"~/css/site.css"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"/"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&gt;Inicio&lt;/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"/Contactos"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&gt;Contactos&lt;/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"/Tareas"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&gt;Tareas&lt;/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@RenderBody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&amp;copy; 2026 - Mi Agenda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351785" y="1311548"/>
            <a:ext cx="3274182" cy="750987"/>
          </a:xfrm>
          <a:prstGeom prst="roundRect">
            <a:avLst>
              <a:gd name="adj" fmla="val 15220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526807" y="1457995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551810" y="148299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15" name="Text 12"/>
          <p:cNvSpPr/>
          <p:nvPr/>
        </p:nvSpPr>
        <p:spPr>
          <a:xfrm>
            <a:off x="5869707" y="1457995"/>
            <a:ext cx="258123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@RenderBody()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869707" y="1636588"/>
            <a:ext cx="2581238" cy="279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Marcador donde se inserta el contenido de cada página. Es lo único obligatorio en un layout.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351785" y="2169691"/>
            <a:ext cx="3274182" cy="890736"/>
          </a:xfrm>
          <a:prstGeom prst="roundRect">
            <a:avLst>
              <a:gd name="adj" fmla="val 12832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526807" y="2316138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551810" y="2341141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0" name="Text 17"/>
          <p:cNvSpPr/>
          <p:nvPr/>
        </p:nvSpPr>
        <p:spPr>
          <a:xfrm>
            <a:off x="5869707" y="2316138"/>
            <a:ext cx="258123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@ViewData["Title"]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869707" y="2501875"/>
            <a:ext cx="1987637" cy="268337"/>
          </a:xfrm>
          <a:prstGeom prst="roundRect">
            <a:avLst>
              <a:gd name="adj" fmla="val 10649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869707" y="2494731"/>
            <a:ext cx="2581238" cy="419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Cada página puede establecer su título así: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2474F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@{ ViewData["Title"] = "Contactos"; }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en la primera línea del .cshtml.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351785" y="3167583"/>
            <a:ext cx="3274182" cy="890736"/>
          </a:xfrm>
          <a:prstGeom prst="roundRect">
            <a:avLst>
              <a:gd name="adj" fmla="val 12832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526807" y="3314030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551810" y="333903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406" dirty="0"/>
          </a:p>
        </p:txBody>
      </p:sp>
      <p:sp>
        <p:nvSpPr>
          <p:cNvPr id="26" name="Text 23"/>
          <p:cNvSpPr/>
          <p:nvPr/>
        </p:nvSpPr>
        <p:spPr>
          <a:xfrm>
            <a:off x="5869707" y="3314030"/>
            <a:ext cx="258123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Reutilización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869707" y="3492624"/>
            <a:ext cx="2581238" cy="419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Cualquier cambio en _Layout.cshtml se refleja en </a:t>
            </a:r>
            <a:pPr algn="l" indent="0" marL="0">
              <a:lnSpc>
                <a:spcPts val="1101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TODAS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las páginas. Cambia el menú una vez y se actualiza en todas partes.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 / 50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634745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94345" y="435769"/>
            <a:ext cx="371909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A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PASO 4</a:t>
            </a:r>
            <a:endParaRPr lang="en-US" sz="675" dirty="0"/>
          </a:p>
        </p:txBody>
      </p:sp>
      <p:sp>
        <p:nvSpPr>
          <p:cNvPr id="5" name="Text 2"/>
          <p:cNvSpPr/>
          <p:nvPr/>
        </p:nvSpPr>
        <p:spPr>
          <a:xfrm>
            <a:off x="585788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5A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514350" y="671513"/>
            <a:ext cx="8521065" cy="2947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Navegación entre páginas</a:t>
            </a:r>
            <a:endParaRPr lang="en-US" sz="1913" dirty="0"/>
          </a:p>
        </p:txBody>
      </p:sp>
      <p:sp>
        <p:nvSpPr>
          <p:cNvPr id="7" name="Text 4"/>
          <p:cNvSpPr/>
          <p:nvPr/>
        </p:nvSpPr>
        <p:spPr>
          <a:xfrm>
            <a:off x="514350" y="993651"/>
            <a:ext cx="657225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Dos formas de crear enlaces: HTML tradicional o Tag Helper tipado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14350" y="1279401"/>
            <a:ext cx="9552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1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HTML TRADICIONAL</a:t>
            </a:r>
            <a:endParaRPr lang="en-US" sz="619" dirty="0"/>
          </a:p>
        </p:txBody>
      </p:sp>
      <p:sp>
        <p:nvSpPr>
          <p:cNvPr id="9" name="Text 6"/>
          <p:cNvSpPr/>
          <p:nvPr/>
        </p:nvSpPr>
        <p:spPr>
          <a:xfrm>
            <a:off x="1285742" y="1279401"/>
            <a:ext cx="4809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sencillo</a:t>
            </a:r>
            <a:endParaRPr lang="en-US" sz="619" dirty="0"/>
          </a:p>
        </p:txBody>
      </p:sp>
      <p:sp>
        <p:nvSpPr>
          <p:cNvPr id="10" name="Text 7"/>
          <p:cNvSpPr/>
          <p:nvPr/>
        </p:nvSpPr>
        <p:spPr>
          <a:xfrm>
            <a:off x="5088694" y="128833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B71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11" name="Text 8"/>
          <p:cNvSpPr/>
          <p:nvPr/>
        </p:nvSpPr>
        <p:spPr>
          <a:xfrm>
            <a:off x="514350" y="1440135"/>
            <a:ext cx="4674357" cy="487784"/>
          </a:xfrm>
          <a:prstGeom prst="roundRect">
            <a:avLst>
              <a:gd name="adj" fmla="val 1952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42938" y="1547292"/>
            <a:ext cx="1975024" cy="280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"/Contactos"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&gt;Ver contactos&lt;/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"/Contactos/Crear"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&gt;Añadir contacto&lt;/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14350" y="2013645"/>
            <a:ext cx="11242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1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TAG HELPER ASP-PAGE</a:t>
            </a:r>
            <a:endParaRPr lang="en-US" sz="619" dirty="0"/>
          </a:p>
        </p:txBody>
      </p:sp>
      <p:sp>
        <p:nvSpPr>
          <p:cNvPr id="14" name="Text 11"/>
          <p:cNvSpPr/>
          <p:nvPr/>
        </p:nvSpPr>
        <p:spPr>
          <a:xfrm>
            <a:off x="1443930" y="2013645"/>
            <a:ext cx="6660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107C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recomendado</a:t>
            </a:r>
            <a:endParaRPr lang="en-US" sz="619" dirty="0"/>
          </a:p>
        </p:txBody>
      </p:sp>
      <p:sp>
        <p:nvSpPr>
          <p:cNvPr id="15" name="Text 12"/>
          <p:cNvSpPr/>
          <p:nvPr/>
        </p:nvSpPr>
        <p:spPr>
          <a:xfrm>
            <a:off x="5088694" y="202257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16" name="Text 13"/>
          <p:cNvSpPr/>
          <p:nvPr/>
        </p:nvSpPr>
        <p:spPr>
          <a:xfrm>
            <a:off x="514350" y="2174379"/>
            <a:ext cx="4674357" cy="2569071"/>
          </a:xfrm>
          <a:prstGeom prst="roundRect">
            <a:avLst>
              <a:gd name="adj" fmla="val 3708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42938" y="2281535"/>
            <a:ext cx="2014538" cy="1619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asp-page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"/Contactos"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asp-route-id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Ver contacto 5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asp-page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"/Contactos"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asp-page-handler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"Eliminar"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"hidden"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&gt;Borrar&lt;/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335153" y="1282973"/>
            <a:ext cx="3290925" cy="688925"/>
          </a:xfrm>
          <a:prstGeom prst="roundRect">
            <a:avLst>
              <a:gd name="adj" fmla="val 16591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467313" y="1400845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496245" y="142977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21" name="Text 18"/>
          <p:cNvSpPr/>
          <p:nvPr/>
        </p:nvSpPr>
        <p:spPr>
          <a:xfrm>
            <a:off x="5838788" y="1400845"/>
            <a:ext cx="2655131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Tipado seguro</a:t>
            </a:r>
            <a:endParaRPr lang="en-US" sz="816" dirty="0"/>
          </a:p>
        </p:txBody>
      </p:sp>
      <p:sp>
        <p:nvSpPr>
          <p:cNvPr id="22" name="Text 19"/>
          <p:cNvSpPr/>
          <p:nvPr/>
        </p:nvSpPr>
        <p:spPr>
          <a:xfrm>
            <a:off x="5838788" y="1584796"/>
            <a:ext cx="414338" cy="128588"/>
          </a:xfrm>
          <a:prstGeom prst="roundRect">
            <a:avLst>
              <a:gd name="adj" fmla="val 22222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838788" y="1584796"/>
            <a:ext cx="265513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asp-page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verifica que la página existe al compilar. Si renombras Contactos.cshtml, el compilador avisa de los enlaces rotos.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35153" y="2064767"/>
            <a:ext cx="3290925" cy="678210"/>
          </a:xfrm>
          <a:prstGeom prst="roundRect">
            <a:avLst>
              <a:gd name="adj" fmla="val 16853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467313" y="218263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496245" y="221157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547" dirty="0"/>
          </a:p>
        </p:txBody>
      </p:sp>
      <p:sp>
        <p:nvSpPr>
          <p:cNvPr id="27" name="Text 24"/>
          <p:cNvSpPr/>
          <p:nvPr/>
        </p:nvSpPr>
        <p:spPr>
          <a:xfrm>
            <a:off x="5838788" y="2182639"/>
            <a:ext cx="2655131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asp-route-*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838788" y="2490490"/>
            <a:ext cx="885825" cy="128588"/>
          </a:xfrm>
          <a:prstGeom prst="roundRect">
            <a:avLst>
              <a:gd name="adj" fmla="val 22222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7197551" y="2490490"/>
            <a:ext cx="757238" cy="128588"/>
          </a:xfrm>
          <a:prstGeom prst="roundRect">
            <a:avLst>
              <a:gd name="adj" fmla="val 22222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838788" y="2355875"/>
            <a:ext cx="265513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 automáticamente la URL con parámetros: 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highlight>
                  <a:srgbClr val="F8F9FB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/Contactos/Editar/5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 partir de 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highlight>
                  <a:srgbClr val="F8F9FB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asp-route-id="5"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335153" y="2835846"/>
            <a:ext cx="3290925" cy="678210"/>
          </a:xfrm>
          <a:prstGeom prst="roundRect">
            <a:avLst>
              <a:gd name="adj" fmla="val 16853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467313" y="2953717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E1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496245" y="298265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B5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34" name="Text 31"/>
          <p:cNvSpPr/>
          <p:nvPr/>
        </p:nvSpPr>
        <p:spPr>
          <a:xfrm>
            <a:off x="5838788" y="2953717"/>
            <a:ext cx="2655131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asp-page-handler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838788" y="3126953"/>
            <a:ext cx="2389361" cy="263203"/>
          </a:xfrm>
          <a:prstGeom prst="roundRect">
            <a:avLst>
              <a:gd name="adj" fmla="val 10857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996633" y="3261568"/>
            <a:ext cx="757238" cy="128588"/>
          </a:xfrm>
          <a:prstGeom prst="roundRect">
            <a:avLst>
              <a:gd name="adj" fmla="val 22222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5838788" y="3126953"/>
            <a:ext cx="265513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Apunta a un método específico del Page Model: 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asp-page-handler="Eliminar"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ejecuta 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OnPostEliminar()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 / 50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634745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94345" y="435769"/>
            <a:ext cx="371909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A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PASO 5</a:t>
            </a:r>
            <a:endParaRPr lang="en-US" sz="675" dirty="0"/>
          </a:p>
        </p:txBody>
      </p:sp>
      <p:sp>
        <p:nvSpPr>
          <p:cNvPr id="5" name="Text 2"/>
          <p:cNvSpPr/>
          <p:nvPr/>
        </p:nvSpPr>
        <p:spPr>
          <a:xfrm>
            <a:off x="585788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5A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514350" y="671513"/>
            <a:ext cx="8521065" cy="30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Ejecutar la aplicación</a:t>
            </a:r>
            <a:endParaRPr lang="en-US" sz="1913" dirty="0"/>
          </a:p>
        </p:txBody>
      </p:sp>
      <p:sp>
        <p:nvSpPr>
          <p:cNvPr id="7" name="Text 4"/>
          <p:cNvSpPr/>
          <p:nvPr/>
        </p:nvSpPr>
        <p:spPr>
          <a:xfrm>
            <a:off x="514350" y="1065088"/>
            <a:ext cx="45600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COMANDOS CLI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88694" y="107401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B71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9" name="Text 6"/>
          <p:cNvSpPr/>
          <p:nvPr/>
        </p:nvSpPr>
        <p:spPr>
          <a:xfrm>
            <a:off x="514350" y="1225823"/>
            <a:ext cx="4674357" cy="1782700"/>
          </a:xfrm>
          <a:prstGeom prst="roundRect">
            <a:avLst>
              <a:gd name="adj" fmla="val 5343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42938" y="1332979"/>
            <a:ext cx="2098477" cy="1575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Ejecutar en modo desarrollo (recarga cambios)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con watch (hot reload — recarga al guardar)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Compilar sin ejecutar (verificar errores)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Publicar para producción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-c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14350" y="3094248"/>
            <a:ext cx="45600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SALIDA TÍPICA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088694" y="310317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7C1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984" dirty="0"/>
          </a:p>
        </p:txBody>
      </p:sp>
      <p:sp>
        <p:nvSpPr>
          <p:cNvPr id="13" name="Text 10"/>
          <p:cNvSpPr/>
          <p:nvPr/>
        </p:nvSpPr>
        <p:spPr>
          <a:xfrm>
            <a:off x="517922" y="3258555"/>
            <a:ext cx="4667213" cy="435769"/>
          </a:xfrm>
          <a:prstGeom prst="roundRect">
            <a:avLst>
              <a:gd name="adj" fmla="val 21858"/>
            </a:avLst>
          </a:prstGeom>
          <a:solidFill>
            <a:srgbClr val="0C0C0C"/>
          </a:solidFill>
          <a:ln w="7144">
            <a:solidFill>
              <a:srgbClr val="2D2D2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35662" y="3354995"/>
            <a:ext cx="33887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info: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92969" y="3354995"/>
            <a:ext cx="138874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D4D4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Microsoft.Hosting.Lifetime[14]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678656" y="3483583"/>
            <a:ext cx="85399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listening on: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1450181" y="3483583"/>
            <a:ext cx="105493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EC9B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http://localhost:5000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5331582" y="1065088"/>
            <a:ext cx="35619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PROBLEMAS COMUNES Y SOLUCIONES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331582" y="1268685"/>
            <a:ext cx="3298068" cy="796751"/>
          </a:xfrm>
          <a:prstGeom prst="roundRect">
            <a:avLst>
              <a:gd name="adj" fmla="val 14346"/>
            </a:avLst>
          </a:prstGeom>
          <a:solidFill>
            <a:srgbClr val="F3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5331582" y="1272257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26078" y="1268685"/>
            <a:ext cx="0" cy="796751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331582" y="2061865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45869" y="1268685"/>
            <a:ext cx="0" cy="796751"/>
          </a:xfrm>
          <a:prstGeom prst="line">
            <a:avLst/>
          </a:prstGeom>
          <a:noFill/>
          <a:ln w="28575">
            <a:solidFill>
              <a:srgbClr val="FFA5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8744" y="1375842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FFF4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513747" y="1400845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A5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26" name="Text 23"/>
          <p:cNvSpPr/>
          <p:nvPr/>
        </p:nvSpPr>
        <p:spPr>
          <a:xfrm>
            <a:off x="5831644" y="1375842"/>
            <a:ext cx="2662275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Puerto en uso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831644" y="1554435"/>
            <a:ext cx="2662275" cy="40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 el puerto 5000 está ocupado, ASP.NET Core usa automáticamente otro (5001, 5002). Mira el mensaje en la terminal.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331582" y="2151162"/>
            <a:ext cx="3298068" cy="662136"/>
          </a:xfrm>
          <a:prstGeom prst="roundRect">
            <a:avLst>
              <a:gd name="adj" fmla="val 17262"/>
            </a:avLst>
          </a:prstGeom>
          <a:solidFill>
            <a:srgbClr val="F3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5331582" y="2154734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626078" y="2151162"/>
            <a:ext cx="0" cy="662136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331582" y="2809726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345869" y="2151162"/>
            <a:ext cx="0" cy="662136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88744" y="2258318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513747" y="2283321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406" dirty="0"/>
          </a:p>
        </p:txBody>
      </p:sp>
      <p:sp>
        <p:nvSpPr>
          <p:cNvPr id="35" name="Text 32"/>
          <p:cNvSpPr/>
          <p:nvPr/>
        </p:nvSpPr>
        <p:spPr>
          <a:xfrm>
            <a:off x="5831644" y="2258318"/>
            <a:ext cx="2662275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Cambios no se reflejan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017270" y="2436912"/>
            <a:ext cx="757238" cy="128588"/>
          </a:xfrm>
          <a:prstGeom prst="roundRect">
            <a:avLst>
              <a:gd name="adj" fmla="val 22222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5831644" y="2571527"/>
            <a:ext cx="328613" cy="128588"/>
          </a:xfrm>
          <a:prstGeom prst="roundRect">
            <a:avLst>
              <a:gd name="adj" fmla="val 22222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967054" y="2571527"/>
            <a:ext cx="500063" cy="128588"/>
          </a:xfrm>
          <a:prstGeom prst="roundRect">
            <a:avLst>
              <a:gd name="adj" fmla="val 22222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831644" y="2436912"/>
            <a:ext cx="266227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Usa 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watch run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para hot reload. Si no, detén con 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Ctrl+C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y vuelve a ejecutar 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run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331582" y="2899023"/>
            <a:ext cx="3298068" cy="796751"/>
          </a:xfrm>
          <a:prstGeom prst="roundRect">
            <a:avLst>
              <a:gd name="adj" fmla="val 14346"/>
            </a:avLst>
          </a:prstGeom>
          <a:solidFill>
            <a:srgbClr val="F3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8"/>
          <p:cNvSpPr/>
          <p:nvPr/>
        </p:nvSpPr>
        <p:spPr>
          <a:xfrm>
            <a:off x="5331582" y="2902595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626078" y="2899023"/>
            <a:ext cx="0" cy="796751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331582" y="3692203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345869" y="2899023"/>
            <a:ext cx="0" cy="796751"/>
          </a:xfrm>
          <a:prstGeom prst="line">
            <a:avLst/>
          </a:prstGeom>
          <a:noFill/>
          <a:ln w="28575">
            <a:solidFill>
              <a:srgbClr val="D1343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488744" y="3006179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FDE7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5513747" y="303118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134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47" name="Text 44"/>
          <p:cNvSpPr/>
          <p:nvPr/>
        </p:nvSpPr>
        <p:spPr>
          <a:xfrm>
            <a:off x="5831644" y="3006179"/>
            <a:ext cx="2772003" cy="151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Pantalla de error amarilla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831644" y="3184773"/>
            <a:ext cx="2662275" cy="40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 desarrollo, ASP.NET muestra errores detallados. Lee la primera línea del stack trace: suele indicar el archivo y la línea exactas.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 / 50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99025" y="285750"/>
            <a:ext cx="4144975" cy="2098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0"/>
              </a:lnSpc>
              <a:buNone/>
            </a:pPr>
            <a:r>
              <a:rPr lang="en-US" sz="18000" b="1" spc="-1080" kern="0" dirty="0">
                <a:solidFill>
                  <a:srgbClr val="F3F6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8000" dirty="0"/>
          </a:p>
        </p:txBody>
      </p:sp>
      <p:pic>
        <p:nvPicPr>
          <p:cNvPr id="4" name="Image 1" descr="/tmp/h2p-svg-1784179540771-lwc3jh.png">    </p:cNvPr>
          <p:cNvPicPr>
            <a:picLocks noChangeAspect="1"/>
          </p:cNvPicPr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6572250" y="2571750"/>
            <a:ext cx="2571750" cy="2571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8700" y="1243013"/>
            <a:ext cx="633843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CAPÍTULO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857250" y="124301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5A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7" name="Text 3"/>
          <p:cNvSpPr/>
          <p:nvPr/>
        </p:nvSpPr>
        <p:spPr>
          <a:xfrm>
            <a:off x="857250" y="1443038"/>
            <a:ext cx="8286750" cy="848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88"/>
              </a:lnSpc>
              <a:buNone/>
            </a:pPr>
            <a:r>
              <a:rPr lang="en-US" sz="6188" b="1" spc="-186" kern="0" dirty="0">
                <a:solidFill>
                  <a:srgbClr val="00BCF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</a:t>
            </a:r>
            <a:pPr algn="l" indent="0" marL="0">
              <a:lnSpc>
                <a:spcPts val="6188"/>
              </a:lnSpc>
              <a:buNone/>
            </a:pPr>
            <a:r>
              <a:rPr lang="en-US" sz="2700" b="1" spc="-186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06</a:t>
            </a:r>
            <a:endParaRPr lang="en-US" sz="6188" dirty="0"/>
          </a:p>
        </p:txBody>
      </p:sp>
      <p:sp>
        <p:nvSpPr>
          <p:cNvPr id="8" name="Text 4"/>
          <p:cNvSpPr/>
          <p:nvPr/>
        </p:nvSpPr>
        <p:spPr>
          <a:xfrm>
            <a:off x="857250" y="2386013"/>
            <a:ext cx="628650" cy="28575"/>
          </a:xfrm>
          <a:prstGeom prst="roundRect">
            <a:avLst>
              <a:gd name="adj" fmla="val 66667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857250" y="2571750"/>
            <a:ext cx="7800975" cy="475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b="1" spc="-63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Sintaxis Razor</a:t>
            </a:r>
            <a:endParaRPr lang="en-US" sz="3150" dirty="0"/>
          </a:p>
        </p:txBody>
      </p:sp>
      <p:sp>
        <p:nvSpPr>
          <p:cNvPr id="10" name="Text 6"/>
          <p:cNvSpPr/>
          <p:nvPr/>
        </p:nvSpPr>
        <p:spPr>
          <a:xfrm>
            <a:off x="857250" y="3154635"/>
            <a:ext cx="4572000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Aprende a combinar HTML y C# en el mismo archivo con la sintaxis </a:t>
            </a:r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expresiones en línea, bloques de código y directivas.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857250" y="4729163"/>
            <a:ext cx="228600" cy="14288"/>
          </a:xfrm>
          <a:prstGeom prst="rect">
            <a:avLst/>
          </a:prstGeom>
          <a:solidFill>
            <a:srgbClr val="00B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157288" y="4672013"/>
            <a:ext cx="16917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81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RAZOR PAGES EN ASP.NET CORE</a:t>
            </a:r>
            <a:endParaRPr lang="en-US" sz="6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773490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83805" y="435769"/>
            <a:ext cx="53173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CONCEPTO</a:t>
            </a:r>
            <a:endParaRPr lang="en-US" sz="675" dirty="0"/>
          </a:p>
        </p:txBody>
      </p:sp>
      <p:sp>
        <p:nvSpPr>
          <p:cNvPr id="5" name="Text 2"/>
          <p:cNvSpPr/>
          <p:nvPr/>
        </p:nvSpPr>
        <p:spPr>
          <a:xfrm>
            <a:off x="585788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5A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514350" y="671513"/>
            <a:ext cx="8629650" cy="294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¿Qué es Razor? La sintaxis </a:t>
            </a:r>
            <a:pPr algn="l" indent="0" marL="0">
              <a:lnSpc>
                <a:spcPts val="2199"/>
              </a:lnSpc>
              <a:buNone/>
            </a:pPr>
            <a:r>
              <a:rPr lang="en-US" sz="1913" b="1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endParaRPr lang="en-US" sz="1913" dirty="0"/>
          </a:p>
        </p:txBody>
      </p:sp>
      <p:sp>
        <p:nvSpPr>
          <p:cNvPr id="7" name="Text 4"/>
          <p:cNvSpPr/>
          <p:nvPr/>
        </p:nvSpPr>
        <p:spPr>
          <a:xfrm>
            <a:off x="514350" y="993651"/>
            <a:ext cx="657225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Razor es el motor de plantillas que mezcla HTML y C# usando el símbolo @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14350" y="1279401"/>
            <a:ext cx="3971925" cy="520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Razor te permite escribir código C# directamente dentro del HTML. El símbolo </a:t>
            </a:r>
            <a:pPr algn="l" indent="0" marL="0">
              <a:lnSpc>
                <a:spcPts val="1264"/>
              </a:lnSpc>
              <a:buNone/>
            </a:pPr>
            <a:r>
              <a:rPr lang="en-US" sz="816" b="1" dirty="0">
                <a:solidFill>
                  <a:srgbClr val="0078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marca la transición de HTML a C#: cuando Razor ve una </a:t>
            </a:r>
            <a:pPr algn="l" indent="0" marL="0">
              <a:lnSpc>
                <a:spcPts val="1264"/>
              </a:lnSpc>
              <a:buNone/>
            </a:pPr>
            <a:r>
              <a:rPr lang="en-US" sz="816" b="1" dirty="0">
                <a:solidFill>
                  <a:srgbClr val="0078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interpreta lo que sigue como código C# y lo evalúa.</a:t>
            </a:r>
            <a:endParaRPr lang="en-US" sz="816" dirty="0"/>
          </a:p>
        </p:txBody>
      </p:sp>
      <p:sp>
        <p:nvSpPr>
          <p:cNvPr id="9" name="Text 6"/>
          <p:cNvSpPr/>
          <p:nvPr/>
        </p:nvSpPr>
        <p:spPr>
          <a:xfrm>
            <a:off x="514350" y="1860947"/>
            <a:ext cx="3971925" cy="520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 más compacto y legible que otras alternativas como PHP o los Web Forms clásicos. No reemplaza a HTML: lo extiende. El resultado final siempre es HTML que el navegador puede procesar.</a:t>
            </a:r>
            <a:endParaRPr lang="en-US" sz="816" dirty="0"/>
          </a:p>
        </p:txBody>
      </p:sp>
      <p:sp>
        <p:nvSpPr>
          <p:cNvPr id="10" name="Text 7"/>
          <p:cNvSpPr/>
          <p:nvPr/>
        </p:nvSpPr>
        <p:spPr>
          <a:xfrm>
            <a:off x="514350" y="2485355"/>
            <a:ext cx="3971925" cy="685800"/>
          </a:xfrm>
          <a:prstGeom prst="roundRect">
            <a:avLst>
              <a:gd name="adj" fmla="val 13889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528638" y="2485355"/>
            <a:ext cx="0" cy="685800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599655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547" dirty="0"/>
          </a:p>
        </p:txBody>
      </p:sp>
      <p:sp>
        <p:nvSpPr>
          <p:cNvPr id="13" name="Text 10"/>
          <p:cNvSpPr/>
          <p:nvPr/>
        </p:nvSpPr>
        <p:spPr>
          <a:xfrm>
            <a:off x="928688" y="2599655"/>
            <a:ext cx="3414713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REGLA DE ORO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23355" y="2774677"/>
            <a:ext cx="116086" cy="128588"/>
          </a:xfrm>
          <a:prstGeom prst="roundRect">
            <a:avLst>
              <a:gd name="adj" fmla="val 24615"/>
            </a:avLst>
          </a:prstGeom>
          <a:solidFill>
            <a:srgbClr val="0078D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465723" y="2774677"/>
            <a:ext cx="428625" cy="128588"/>
          </a:xfrm>
          <a:prstGeom prst="roundRect">
            <a:avLst>
              <a:gd name="adj" fmla="val 22222"/>
            </a:avLst>
          </a:prstGeom>
          <a:solidFill>
            <a:srgbClr val="0078D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928688" y="2767533"/>
            <a:ext cx="3414713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Una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0078D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simple inserta el valor de una expresión. Un bloque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0078D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@{ ... }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ejecuta varias sentencias sin imprimir nada.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657725" y="1279401"/>
            <a:ext cx="38576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EJEMPLOS.CSHTML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529638" y="128833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B71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19" name="Text 16"/>
          <p:cNvSpPr/>
          <p:nvPr/>
        </p:nvSpPr>
        <p:spPr>
          <a:xfrm>
            <a:off x="4657725" y="1440135"/>
            <a:ext cx="3971925" cy="1861282"/>
          </a:xfrm>
          <a:prstGeom prst="roundRect">
            <a:avLst>
              <a:gd name="adj" fmla="val 511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786313" y="1554435"/>
            <a:ext cx="2232422" cy="1646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Expresión simple --&gt;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h1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&gt;Hola,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@nombre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!&lt;/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h1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Propiedad del modelo --&gt;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&gt;Tienes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@Model.Contactos.Count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contactos.&lt;/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Llamada a método --&gt;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&gt;Fecha: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@DateTime.Now.ToString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"dd/MM/yyyy"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)&lt;/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Operación --&gt;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&gt;Total: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@(precio * cantidad)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€&lt;/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657725" y="3387142"/>
            <a:ext cx="3971925" cy="453628"/>
          </a:xfrm>
          <a:prstGeom prst="roundRect">
            <a:avLst>
              <a:gd name="adj" fmla="val 25197"/>
            </a:avLst>
          </a:prstGeom>
          <a:solidFill>
            <a:srgbClr val="E1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657725" y="3390714"/>
            <a:ext cx="3971925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26078" y="3387142"/>
            <a:ext cx="0" cy="453628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57725" y="3837198"/>
            <a:ext cx="3971925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72013" y="3387142"/>
            <a:ext cx="0" cy="453628"/>
          </a:xfrm>
          <a:prstGeom prst="line">
            <a:avLst/>
          </a:prstGeom>
          <a:noFill/>
          <a:ln w="28575">
            <a:solidFill>
              <a:srgbClr val="00BCF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00600" y="34871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B5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728283" y="3480011"/>
            <a:ext cx="928688" cy="128588"/>
          </a:xfrm>
          <a:prstGeom prst="roundRect">
            <a:avLst>
              <a:gd name="adj" fmla="val 22222"/>
            </a:avLst>
          </a:prstGeom>
          <a:solidFill>
            <a:srgbClr val="0B5A7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813785" y="3613956"/>
            <a:ext cx="371475" cy="128588"/>
          </a:xfrm>
          <a:prstGeom prst="roundRect">
            <a:avLst>
              <a:gd name="adj" fmla="val 22222"/>
            </a:avLst>
          </a:prstGeom>
          <a:solidFill>
            <a:srgbClr val="0B5A7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565218" y="3613956"/>
            <a:ext cx="500063" cy="128588"/>
          </a:xfrm>
          <a:prstGeom prst="roundRect">
            <a:avLst>
              <a:gd name="adj" fmla="val 22222"/>
            </a:avLst>
          </a:prstGeom>
          <a:solidFill>
            <a:srgbClr val="0B5A7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000625" y="3480011"/>
            <a:ext cx="3507581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B5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Los paréntesis en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B5A7A"/>
                </a:solidFill>
                <a:highlight>
                  <a:srgbClr val="0B5A7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@(precio * cantidad)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B5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delimitan la expresión completa. Sin ellos, Razor solo evaluaría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B5A7A"/>
                </a:solidFill>
                <a:highlight>
                  <a:srgbClr val="0B5A7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@precio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B5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y dejaría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B5A7A"/>
                </a:solidFill>
                <a:highlight>
                  <a:srgbClr val="0B5A7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cantidad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B5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como texto.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 / 50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703168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8644" y="435769"/>
            <a:ext cx="53173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SINTAXIS</a:t>
            </a:r>
            <a:endParaRPr lang="en-US" sz="675" dirty="0"/>
          </a:p>
        </p:txBody>
      </p:sp>
      <p:sp>
        <p:nvSpPr>
          <p:cNvPr id="5" name="Text 2"/>
          <p:cNvSpPr/>
          <p:nvPr/>
        </p:nvSpPr>
        <p:spPr>
          <a:xfrm>
            <a:off x="585788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5A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514350" y="671513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Expresiones en línea y bloques de código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14350" y="1048680"/>
            <a:ext cx="3986213" cy="242888"/>
          </a:xfrm>
          <a:prstGeom prst="roundRect">
            <a:avLst>
              <a:gd name="adj" fmla="val 31372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85813" y="1112974"/>
            <a:ext cx="1342467" cy="146304"/>
          </a:xfrm>
          <a:prstGeom prst="rect">
            <a:avLst/>
          </a:prstGeom>
          <a:noFill/>
          <a:ln/>
        </p:spPr>
        <p:txBody>
          <a:bodyPr wrap="none" lIns="100013" tIns="57150" rIns="100013" bIns="5715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Expresiones en línea — una sola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614363" y="111297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5A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2185429" y="1105830"/>
            <a:ext cx="221512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7" kern="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14350" y="1291568"/>
            <a:ext cx="3986213" cy="2778584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71513" y="1434443"/>
            <a:ext cx="2012752" cy="205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@*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Comentario Razor — no sale en el HTML final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*@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&gt;Usuario: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@User.Identity.Name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&gt;Precio: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@producto.Precio.ToString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&gt;Con IVA: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@(precio * 1.21)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€&lt;/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@if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(esMayorEdad) 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"badge"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&gt;Adulto&lt;/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17922" y="4159448"/>
            <a:ext cx="3979069" cy="580430"/>
          </a:xfrm>
          <a:prstGeom prst="roundRect">
            <a:avLst>
              <a:gd name="adj" fmla="val 19692"/>
            </a:avLst>
          </a:prstGeom>
          <a:solidFill>
            <a:srgbClr val="F8F9FB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006822" y="4248745"/>
            <a:ext cx="114300" cy="1285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35794" y="4248745"/>
            <a:ext cx="3743325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Una sola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evalúa </a:t>
            </a:r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UNA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expresión y la imprime en el HTML. Úsalas para valores cortos: propiedades, llamadas a métodos, operaciones aritméticas. Si la expresión tiene operadores, envuélvela en paréntesis.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643438" y="1048680"/>
            <a:ext cx="3986213" cy="242888"/>
          </a:xfrm>
          <a:prstGeom prst="roundRect">
            <a:avLst>
              <a:gd name="adj" fmla="val 31372"/>
            </a:avLst>
          </a:prstGeom>
          <a:solidFill>
            <a:srgbClr val="E1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914900" y="1112974"/>
            <a:ext cx="86651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spc="27" kern="0" dirty="0">
                <a:solidFill>
                  <a:srgbClr val="0B5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Bloques de código —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4743450" y="111297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B5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5838565" y="1105830"/>
            <a:ext cx="269107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7" kern="0" dirty="0">
                <a:solidFill>
                  <a:srgbClr val="0B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@{ ... }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643438" y="1291568"/>
            <a:ext cx="3986213" cy="2778584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800600" y="1434443"/>
            <a:ext cx="2423517" cy="1863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mensaje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$"{nombre} tiene {edad} años"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productos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{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"Manzana"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"Pera"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@mensaje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&gt;Total productos: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@productos.Count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47009" y="4159448"/>
            <a:ext cx="3979069" cy="580430"/>
          </a:xfrm>
          <a:prstGeom prst="roundRect">
            <a:avLst>
              <a:gd name="adj" fmla="val 19692"/>
            </a:avLst>
          </a:prstGeom>
          <a:solidFill>
            <a:srgbClr val="F8F9FB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151872" y="4248745"/>
            <a:ext cx="414338" cy="1285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661868" y="4516636"/>
            <a:ext cx="714375" cy="1285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764881" y="4248745"/>
            <a:ext cx="3743325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 bloque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B5A7A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@{ ... }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ejecuta varias líneas de C# </a:t>
            </a:r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imprimir nada directamente. Declara variables, hace cálculos, prepara datos. Las variables declaradas ahí quedan disponibles en el resto de la página con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B5A7A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@nombreVariable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 / 50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703168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8644" y="435769"/>
            <a:ext cx="53173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SINTAXIS</a:t>
            </a:r>
            <a:endParaRPr lang="en-US" sz="675" dirty="0"/>
          </a:p>
        </p:txBody>
      </p:sp>
      <p:sp>
        <p:nvSpPr>
          <p:cNvPr id="5" name="Text 2"/>
          <p:cNvSpPr/>
          <p:nvPr/>
        </p:nvSpPr>
        <p:spPr>
          <a:xfrm>
            <a:off x="585788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5A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514350" y="671513"/>
            <a:ext cx="8521065" cy="2782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Variables y tipos en Razor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114996" y="991530"/>
            <a:ext cx="235744" cy="135731"/>
          </a:xfrm>
          <a:prstGeom prst="roundRect">
            <a:avLst>
              <a:gd name="adj" fmla="val 28070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976292" y="991530"/>
            <a:ext cx="235744" cy="135731"/>
          </a:xfrm>
          <a:prstGeom prst="roundRect">
            <a:avLst>
              <a:gd name="adj" fmla="val 28070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14350" y="977243"/>
            <a:ext cx="657225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Puedes declarar variables C# con </a:t>
            </a:r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 con el tipo explícito — igual que en cualquier archivo </a:t>
            </a:r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</a:t>
            </a:r>
            <a:endParaRPr lang="en-US" sz="844" dirty="0"/>
          </a:p>
        </p:txBody>
      </p:sp>
      <p:sp>
        <p:nvSpPr>
          <p:cNvPr id="10" name="Text 7"/>
          <p:cNvSpPr/>
          <p:nvPr/>
        </p:nvSpPr>
        <p:spPr>
          <a:xfrm>
            <a:off x="514350" y="1252277"/>
            <a:ext cx="45600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DECLARACION.CSHTML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088694" y="126120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B71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12" name="Text 9"/>
          <p:cNvSpPr/>
          <p:nvPr/>
        </p:nvSpPr>
        <p:spPr>
          <a:xfrm>
            <a:off x="514350" y="1413011"/>
            <a:ext cx="4674357" cy="3330439"/>
          </a:xfrm>
          <a:prstGeom prst="roundRect">
            <a:avLst>
              <a:gd name="adj" fmla="val 2860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42938" y="1527311"/>
            <a:ext cx="2489262" cy="311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Tipos básicos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"Carlos"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    </a:t>
            </a:r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            </a:t>
            </a:r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19.95m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  </a:t>
            </a:r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decimal (¡con la m!)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activo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       </a:t>
            </a:r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bool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</a:t>
            </a:r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DateTime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Colecciones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colores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"Rojo"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"Verde"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"Azul"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 interpolation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saludo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$"Hola, {nombre}. 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$"Tienes {edad} años"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@saludo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&gt;Color favorito: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@colores[0]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331582" y="1252277"/>
            <a:ext cx="31837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TIPOS COMUNES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529638" y="126120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B71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1582" y="1413011"/>
          <a:ext cx="3298068" cy="914400"/>
        </p:xfrm>
        <a:graphic>
          <a:graphicData uri="http://schemas.openxmlformats.org/drawingml/2006/table">
            <a:tbl>
              <a:tblPr/>
              <a:tblGrid>
                <a:gridCol w="987177"/>
                <a:gridCol w="987177"/>
                <a:gridCol w="131657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5A9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Tipo C#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5A9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Uso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5A9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Ejemplo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C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string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Texto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"Hola"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Enteros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decimal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Dinero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19.95m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bool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Verdadero/falso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true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DateTime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Fechas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DateTime.Now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List&lt;T&gt;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Listas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new List&lt;int&gt;()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var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Inferencia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var x = 5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 / 50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703168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8644" y="435769"/>
            <a:ext cx="53173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SINTAXIS</a:t>
            </a:r>
            <a:endParaRPr lang="en-US" sz="675" dirty="0"/>
          </a:p>
        </p:txBody>
      </p:sp>
      <p:sp>
        <p:nvSpPr>
          <p:cNvPr id="5" name="Text 2"/>
          <p:cNvSpPr/>
          <p:nvPr/>
        </p:nvSpPr>
        <p:spPr>
          <a:xfrm>
            <a:off x="585788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5A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514350" y="671513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Estructuras de control: </a:t>
            </a:r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@if</a:t>
            </a:r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@switch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14350" y="1048680"/>
            <a:ext cx="3986213" cy="228600"/>
          </a:xfrm>
          <a:prstGeom prst="roundRect">
            <a:avLst>
              <a:gd name="adj" fmla="val 33333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14363" y="110583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5A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785813" y="1098686"/>
            <a:ext cx="36147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7" kern="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@if / else if / else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4350" y="1277280"/>
            <a:ext cx="3986213" cy="3073264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42938" y="1391580"/>
            <a:ext cx="2423517" cy="2824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@if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(Model.Contactos.Count ==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"alert alert-info"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tienes contactos todavía.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asp-page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"/Crear"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&gt;Añadir el primero&lt;/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(Model.Contactos.Count &lt;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&gt;Tienes pocos contactos (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@Model.Contactos.Count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&gt;Tienes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@Model.Contactos.Count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contactos.&lt;/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43438" y="1048680"/>
            <a:ext cx="3986213" cy="228600"/>
          </a:xfrm>
          <a:prstGeom prst="roundRect">
            <a:avLst>
              <a:gd name="adj" fmla="val 33333"/>
            </a:avLst>
          </a:prstGeom>
          <a:solidFill>
            <a:srgbClr val="E1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43450" y="110583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B5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4914900" y="1098686"/>
            <a:ext cx="36147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7" kern="0" dirty="0">
                <a:solidFill>
                  <a:srgbClr val="0B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@switch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43438" y="1277280"/>
            <a:ext cx="3986213" cy="3073264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772025" y="1391580"/>
            <a:ext cx="2259211" cy="2824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@switch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(Model.Rol)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"admin"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"badge badge-danger"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&gt;Admin&lt;/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"editor"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"badge badge-warning"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&gt;Editor&lt;/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"usuario"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"badge badge-info"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&gt;Usuario&lt;/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"badge"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&gt;Invitado&lt;/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4350" y="4436269"/>
            <a:ext cx="8115300" cy="307181"/>
          </a:xfrm>
          <a:prstGeom prst="roundRect">
            <a:avLst>
              <a:gd name="adj" fmla="val 37209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14350" y="4439841"/>
            <a:ext cx="8115300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26078" y="4436269"/>
            <a:ext cx="0" cy="307181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4350" y="4739878"/>
            <a:ext cx="8115300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8638" y="4436269"/>
            <a:ext cx="0" cy="307181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7225" y="45291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1274713" y="4521994"/>
            <a:ext cx="200025" cy="128588"/>
          </a:xfrm>
          <a:prstGeom prst="roundRect">
            <a:avLst>
              <a:gd name="adj" fmla="val 22222"/>
            </a:avLst>
          </a:prstGeom>
          <a:solidFill>
            <a:srgbClr val="0078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857250" y="4521994"/>
            <a:ext cx="765095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 llaves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005A9E"/>
                </a:solidFill>
                <a:highlight>
                  <a:srgbClr val="0078D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marcan el bloque de HTML que se renderiza cuando se cumple la condición. Razor detecta automáticamente qué es C# y qué es HTML según el contexto.</a:t>
            </a:r>
            <a:endParaRPr lang="en-US" sz="703" dirty="0"/>
          </a:p>
        </p:txBody>
      </p:sp>
      <p:sp>
        <p:nvSpPr>
          <p:cNvPr id="25" name="Text 22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 / 50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703168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8644" y="435769"/>
            <a:ext cx="53173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SINTAXIS</a:t>
            </a:r>
            <a:endParaRPr lang="en-US" sz="675" dirty="0"/>
          </a:p>
        </p:txBody>
      </p:sp>
      <p:sp>
        <p:nvSpPr>
          <p:cNvPr id="5" name="Text 2"/>
          <p:cNvSpPr/>
          <p:nvPr/>
        </p:nvSpPr>
        <p:spPr>
          <a:xfrm>
            <a:off x="585788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5A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514350" y="657225"/>
            <a:ext cx="8629650" cy="247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Bucles: </a:t>
            </a:r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</a:t>
            </a:r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@foreach</a:t>
            </a:r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@while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514350" y="932259"/>
            <a:ext cx="657225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Tres formas de repetir HTML para cada elemento de una colección</a:t>
            </a:r>
            <a:endParaRPr lang="en-US" sz="816" dirty="0"/>
          </a:p>
        </p:txBody>
      </p:sp>
      <p:sp>
        <p:nvSpPr>
          <p:cNvPr id="8" name="Text 5"/>
          <p:cNvSpPr/>
          <p:nvPr/>
        </p:nvSpPr>
        <p:spPr>
          <a:xfrm>
            <a:off x="514350" y="1173361"/>
            <a:ext cx="3986213" cy="228600"/>
          </a:xfrm>
          <a:prstGeom prst="roundRect">
            <a:avLst>
              <a:gd name="adj" fmla="val 33333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14363" y="123051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5A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785813" y="1223367"/>
            <a:ext cx="5421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7" kern="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@foreach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213321" y="1228725"/>
            <a:ext cx="318722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el más usado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14350" y="1401961"/>
            <a:ext cx="3986213" cy="1466366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28650" y="1501973"/>
            <a:ext cx="1725216" cy="128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@foreach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contacto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Model.Contactos)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@contacto.Nombre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@contacto.Telefono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17922" y="2943337"/>
            <a:ext cx="3979069" cy="432197"/>
          </a:xfrm>
          <a:prstGeom prst="roundRect">
            <a:avLst>
              <a:gd name="adj" fmla="val 26446"/>
            </a:avLst>
          </a:prstGeom>
          <a:solidFill>
            <a:srgbClr val="F8F9FB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538599" y="3025490"/>
            <a:ext cx="671513" cy="1285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21506" y="3025490"/>
            <a:ext cx="377190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 bucle más común en Razor. Recorre cualquier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IEnumerable&lt;T&gt;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y repite el HTML interior para cada elemento.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643438" y="1173361"/>
            <a:ext cx="3986213" cy="228600"/>
          </a:xfrm>
          <a:prstGeom prst="roundRect">
            <a:avLst>
              <a:gd name="adj" fmla="val 33333"/>
            </a:avLst>
          </a:prstGeom>
          <a:solidFill>
            <a:srgbClr val="E1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743450" y="123051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B5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4914900" y="1223367"/>
            <a:ext cx="29628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7" kern="0" dirty="0">
                <a:solidFill>
                  <a:srgbClr val="0B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157229" y="1228725"/>
            <a:ext cx="91440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B5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247419" y="1223367"/>
            <a:ext cx="328221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7" kern="0" dirty="0">
                <a:solidFill>
                  <a:srgbClr val="0B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@while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43438" y="1401961"/>
            <a:ext cx="3986213" cy="2977158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57738" y="1501973"/>
            <a:ext cx="1971675" cy="279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@*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@for: cuando necesitas el índice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*@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Model.Contactos.Count; i++)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@(i + 1)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@Model.Contactos[i].Nombre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@*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@while: raro en vistas, pero existe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*@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@{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=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@while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 &lt;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&gt;Línea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n++;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14350" y="4464844"/>
            <a:ext cx="8115300" cy="278606"/>
          </a:xfrm>
          <a:prstGeom prst="roundRect">
            <a:avLst>
              <a:gd name="adj" fmla="val 34188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528638" y="4464844"/>
            <a:ext cx="0" cy="278606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2938" y="45434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3578572" y="4536281"/>
            <a:ext cx="242888" cy="128588"/>
          </a:xfrm>
          <a:prstGeom prst="roundRect">
            <a:avLst>
              <a:gd name="adj" fmla="val 22222"/>
            </a:avLst>
          </a:prstGeom>
          <a:solidFill>
            <a:srgbClr val="0078D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326559" y="4536281"/>
            <a:ext cx="414338" cy="128588"/>
          </a:xfrm>
          <a:prstGeom prst="roundRect">
            <a:avLst>
              <a:gd name="adj" fmla="val 22222"/>
            </a:avLst>
          </a:prstGeom>
          <a:solidFill>
            <a:srgbClr val="0078D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842963" y="4536281"/>
            <a:ext cx="76866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 iterar con índice y necesitas saber si es el último elemento, usa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0078D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Para simplemente recorrer una lista,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0078D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@foreach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es siempre mejor.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 / 50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812892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0789" y="435769"/>
            <a:ext cx="657168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DIRECTIVAS</a:t>
            </a:r>
            <a:endParaRPr lang="en-US" sz="675" dirty="0"/>
          </a:p>
        </p:txBody>
      </p:sp>
      <p:sp>
        <p:nvSpPr>
          <p:cNvPr id="5" name="Text 2"/>
          <p:cNvSpPr/>
          <p:nvPr/>
        </p:nvSpPr>
        <p:spPr>
          <a:xfrm>
            <a:off x="585788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5A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514350" y="657225"/>
            <a:ext cx="8629650" cy="247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Directivas: </a:t>
            </a:r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@page</a:t>
            </a:r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@model</a:t>
            </a:r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@using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514350" y="932259"/>
            <a:ext cx="657225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 directivas controlan cómo Razor procesa la página</a:t>
            </a:r>
            <a:endParaRPr lang="en-US" sz="816" dirty="0"/>
          </a:p>
        </p:txBody>
      </p:sp>
      <p:sp>
        <p:nvSpPr>
          <p:cNvPr id="8" name="Text 5"/>
          <p:cNvSpPr/>
          <p:nvPr/>
        </p:nvSpPr>
        <p:spPr>
          <a:xfrm>
            <a:off x="514350" y="1173361"/>
            <a:ext cx="38719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CONTACTOS/INDEX.CSHTML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400550" y="118229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B71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10" name="Text 7"/>
          <p:cNvSpPr/>
          <p:nvPr/>
        </p:nvSpPr>
        <p:spPr>
          <a:xfrm>
            <a:off x="514350" y="1334095"/>
            <a:ext cx="3986213" cy="3409355"/>
          </a:xfrm>
          <a:prstGeom prst="roundRect">
            <a:avLst>
              <a:gd name="adj" fmla="val 2794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42938" y="1448395"/>
            <a:ext cx="1725216" cy="2439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@page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@model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MiAgenda.Pages.Contactos.IndexModel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@using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MiAgenda.Models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ViewData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"Mis contactos"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h1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@ViewData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h1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@foreach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Model.Contactos)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@c.Nombre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@c.Telefono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43438" y="1173361"/>
            <a:ext cx="38719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DIRECTIVAS ESENCIALES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529638" y="118229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B71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984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43438" y="1376958"/>
          <a:ext cx="3986213" cy="914400"/>
        </p:xfrm>
        <a:graphic>
          <a:graphicData uri="http://schemas.openxmlformats.org/drawingml/2006/table">
            <a:tbl>
              <a:tblPr/>
              <a:tblGrid>
                <a:gridCol w="1512019"/>
                <a:gridCol w="246704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5A9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Directiva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5A9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Qué hace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C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@page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Convierte el archivo en una página Razor (no una vista parcial). Debe ir siempre la primera.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@page "{id:int?}"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Define un parámetro de ruta opcional. /Contactos/Editar/5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@model Tipo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Declara el tipo del Page Model. Accesible vía @Model en la vista.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@using Namespace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Importa un namespace C#, igual que en .cs.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@inject Servicio Tipo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B1B1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Inyecta un servicio del contenedor DI directamente en la página.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4643438" y="4318397"/>
            <a:ext cx="3986213" cy="425053"/>
          </a:xfrm>
          <a:prstGeom prst="roundRect">
            <a:avLst>
              <a:gd name="adj" fmla="val 22409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4657725" y="4318397"/>
            <a:ext cx="0" cy="425053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86313" y="44041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!</a:t>
            </a:r>
            <a:endParaRPr lang="en-US" sz="1266" dirty="0"/>
          </a:p>
        </p:txBody>
      </p:sp>
      <p:sp>
        <p:nvSpPr>
          <p:cNvPr id="18" name="Text 14"/>
          <p:cNvSpPr/>
          <p:nvPr/>
        </p:nvSpPr>
        <p:spPr>
          <a:xfrm>
            <a:off x="4986338" y="4396978"/>
            <a:ext cx="285750" cy="128588"/>
          </a:xfrm>
          <a:prstGeom prst="roundRect">
            <a:avLst>
              <a:gd name="adj" fmla="val 22222"/>
            </a:avLst>
          </a:prstGeom>
          <a:solidFill>
            <a:srgbClr val="0078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986338" y="4396978"/>
            <a:ext cx="3529013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0078D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@page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DEBE ser la primera línea del archivo. Sin ella, Razor trata el archivo como una vista parcial y no se sirve desde una URL.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 / 50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891696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66030" y="435769"/>
            <a:ext cx="685491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TAG HELPERS</a:t>
            </a:r>
            <a:endParaRPr lang="en-US" sz="675" dirty="0"/>
          </a:p>
        </p:txBody>
      </p:sp>
      <p:sp>
        <p:nvSpPr>
          <p:cNvPr id="5" name="Text 2"/>
          <p:cNvSpPr/>
          <p:nvPr/>
        </p:nvSpPr>
        <p:spPr>
          <a:xfrm>
            <a:off x="585788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5A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⌧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514350" y="657225"/>
            <a:ext cx="8629650" cy="2476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Tag Helpers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514350" y="932259"/>
            <a:ext cx="657225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Atributos HTML especiales que generan formularios y enlaces tipados — más limpios que los HTML Helpers</a:t>
            </a:r>
            <a:endParaRPr lang="en-US" sz="816" dirty="0"/>
          </a:p>
        </p:txBody>
      </p:sp>
      <p:sp>
        <p:nvSpPr>
          <p:cNvPr id="8" name="Text 5"/>
          <p:cNvSpPr/>
          <p:nvPr/>
        </p:nvSpPr>
        <p:spPr>
          <a:xfrm>
            <a:off x="2588828" y="1180505"/>
            <a:ext cx="250031" cy="128588"/>
          </a:xfrm>
          <a:prstGeom prst="roundRect">
            <a:avLst>
              <a:gd name="adj" fmla="val 22222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14350" y="1173361"/>
            <a:ext cx="3986213" cy="492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Los Tag Helpers son atributos que empiezan por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y se añaden a etiquetas HTML normales. Al renderizar, ASP.NET Core los reemplaza por HTML final. La ventaja: escribes HTML que se parece al resultado final, no una llamada a método C#.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4350" y="1700213"/>
            <a:ext cx="2600771" cy="273248"/>
          </a:xfrm>
          <a:prstGeom prst="roundRect">
            <a:avLst>
              <a:gd name="adj" fmla="val 10458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756036" y="1844873"/>
            <a:ext cx="919758" cy="128588"/>
          </a:xfrm>
          <a:prstGeom prst="roundRect">
            <a:avLst>
              <a:gd name="adj" fmla="val 22222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14350" y="1693069"/>
            <a:ext cx="3986213" cy="492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 activarlos en todo el proyecto, la línea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@addTagHelper *, Microsoft.AspNetCore.Mvc.TagHelpers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debe estar en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_ViewImports.cshtml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La plantilla por defecto ya la incluye.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17922" y="2216348"/>
            <a:ext cx="3979069" cy="1112639"/>
          </a:xfrm>
          <a:prstGeom prst="roundRect">
            <a:avLst>
              <a:gd name="adj" fmla="val 10273"/>
            </a:avLst>
          </a:prstGeom>
          <a:solidFill>
            <a:srgbClr val="F8F9FB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35794" y="2305645"/>
            <a:ext cx="3743325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1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LOS MÁS USADOS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35794" y="2480667"/>
            <a:ext cx="3743325" cy="804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95"/>
              </a:lnSpc>
              <a:buSzPct val="100000"/>
              <a:buChar char="•"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▶asp-for — vincula un campo de formulario a una propiedad del modelo</a:t>
            </a:r>
            <a:endParaRPr lang="en-US" sz="800" dirty="0"/>
          </a:p>
          <a:p>
            <a:pPr algn="l" marL="342900" indent="-342900">
              <a:lnSpc>
                <a:spcPts val="1195"/>
              </a:lnSpc>
              <a:buSzPct val="100000"/>
              <a:buChar char="•"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▶asp-page — genera enlace a otra página Razor</a:t>
            </a:r>
            <a:endParaRPr lang="en-US" sz="800" dirty="0"/>
          </a:p>
          <a:p>
            <a:pPr algn="l" marL="342900" indent="-342900">
              <a:lnSpc>
                <a:spcPts val="1195"/>
              </a:lnSpc>
              <a:buSzPct val="100000"/>
              <a:buChar char="•"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▶asp-route-* — añade parámetros a la URL</a:t>
            </a:r>
            <a:endParaRPr lang="en-US" sz="800" dirty="0"/>
          </a:p>
          <a:p>
            <a:pPr algn="l" marL="342900" indent="-342900">
              <a:lnSpc>
                <a:spcPts val="1195"/>
              </a:lnSpc>
              <a:buSzPct val="100000"/>
              <a:buChar char="•"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▶asp-page-handler — apunta a un método concreto del PageModel</a:t>
            </a:r>
            <a:endParaRPr lang="en-US" sz="800" dirty="0"/>
          </a:p>
          <a:p>
            <a:pPr algn="l" marL="342900" indent="-342900">
              <a:lnSpc>
                <a:spcPts val="1195"/>
              </a:lnSpc>
              <a:buSzPct val="100000"/>
              <a:buChar char="•"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▶asp-validation-for — muestra el mensaje de validación de un campo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643438" y="1173361"/>
            <a:ext cx="6871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1" kern="0" dirty="0">
                <a:solidFill>
                  <a:srgbClr val="D134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HTML HELPER</a:t>
            </a:r>
            <a:endParaRPr lang="en-US" sz="619" dirty="0"/>
          </a:p>
        </p:txBody>
      </p:sp>
      <p:sp>
        <p:nvSpPr>
          <p:cNvPr id="17" name="Text 14"/>
          <p:cNvSpPr/>
          <p:nvPr/>
        </p:nvSpPr>
        <p:spPr>
          <a:xfrm>
            <a:off x="5233801" y="1173361"/>
            <a:ext cx="7174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clásico, evítalo</a:t>
            </a:r>
            <a:endParaRPr lang="en-US" sz="619" dirty="0"/>
          </a:p>
        </p:txBody>
      </p:sp>
      <p:sp>
        <p:nvSpPr>
          <p:cNvPr id="18" name="Text 15"/>
          <p:cNvSpPr/>
          <p:nvPr/>
        </p:nvSpPr>
        <p:spPr>
          <a:xfrm>
            <a:off x="8529638" y="118229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134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984" dirty="0"/>
          </a:p>
        </p:txBody>
      </p:sp>
      <p:sp>
        <p:nvSpPr>
          <p:cNvPr id="19" name="Text 16"/>
          <p:cNvSpPr/>
          <p:nvPr/>
        </p:nvSpPr>
        <p:spPr>
          <a:xfrm>
            <a:off x="4647009" y="1337667"/>
            <a:ext cx="3979069" cy="466353"/>
          </a:xfrm>
          <a:prstGeom prst="roundRect">
            <a:avLst>
              <a:gd name="adj" fmla="val 20424"/>
            </a:avLst>
          </a:prstGeom>
          <a:solidFill>
            <a:srgbClr val="1E1E1E"/>
          </a:solidFill>
          <a:ln w="7144">
            <a:solidFill>
              <a:srgbClr val="5A1F2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764881" y="1441252"/>
            <a:ext cx="1478756" cy="27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@Html.ActionLink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"Editar"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"Editar"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id =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643438" y="1893317"/>
            <a:ext cx="6051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1" kern="0" dirty="0">
                <a:solidFill>
                  <a:srgbClr val="107C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TAG HELPER</a:t>
            </a:r>
            <a:endParaRPr lang="en-US" sz="619" dirty="0"/>
          </a:p>
        </p:txBody>
      </p:sp>
      <p:sp>
        <p:nvSpPr>
          <p:cNvPr id="22" name="Text 19"/>
          <p:cNvSpPr/>
          <p:nvPr/>
        </p:nvSpPr>
        <p:spPr>
          <a:xfrm>
            <a:off x="5170177" y="1893317"/>
            <a:ext cx="10082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moderno, recomendado</a:t>
            </a:r>
            <a:endParaRPr lang="en-US" sz="619" dirty="0"/>
          </a:p>
        </p:txBody>
      </p:sp>
      <p:sp>
        <p:nvSpPr>
          <p:cNvPr id="23" name="Text 20"/>
          <p:cNvSpPr/>
          <p:nvPr/>
        </p:nvSpPr>
        <p:spPr>
          <a:xfrm>
            <a:off x="8529638" y="190224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7C1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24" name="Text 21"/>
          <p:cNvSpPr/>
          <p:nvPr/>
        </p:nvSpPr>
        <p:spPr>
          <a:xfrm>
            <a:off x="4643438" y="2054051"/>
            <a:ext cx="3986213" cy="2689399"/>
          </a:xfrm>
          <a:prstGeom prst="roundRect">
            <a:avLst>
              <a:gd name="adj" fmla="val 3542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757738" y="2154064"/>
            <a:ext cx="1930598" cy="1670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asp-page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"/Contactos/Editar"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asp-route-id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&gt;Editar&lt;/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asp-for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"Contacto.Nombre"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asp-validation-for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"Contacto.Nombre"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&gt;Guardar&lt;/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 / 50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99025" y="285750"/>
            <a:ext cx="4144975" cy="2098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0"/>
              </a:lnSpc>
              <a:buNone/>
            </a:pPr>
            <a:r>
              <a:rPr lang="en-US" sz="18000" b="1" spc="-1080" kern="0" dirty="0">
                <a:solidFill>
                  <a:srgbClr val="F3F6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8000" dirty="0"/>
          </a:p>
        </p:txBody>
      </p:sp>
      <p:pic>
        <p:nvPicPr>
          <p:cNvPr id="4" name="Image 1" descr="/tmp/h2p-svg-1784179542460-coxb39.png">    </p:cNvPr>
          <p:cNvPicPr>
            <a:picLocks noChangeAspect="1"/>
          </p:cNvPicPr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6572250" y="2571750"/>
            <a:ext cx="2571750" cy="2571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8700" y="1243013"/>
            <a:ext cx="633843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CAPÍTULO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857250" y="124301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5A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7" name="Text 3"/>
          <p:cNvSpPr/>
          <p:nvPr/>
        </p:nvSpPr>
        <p:spPr>
          <a:xfrm>
            <a:off x="857250" y="1443038"/>
            <a:ext cx="8286750" cy="848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88"/>
              </a:lnSpc>
              <a:buNone/>
            </a:pPr>
            <a:r>
              <a:rPr lang="en-US" sz="6188" b="1" spc="-186" kern="0" dirty="0">
                <a:solidFill>
                  <a:srgbClr val="00BCF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</a:t>
            </a:r>
            <a:pPr algn="l" indent="0" marL="0">
              <a:lnSpc>
                <a:spcPts val="6188"/>
              </a:lnSpc>
              <a:buNone/>
            </a:pPr>
            <a:r>
              <a:rPr lang="en-US" sz="2700" b="1" spc="-186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06</a:t>
            </a:r>
            <a:endParaRPr lang="en-US" sz="6188" dirty="0"/>
          </a:p>
        </p:txBody>
      </p:sp>
      <p:sp>
        <p:nvSpPr>
          <p:cNvPr id="8" name="Text 4"/>
          <p:cNvSpPr/>
          <p:nvPr/>
        </p:nvSpPr>
        <p:spPr>
          <a:xfrm>
            <a:off x="857250" y="2386013"/>
            <a:ext cx="628650" cy="28575"/>
          </a:xfrm>
          <a:prstGeom prst="roundRect">
            <a:avLst>
              <a:gd name="adj" fmla="val 66667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857250" y="2571750"/>
            <a:ext cx="8286750" cy="475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b="1" spc="-63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 Page Model</a:t>
            </a:r>
            <a:endParaRPr lang="en-US" sz="3150" dirty="0"/>
          </a:p>
        </p:txBody>
      </p:sp>
      <p:sp>
        <p:nvSpPr>
          <p:cNvPr id="10" name="Text 6"/>
          <p:cNvSpPr/>
          <p:nvPr/>
        </p:nvSpPr>
        <p:spPr>
          <a:xfrm>
            <a:off x="857250" y="3154635"/>
            <a:ext cx="4572000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Donde vive la lógica C# de cada página: cargar datos, procesar formularios, validar y redirigir.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857250" y="4729163"/>
            <a:ext cx="228600" cy="14288"/>
          </a:xfrm>
          <a:prstGeom prst="rect">
            <a:avLst/>
          </a:prstGeom>
          <a:solidFill>
            <a:srgbClr val="00B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157288" y="4672013"/>
            <a:ext cx="16917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81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RAZOR PAGES EN ASP.NET CORE</a:t>
            </a:r>
            <a:endParaRPr lang="en-US" sz="6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773490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83805" y="435769"/>
            <a:ext cx="53173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CONCEPTO</a:t>
            </a:r>
            <a:endParaRPr lang="en-US" sz="675" dirty="0"/>
          </a:p>
        </p:txBody>
      </p:sp>
      <p:sp>
        <p:nvSpPr>
          <p:cNvPr id="5" name="Text 2"/>
          <p:cNvSpPr/>
          <p:nvPr/>
        </p:nvSpPr>
        <p:spPr>
          <a:xfrm>
            <a:off x="585788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5A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514350" y="657225"/>
            <a:ext cx="8521065" cy="2476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 clase </a:t>
            </a:r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PageModel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514350" y="932259"/>
            <a:ext cx="657225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 clase base de la que heredan todos los modelos de página</a:t>
            </a:r>
            <a:endParaRPr lang="en-US" sz="816" dirty="0"/>
          </a:p>
        </p:txBody>
      </p:sp>
      <p:sp>
        <p:nvSpPr>
          <p:cNvPr id="8" name="Text 5"/>
          <p:cNvSpPr/>
          <p:nvPr/>
        </p:nvSpPr>
        <p:spPr>
          <a:xfrm>
            <a:off x="514350" y="1173361"/>
            <a:ext cx="45600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CONTACTOS/INDEX.CSHTML.CS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88694" y="118229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B71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10" name="Text 7"/>
          <p:cNvSpPr/>
          <p:nvPr/>
        </p:nvSpPr>
        <p:spPr>
          <a:xfrm>
            <a:off x="514350" y="1334095"/>
            <a:ext cx="4674357" cy="3797015"/>
          </a:xfrm>
          <a:prstGeom prst="roundRect">
            <a:avLst>
              <a:gd name="adj" fmla="val 2509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42938" y="1448395"/>
            <a:ext cx="2177058" cy="3582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Microsoft.AspNetCore.Mvc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Microsoft.AspNetCore.Mvc.RazorPages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MiAgenda.Pages.Contactos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IndexModel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PageModel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readonly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AgendaService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_servicio;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Inyección por constructor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IndexModel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AgendaService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servicio)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_servicio = servicio;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Propiedad expuesta a la vista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Contacto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Contactos {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Manejador GET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OnGet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Contactos = _servicio.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ObtenerTodos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331582" y="1173361"/>
            <a:ext cx="3812418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PUNTOS CLAVE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335153" y="1366242"/>
            <a:ext cx="3290925" cy="596503"/>
          </a:xfrm>
          <a:prstGeom prst="roundRect">
            <a:avLst>
              <a:gd name="adj" fmla="val 19162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453025" y="1455539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478028" y="148054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6" name="Text 13"/>
          <p:cNvSpPr/>
          <p:nvPr/>
        </p:nvSpPr>
        <p:spPr>
          <a:xfrm>
            <a:off x="5795925" y="1455539"/>
            <a:ext cx="2712281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Hereda de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PageModel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795925" y="1614488"/>
            <a:ext cx="2712281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 obligatorio. Trae toda la maquinaria: ModelState, TempData, Redirect, etc.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335153" y="2041327"/>
            <a:ext cx="3290925" cy="596503"/>
          </a:xfrm>
          <a:prstGeom prst="roundRect">
            <a:avLst>
              <a:gd name="adj" fmla="val 19162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453025" y="2130623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478028" y="215562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1" name="Text 18"/>
          <p:cNvSpPr/>
          <p:nvPr/>
        </p:nvSpPr>
        <p:spPr>
          <a:xfrm>
            <a:off x="5795925" y="2130623"/>
            <a:ext cx="2822009" cy="131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Inyección de dependencias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795925" y="2289572"/>
            <a:ext cx="2712281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Los servicios se inyectan por constructor. ASP.NET Core los resuelve automáticamente.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335153" y="2716411"/>
            <a:ext cx="3290925" cy="596503"/>
          </a:xfrm>
          <a:prstGeom prst="roundRect">
            <a:avLst>
              <a:gd name="adj" fmla="val 19162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453025" y="2805708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478028" y="2830711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6" name="Text 23"/>
          <p:cNvSpPr/>
          <p:nvPr/>
        </p:nvSpPr>
        <p:spPr>
          <a:xfrm>
            <a:off x="5795925" y="2805708"/>
            <a:ext cx="2712281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Propiedades públicas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795925" y="3101280"/>
            <a:ext cx="303609" cy="114300"/>
          </a:xfrm>
          <a:prstGeom prst="roundRect">
            <a:avLst>
              <a:gd name="adj" fmla="val 25000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795925" y="2964656"/>
            <a:ext cx="2712281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Solo las propiedades públicas son accesibles desde la vista vía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@Model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Las privadas no.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331582" y="3387923"/>
            <a:ext cx="3298068" cy="603647"/>
          </a:xfrm>
          <a:prstGeom prst="roundRect">
            <a:avLst>
              <a:gd name="adj" fmla="val 18935"/>
            </a:avLst>
          </a:prstGeom>
          <a:solidFill>
            <a:srgbClr val="F3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5331582" y="3391495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626078" y="3387923"/>
            <a:ext cx="0" cy="603647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331582" y="3987998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345869" y="3387923"/>
            <a:ext cx="0" cy="603647"/>
          </a:xfrm>
          <a:prstGeom prst="line">
            <a:avLst/>
          </a:prstGeom>
          <a:noFill/>
          <a:ln w="28575">
            <a:solidFill>
              <a:srgbClr val="00BC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74457" y="3480792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E1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499460" y="3505795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B5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406" dirty="0"/>
          </a:p>
        </p:txBody>
      </p:sp>
      <p:sp>
        <p:nvSpPr>
          <p:cNvPr id="36" name="Text 33"/>
          <p:cNvSpPr/>
          <p:nvPr/>
        </p:nvSpPr>
        <p:spPr>
          <a:xfrm>
            <a:off x="5817357" y="3480792"/>
            <a:ext cx="2690850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Métodos manejadores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817357" y="3646884"/>
            <a:ext cx="262533" cy="114300"/>
          </a:xfrm>
          <a:prstGeom prst="roundRect">
            <a:avLst>
              <a:gd name="adj" fmla="val 25000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133467" y="3646884"/>
            <a:ext cx="303609" cy="114300"/>
          </a:xfrm>
          <a:prstGeom prst="roundRect">
            <a:avLst>
              <a:gd name="adj" fmla="val 25000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490655" y="3646884"/>
            <a:ext cx="508992" cy="114300"/>
          </a:xfrm>
          <a:prstGeom prst="roundRect">
            <a:avLst>
              <a:gd name="adj" fmla="val 25000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5817357" y="3639741"/>
            <a:ext cx="269085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OnGet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OnPost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OnGetEditar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... Cada uno responde a un verbo HTTP + handler concreto.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 / 50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999522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57227" y="435769"/>
            <a:ext cx="810924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BINDING</a:t>
            </a:r>
            <a:endParaRPr lang="en-US" sz="675" dirty="0"/>
          </a:p>
        </p:txBody>
      </p:sp>
      <p:sp>
        <p:nvSpPr>
          <p:cNvPr id="5" name="Text 2"/>
          <p:cNvSpPr/>
          <p:nvPr/>
        </p:nvSpPr>
        <p:spPr>
          <a:xfrm>
            <a:off x="585788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5A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514350" y="657225"/>
            <a:ext cx="8629650" cy="247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Enlace de datos: </a:t>
            </a:r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[BindProperty]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514350" y="932259"/>
            <a:ext cx="657225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Cómo los datos del formulario llegan automáticamente a tus propiedades C#</a:t>
            </a:r>
            <a:endParaRPr lang="en-US" sz="816" dirty="0"/>
          </a:p>
        </p:txBody>
      </p:sp>
      <p:sp>
        <p:nvSpPr>
          <p:cNvPr id="8" name="Text 5"/>
          <p:cNvSpPr/>
          <p:nvPr/>
        </p:nvSpPr>
        <p:spPr>
          <a:xfrm>
            <a:off x="514350" y="1173361"/>
            <a:ext cx="45600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CONTACTOS/CREAR.CSHTML.CS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88694" y="118229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B71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10" name="Text 7"/>
          <p:cNvSpPr/>
          <p:nvPr/>
        </p:nvSpPr>
        <p:spPr>
          <a:xfrm>
            <a:off x="514350" y="1334095"/>
            <a:ext cx="4674357" cy="3509256"/>
          </a:xfrm>
          <a:prstGeom prst="roundRect">
            <a:avLst>
              <a:gd name="adj" fmla="val 2714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42938" y="1448395"/>
            <a:ext cx="2385678" cy="3294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CrearModel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PageModel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 enlaza automáticamente al recibir POST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BindProperty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Contacto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Contacto {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OnGet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Formulario vacío, mostrar página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IActionResult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OnPost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(!ModelState.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IsValid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</a:t>
            </a:r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Vuelve a mostrar el form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Contacto ya está relleno con los datos del form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_servicio.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Añadir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(Contacto);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RedirectToPage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"Index"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331582" y="1173361"/>
            <a:ext cx="38124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CÓMO FUNCIONA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331582" y="1376958"/>
            <a:ext cx="3298068" cy="770632"/>
          </a:xfrm>
          <a:prstGeom prst="roundRect">
            <a:avLst>
              <a:gd name="adj" fmla="val 14832"/>
            </a:avLst>
          </a:prstGeom>
          <a:solidFill>
            <a:srgbClr val="F3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331582" y="1380530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26078" y="1376958"/>
            <a:ext cx="0" cy="770632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31582" y="2144018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45869" y="1376958"/>
            <a:ext cx="0" cy="770632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74457" y="1484114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499460" y="150911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406" dirty="0"/>
          </a:p>
        </p:txBody>
      </p:sp>
      <p:sp>
        <p:nvSpPr>
          <p:cNvPr id="20" name="Text 17"/>
          <p:cNvSpPr/>
          <p:nvPr/>
        </p:nvSpPr>
        <p:spPr>
          <a:xfrm>
            <a:off x="5817357" y="1484114"/>
            <a:ext cx="2690850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[BindProperty]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817357" y="1918097"/>
            <a:ext cx="960834" cy="114300"/>
          </a:xfrm>
          <a:prstGeom prst="roundRect">
            <a:avLst>
              <a:gd name="adj" fmla="val 25000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122319" y="1918097"/>
            <a:ext cx="673298" cy="114300"/>
          </a:xfrm>
          <a:prstGeom prst="roundRect">
            <a:avLst>
              <a:gd name="adj" fmla="val 25000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817357" y="1651992"/>
            <a:ext cx="269085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Recoge automáticamente los campos del formulario HTTP cuyos nombres coinciden con las propiedades del objeto. Si el form tiene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name="Contacto.Nombre"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rellena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Contacto.Nombre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31582" y="2233315"/>
            <a:ext cx="3298068" cy="775990"/>
          </a:xfrm>
          <a:prstGeom prst="roundRect">
            <a:avLst>
              <a:gd name="adj" fmla="val 14730"/>
            </a:avLst>
          </a:prstGeom>
          <a:solidFill>
            <a:srgbClr val="F3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5331582" y="2236887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626078" y="2233315"/>
            <a:ext cx="0" cy="77599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331582" y="3005733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345869" y="2233315"/>
            <a:ext cx="0" cy="775990"/>
          </a:xfrm>
          <a:prstGeom prst="line">
            <a:avLst/>
          </a:prstGeom>
          <a:noFill/>
          <a:ln w="28575">
            <a:solidFill>
              <a:srgbClr val="FFA5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74457" y="2340471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FFF4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499460" y="236547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A5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406" dirty="0"/>
          </a:p>
        </p:txBody>
      </p:sp>
      <p:sp>
        <p:nvSpPr>
          <p:cNvPr id="31" name="Text 28"/>
          <p:cNvSpPr/>
          <p:nvPr/>
        </p:nvSpPr>
        <p:spPr>
          <a:xfrm>
            <a:off x="5817357" y="2340471"/>
            <a:ext cx="2690850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Solo en POST por defecto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314963" y="2520851"/>
            <a:ext cx="632222" cy="114300"/>
          </a:xfrm>
          <a:prstGeom prst="roundRect">
            <a:avLst>
              <a:gd name="adj" fmla="val 25000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817357" y="2650331"/>
            <a:ext cx="2348731" cy="243780"/>
          </a:xfrm>
          <a:prstGeom prst="roundRect">
            <a:avLst>
              <a:gd name="adj" fmla="val 11722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817357" y="2513707"/>
            <a:ext cx="269085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Por defecto,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[BindProperty]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solo enlaza en peticiones POST. Si necesitas enlazar en GET, usa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[BindProperty(SupportsGet = true)]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331582" y="3095030"/>
            <a:ext cx="3298068" cy="770632"/>
          </a:xfrm>
          <a:prstGeom prst="roundRect">
            <a:avLst>
              <a:gd name="adj" fmla="val 14832"/>
            </a:avLst>
          </a:prstGeom>
          <a:solidFill>
            <a:srgbClr val="F3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5331582" y="3098602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626078" y="3095030"/>
            <a:ext cx="0" cy="770632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331582" y="3862090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345869" y="3095030"/>
            <a:ext cx="0" cy="770632"/>
          </a:xfrm>
          <a:prstGeom prst="line">
            <a:avLst/>
          </a:prstGeom>
          <a:noFill/>
          <a:ln w="28575">
            <a:solidFill>
              <a:srgbClr val="107C1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474457" y="3202186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E6F4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5499460" y="322718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07C1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42" name="Text 39"/>
          <p:cNvSpPr/>
          <p:nvPr/>
        </p:nvSpPr>
        <p:spPr>
          <a:xfrm>
            <a:off x="5817357" y="3202186"/>
            <a:ext cx="2690850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ModelState.IsValid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313414" y="3377208"/>
            <a:ext cx="467916" cy="114300"/>
          </a:xfrm>
          <a:prstGeom prst="roundRect">
            <a:avLst>
              <a:gd name="adj" fmla="val 25000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7834908" y="3377208"/>
            <a:ext cx="632222" cy="114300"/>
          </a:xfrm>
          <a:prstGeom prst="roundRect">
            <a:avLst>
              <a:gd name="adj" fmla="val 25000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6313177" y="3506688"/>
            <a:ext cx="344686" cy="114300"/>
          </a:xfrm>
          <a:prstGeom prst="roundRect">
            <a:avLst>
              <a:gd name="adj" fmla="val 25000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5817357" y="3370064"/>
            <a:ext cx="269085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Verifica las anotaciones de validación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[Required]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[StringLength]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etc. Si falla,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IsValid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es false y vuelves a mostrar el form con errores.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31 / 50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941256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73613" y="435769"/>
            <a:ext cx="719884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MANEJADORES</a:t>
            </a:r>
            <a:endParaRPr lang="en-US" sz="675" dirty="0"/>
          </a:p>
        </p:txBody>
      </p:sp>
      <p:sp>
        <p:nvSpPr>
          <p:cNvPr id="5" name="Text 2"/>
          <p:cNvSpPr/>
          <p:nvPr/>
        </p:nvSpPr>
        <p:spPr>
          <a:xfrm>
            <a:off x="585788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5A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514350" y="657225"/>
            <a:ext cx="8521065" cy="2476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Métodos </a:t>
            </a:r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OnGet</a:t>
            </a:r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y </a:t>
            </a:r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OnPost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514350" y="932259"/>
            <a:ext cx="657225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Dos métodos para dos verbos HTTP: GET para mostrar, POST para procesar</a:t>
            </a:r>
            <a:endParaRPr lang="en-US" sz="816" dirty="0"/>
          </a:p>
        </p:txBody>
      </p:sp>
      <p:sp>
        <p:nvSpPr>
          <p:cNvPr id="8" name="Text 5"/>
          <p:cNvSpPr/>
          <p:nvPr/>
        </p:nvSpPr>
        <p:spPr>
          <a:xfrm>
            <a:off x="514350" y="1173361"/>
            <a:ext cx="3986213" cy="228600"/>
          </a:xfrm>
          <a:prstGeom prst="roundRect">
            <a:avLst>
              <a:gd name="adj" fmla="val 33333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85813" y="1230511"/>
            <a:ext cx="100872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OnGet — mostrar página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614363" y="123051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5A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514350" y="1401961"/>
            <a:ext cx="3986213" cy="2789858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42938" y="1516261"/>
            <a:ext cx="1889522" cy="2575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EditarModel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PageModel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BindProperty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Contacto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Contacto {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// GET /Contactos/Editar/5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IActionResult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OnGet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id)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Contacto = _servicio.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ObtenerPorId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(id);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(Contacto ==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NotFound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17922" y="4266828"/>
            <a:ext cx="3979069" cy="432197"/>
          </a:xfrm>
          <a:prstGeom prst="roundRect">
            <a:avLst>
              <a:gd name="adj" fmla="val 26446"/>
            </a:avLst>
          </a:prstGeom>
          <a:solidFill>
            <a:srgbClr val="F8F9FB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845793" y="4356125"/>
            <a:ext cx="139303" cy="114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129829" y="4490070"/>
            <a:ext cx="508992" cy="114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21506" y="4348981"/>
            <a:ext cx="377190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OnGet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se ejecuta cuando el navegador pide la URL. Recibe parámetros de la ruta (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o de la query string (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?nombre=...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). Suele cargar datos para mostrarlos en la página.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643438" y="1173361"/>
            <a:ext cx="3986213" cy="228600"/>
          </a:xfrm>
          <a:prstGeom prst="roundRect">
            <a:avLst>
              <a:gd name="adj" fmla="val 33333"/>
            </a:avLst>
          </a:prstGeom>
          <a:solidFill>
            <a:srgbClr val="E1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914900" y="1230511"/>
            <a:ext cx="1229506" cy="144018"/>
          </a:xfrm>
          <a:prstGeom prst="rect">
            <a:avLst/>
          </a:prstGeom>
          <a:noFill/>
          <a:ln/>
        </p:spPr>
        <p:txBody>
          <a:bodyPr wrap="none" lIns="100013" tIns="50006" rIns="100013" bIns="50006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spc="27" kern="0" dirty="0">
                <a:solidFill>
                  <a:srgbClr val="0B5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OnPost — procesar formulario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4743450" y="123051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B5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4643438" y="1401961"/>
            <a:ext cx="3986213" cy="2070460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772025" y="1516261"/>
            <a:ext cx="1481993" cy="1856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// POST /Contactos/Editar/5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IActionResult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OnPost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(!ModelState.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IsValid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_servicio.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Actualizar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(Contacto);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Patrón PRG: Post-Redirect-Get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RedirectToPage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"Index"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47009" y="3547430"/>
            <a:ext cx="3979069" cy="432197"/>
          </a:xfrm>
          <a:prstGeom prst="roundRect">
            <a:avLst>
              <a:gd name="adj" fmla="val 26446"/>
            </a:avLst>
          </a:prstGeom>
          <a:solidFill>
            <a:srgbClr val="F8F9FB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387740" y="3636727"/>
            <a:ext cx="591145" cy="114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750594" y="3629583"/>
            <a:ext cx="377190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OnPost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se ejecuta al enviar un formulario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method="post"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Aquí validas, guardas y </a:t>
            </a:r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SIEMPRE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rediriges. Redirigir evita que el formulario se reenvíe al recargar la página (patrón PRG).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 / 50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817915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83257" y="435769"/>
            <a:ext cx="57725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ASÍNCRONO</a:t>
            </a:r>
            <a:endParaRPr lang="en-US" sz="675" dirty="0"/>
          </a:p>
        </p:txBody>
      </p:sp>
      <p:sp>
        <p:nvSpPr>
          <p:cNvPr id="5" name="Text 2"/>
          <p:cNvSpPr/>
          <p:nvPr/>
        </p:nvSpPr>
        <p:spPr>
          <a:xfrm>
            <a:off x="585788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5A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514350" y="657225"/>
            <a:ext cx="8629650" cy="247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OnPostAsync</a:t>
            </a:r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con async/await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514350" y="932259"/>
            <a:ext cx="657225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Operaciones de base de datos o APIs deben ser async para no bloquear el servidor</a:t>
            </a:r>
            <a:endParaRPr lang="en-US" sz="816" dirty="0"/>
          </a:p>
        </p:txBody>
      </p:sp>
      <p:sp>
        <p:nvSpPr>
          <p:cNvPr id="8" name="Text 5"/>
          <p:cNvSpPr/>
          <p:nvPr/>
        </p:nvSpPr>
        <p:spPr>
          <a:xfrm>
            <a:off x="514350" y="1173361"/>
            <a:ext cx="45600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CREAR.CSHTML.CS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88694" y="118229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B71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10" name="Text 7"/>
          <p:cNvSpPr/>
          <p:nvPr/>
        </p:nvSpPr>
        <p:spPr>
          <a:xfrm>
            <a:off x="514350" y="1334095"/>
            <a:ext cx="4674357" cy="3940894"/>
          </a:xfrm>
          <a:prstGeom prst="roundRect">
            <a:avLst>
              <a:gd name="adj" fmla="val 241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42938" y="1448395"/>
            <a:ext cx="2177058" cy="3695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CrearModel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PageModel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readonly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AgendaDbContext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_db;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CrearModel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AgendaDbContext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db)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_db = db;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BindProperty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Contacto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Contacto {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async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IActionResult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OnPostAsync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(!ModelState.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IsValid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await libera el hilo mientras espera la BD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_db.Contactos.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(Contacto);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_db.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SaveChangesAsync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RedirectToPage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"Index"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331582" y="1173361"/>
            <a:ext cx="37554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BUENAS PRÁCTICAS ASYNC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331582" y="1376958"/>
            <a:ext cx="3298068" cy="641152"/>
          </a:xfrm>
          <a:prstGeom prst="roundRect">
            <a:avLst>
              <a:gd name="adj" fmla="val 17827"/>
            </a:avLst>
          </a:prstGeom>
          <a:solidFill>
            <a:srgbClr val="F3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331582" y="1380530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26078" y="1376958"/>
            <a:ext cx="0" cy="641152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31582" y="2014538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45869" y="1376958"/>
            <a:ext cx="0" cy="641152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74457" y="1484114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499460" y="150911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⧖</a:t>
            </a:r>
            <a:endParaRPr lang="en-US" sz="1406" dirty="0"/>
          </a:p>
        </p:txBody>
      </p:sp>
      <p:sp>
        <p:nvSpPr>
          <p:cNvPr id="20" name="Text 17"/>
          <p:cNvSpPr/>
          <p:nvPr/>
        </p:nvSpPr>
        <p:spPr>
          <a:xfrm>
            <a:off x="5817357" y="1484114"/>
            <a:ext cx="2690850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Task&lt;IActionResult&gt;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212062" y="1659136"/>
            <a:ext cx="262533" cy="114300"/>
          </a:xfrm>
          <a:prstGeom prst="roundRect">
            <a:avLst>
              <a:gd name="adj" fmla="val 25000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817357" y="1788616"/>
            <a:ext cx="837605" cy="114300"/>
          </a:xfrm>
          <a:prstGeom prst="roundRect">
            <a:avLst>
              <a:gd name="adj" fmla="val 25000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079568" y="1788616"/>
            <a:ext cx="591145" cy="114300"/>
          </a:xfrm>
          <a:prstGeom prst="roundRect">
            <a:avLst>
              <a:gd name="adj" fmla="val 25000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817357" y="1651992"/>
            <a:ext cx="269085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Versión async del método. El sufijo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es convención. Devuelve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Task&lt;IActionResult&gt;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en vez de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IActionResult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331582" y="2103834"/>
            <a:ext cx="3298068" cy="775990"/>
          </a:xfrm>
          <a:prstGeom prst="roundRect">
            <a:avLst>
              <a:gd name="adj" fmla="val 14730"/>
            </a:avLst>
          </a:prstGeom>
          <a:solidFill>
            <a:srgbClr val="F3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5331582" y="2107406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626078" y="2103834"/>
            <a:ext cx="0" cy="77599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331582" y="2876252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345869" y="2103834"/>
            <a:ext cx="0" cy="775990"/>
          </a:xfrm>
          <a:prstGeom prst="line">
            <a:avLst/>
          </a:prstGeom>
          <a:noFill/>
          <a:ln w="28575">
            <a:solidFill>
              <a:srgbClr val="00BC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74457" y="2210991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E1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499460" y="223599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B5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406" dirty="0"/>
          </a:p>
        </p:txBody>
      </p:sp>
      <p:sp>
        <p:nvSpPr>
          <p:cNvPr id="32" name="Text 29"/>
          <p:cNvSpPr/>
          <p:nvPr/>
        </p:nvSpPr>
        <p:spPr>
          <a:xfrm>
            <a:off x="5817357" y="2210991"/>
            <a:ext cx="2690850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await no bloquea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817357" y="2384227"/>
            <a:ext cx="269085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Mientras la BD responde, el hilo se libera para atender otras peticiones. Mejora el rendimiento </a:t>
            </a:r>
            <a:pPr algn="l" indent="0" marL="0">
              <a:lnSpc>
                <a:spcPts val="1020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x10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con muchos usuarios concurrentes.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331582" y="2965549"/>
            <a:ext cx="3298068" cy="646509"/>
          </a:xfrm>
          <a:prstGeom prst="roundRect">
            <a:avLst>
              <a:gd name="adj" fmla="val 17680"/>
            </a:avLst>
          </a:prstGeom>
          <a:solidFill>
            <a:srgbClr val="F3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5331582" y="2969121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626078" y="2965549"/>
            <a:ext cx="0" cy="646509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331582" y="3608487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345869" y="2965549"/>
            <a:ext cx="0" cy="646509"/>
          </a:xfrm>
          <a:prstGeom prst="line">
            <a:avLst/>
          </a:prstGeom>
          <a:noFill/>
          <a:ln w="28575">
            <a:solidFill>
              <a:srgbClr val="FFA5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474457" y="3072705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FFF4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5499460" y="309770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A5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406" dirty="0"/>
          </a:p>
        </p:txBody>
      </p:sp>
      <p:sp>
        <p:nvSpPr>
          <p:cNvPr id="41" name="Text 38"/>
          <p:cNvSpPr/>
          <p:nvPr/>
        </p:nvSpPr>
        <p:spPr>
          <a:xfrm>
            <a:off x="5817357" y="3072705"/>
            <a:ext cx="2690850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Solo para I/O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817357" y="3245941"/>
            <a:ext cx="269085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Usa async solo en operaciones de I/O: BD, ficheros, HTTP. Para cálculos CPU no aporta nada y complica el código.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 / 50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920718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63344" y="435769"/>
            <a:ext cx="719884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FORMULARIOS</a:t>
            </a:r>
            <a:endParaRPr lang="en-US" sz="675" dirty="0"/>
          </a:p>
        </p:txBody>
      </p:sp>
      <p:sp>
        <p:nvSpPr>
          <p:cNvPr id="5" name="Text 2"/>
          <p:cNvSpPr/>
          <p:nvPr/>
        </p:nvSpPr>
        <p:spPr>
          <a:xfrm>
            <a:off x="585788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5A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514350" y="657225"/>
            <a:ext cx="8521065" cy="2476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Manejo de formularios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514350" y="932259"/>
            <a:ext cx="657225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Patrón completo: GET muestra el form vacío, POST recibe los datos y los procesa</a:t>
            </a:r>
            <a:endParaRPr lang="en-US" sz="816" dirty="0"/>
          </a:p>
        </p:txBody>
      </p:sp>
      <p:sp>
        <p:nvSpPr>
          <p:cNvPr id="8" name="Text 5"/>
          <p:cNvSpPr/>
          <p:nvPr/>
        </p:nvSpPr>
        <p:spPr>
          <a:xfrm>
            <a:off x="514350" y="1173361"/>
            <a:ext cx="45600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CREAR.CSHTML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88694" y="118229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B71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10" name="Text 7"/>
          <p:cNvSpPr/>
          <p:nvPr/>
        </p:nvSpPr>
        <p:spPr>
          <a:xfrm>
            <a:off x="514350" y="1334095"/>
            <a:ext cx="4674357" cy="3409355"/>
          </a:xfrm>
          <a:prstGeom prst="roundRect">
            <a:avLst>
              <a:gd name="adj" fmla="val 2794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42938" y="1448395"/>
            <a:ext cx="2177058" cy="319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@page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@model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CrearModel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"form"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@*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anti-CSRF automático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*@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asp-for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"Contacto.Nombre"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asp-for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"Contacto.Nombre"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asp-validation-for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"Contacto.Nombre"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asp-for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"Contacto.Telefono"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asp-for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"Contacto.Telefono"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asp-validation-for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"Contacto.Telefono"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&gt;Guardar&lt;/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331582" y="1173361"/>
            <a:ext cx="38124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CÓMO FUNCIONA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331582" y="1376958"/>
            <a:ext cx="3298068" cy="646509"/>
          </a:xfrm>
          <a:prstGeom prst="roundRect">
            <a:avLst>
              <a:gd name="adj" fmla="val 17680"/>
            </a:avLst>
          </a:prstGeom>
          <a:solidFill>
            <a:srgbClr val="F3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331582" y="1380530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26078" y="1376958"/>
            <a:ext cx="0" cy="646509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31582" y="2019895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45869" y="1376958"/>
            <a:ext cx="0" cy="646509"/>
          </a:xfrm>
          <a:prstGeom prst="line">
            <a:avLst/>
          </a:prstGeom>
          <a:noFill/>
          <a:ln w="28575">
            <a:solidFill>
              <a:srgbClr val="107C1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74457" y="1484114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E6F4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499460" y="150911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07C1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406" dirty="0"/>
          </a:p>
        </p:txBody>
      </p:sp>
      <p:sp>
        <p:nvSpPr>
          <p:cNvPr id="20" name="Text 17"/>
          <p:cNvSpPr/>
          <p:nvPr/>
        </p:nvSpPr>
        <p:spPr>
          <a:xfrm>
            <a:off x="5817357" y="1484114"/>
            <a:ext cx="2690850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Anti-CSRF automático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817357" y="1657350"/>
            <a:ext cx="269085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Razor Pages añade automáticamente un token oculto que protege contra ataques CSRF. No tienes que hacer nada.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331582" y="2109192"/>
            <a:ext cx="3298068" cy="770632"/>
          </a:xfrm>
          <a:prstGeom prst="roundRect">
            <a:avLst>
              <a:gd name="adj" fmla="val 14832"/>
            </a:avLst>
          </a:prstGeom>
          <a:solidFill>
            <a:srgbClr val="F3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5331582" y="2112764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626078" y="2109192"/>
            <a:ext cx="0" cy="770632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331582" y="2876252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345869" y="2109192"/>
            <a:ext cx="0" cy="770632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74457" y="2216348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499460" y="224135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⌧</a:t>
            </a:r>
            <a:endParaRPr lang="en-US" sz="1406" dirty="0"/>
          </a:p>
        </p:txBody>
      </p:sp>
      <p:sp>
        <p:nvSpPr>
          <p:cNvPr id="29" name="Text 26"/>
          <p:cNvSpPr/>
          <p:nvPr/>
        </p:nvSpPr>
        <p:spPr>
          <a:xfrm>
            <a:off x="5817357" y="2216348"/>
            <a:ext cx="2690850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asp-for="..."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220420" y="2391370"/>
            <a:ext cx="344686" cy="114300"/>
          </a:xfrm>
          <a:prstGeom prst="roundRect">
            <a:avLst>
              <a:gd name="adj" fmla="val 25000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7708218" y="2391370"/>
            <a:ext cx="426839" cy="114300"/>
          </a:xfrm>
          <a:prstGeom prst="roundRect">
            <a:avLst>
              <a:gd name="adj" fmla="val 25000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143625" y="2520851"/>
            <a:ext cx="180380" cy="114300"/>
          </a:xfrm>
          <a:prstGeom prst="roundRect">
            <a:avLst>
              <a:gd name="adj" fmla="val 25000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817357" y="2650331"/>
            <a:ext cx="180380" cy="114300"/>
          </a:xfrm>
          <a:prstGeom prst="roundRect">
            <a:avLst>
              <a:gd name="adj" fmla="val 25000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220755" y="2650331"/>
            <a:ext cx="837605" cy="114300"/>
          </a:xfrm>
          <a:prstGeom prst="roundRect">
            <a:avLst>
              <a:gd name="adj" fmla="val 25000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817357" y="2384227"/>
            <a:ext cx="269085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 el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con el texto correcto (desde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[Display]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y el atributo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con el id del input. Infiere el tipo: si la propiedad es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usa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type="number"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331582" y="2965549"/>
            <a:ext cx="3298068" cy="641152"/>
          </a:xfrm>
          <a:prstGeom prst="roundRect">
            <a:avLst>
              <a:gd name="adj" fmla="val 17827"/>
            </a:avLst>
          </a:prstGeom>
          <a:solidFill>
            <a:srgbClr val="F3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4"/>
          <p:cNvSpPr/>
          <p:nvPr/>
        </p:nvSpPr>
        <p:spPr>
          <a:xfrm>
            <a:off x="5331582" y="2969121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626078" y="2965549"/>
            <a:ext cx="0" cy="641152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331582" y="3603129"/>
            <a:ext cx="3298068" cy="0"/>
          </a:xfrm>
          <a:prstGeom prst="line">
            <a:avLst/>
          </a:prstGeom>
          <a:noFill/>
          <a:ln w="7144">
            <a:solidFill>
              <a:srgbClr val="EFF2F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345869" y="2965549"/>
            <a:ext cx="0" cy="641152"/>
          </a:xfrm>
          <a:prstGeom prst="line">
            <a:avLst/>
          </a:prstGeom>
          <a:noFill/>
          <a:ln w="28575">
            <a:solidFill>
              <a:srgbClr val="D1343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74457" y="3072705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FDE7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5499460" y="309770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134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406" dirty="0"/>
          </a:p>
        </p:txBody>
      </p:sp>
      <p:sp>
        <p:nvSpPr>
          <p:cNvPr id="43" name="Text 40"/>
          <p:cNvSpPr/>
          <p:nvPr/>
        </p:nvSpPr>
        <p:spPr>
          <a:xfrm>
            <a:off x="5817357" y="3072705"/>
            <a:ext cx="2800578" cy="1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asp-validation-for="..."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817357" y="3377208"/>
            <a:ext cx="467916" cy="114300"/>
          </a:xfrm>
          <a:prstGeom prst="roundRect">
            <a:avLst>
              <a:gd name="adj" fmla="val 25000"/>
            </a:avLst>
          </a:prstGeom>
          <a:solidFill>
            <a:srgbClr val="F8F9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5817357" y="3240584"/>
            <a:ext cx="269085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Muestra el mensaje de error si la validación falla. Lee de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F8F9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ModelState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que se rellena con las anotaciones del modelo.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577746" y="4843463"/>
            <a:ext cx="476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 / 50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777843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16648" y="400050"/>
            <a:ext cx="92752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PERSISTENCIA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2727646" cy="264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Redirecciones y TempData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962955"/>
            <a:ext cx="280557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Cómo pasar datos entre páginas cuando rediriges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01050" y="42862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514350" y="1277280"/>
            <a:ext cx="3986213" cy="3466170"/>
          </a:xfrm>
          <a:prstGeom prst="roundRect">
            <a:avLst>
              <a:gd name="adj" fmla="val 2748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71513" y="1405868"/>
            <a:ext cx="3781616" cy="151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spc="25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Pages/Contactos/Crear.cshtml.cs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1513" y="1599084"/>
            <a:ext cx="3376315" cy="3015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class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CrearModel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: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PageModel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IActionResult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OnPost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(!ModelState.IsValid)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Page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_servicio.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Añadir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(Contacto);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Mensaje que sobrevive a la redirección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TempData[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"Mensaje"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] =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 añadido correctamente"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RedirectToPage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"Index"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En Index.cshtml.cs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void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OnGet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Mensaje = TempData[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"Mensaje"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]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string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647009" y="1280852"/>
            <a:ext cx="3979069" cy="644277"/>
          </a:xfrm>
          <a:prstGeom prst="roundRect">
            <a:avLst>
              <a:gd name="adj" fmla="val 14784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764881" y="1384436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E1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89884" y="1409440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4" name="Text 11"/>
          <p:cNvSpPr/>
          <p:nvPr/>
        </p:nvSpPr>
        <p:spPr>
          <a:xfrm>
            <a:off x="5107781" y="1384436"/>
            <a:ext cx="3510153" cy="1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RedirectToPage("Index")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107781" y="1552315"/>
            <a:ext cx="340042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Redirige a otra página Razor por nombre. La URL cambia en el navegador. Recarga limpia: si el usuario pulsa F5 no se reenvía el POST.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647009" y="2017998"/>
            <a:ext cx="3979069" cy="644277"/>
          </a:xfrm>
          <a:prstGeom prst="roundRect">
            <a:avLst>
              <a:gd name="adj" fmla="val 14784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764881" y="2121582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E1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789884" y="2146585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❏</a:t>
            </a:r>
            <a:endParaRPr lang="en-US" sz="1406" dirty="0"/>
          </a:p>
        </p:txBody>
      </p:sp>
      <p:sp>
        <p:nvSpPr>
          <p:cNvPr id="19" name="Text 16"/>
          <p:cNvSpPr/>
          <p:nvPr/>
        </p:nvSpPr>
        <p:spPr>
          <a:xfrm>
            <a:off x="5107781" y="2121582"/>
            <a:ext cx="3400425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TempData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107781" y="2289460"/>
            <a:ext cx="340042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Diccionario que guarda datos durante UNA petición extra. Útil para mensajes de confirmación tras redirigir. Se borra automáticamente al leerlo.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647009" y="2755143"/>
            <a:ext cx="3979069" cy="644277"/>
          </a:xfrm>
          <a:prstGeom prst="roundRect">
            <a:avLst>
              <a:gd name="adj" fmla="val 14784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764881" y="2858728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E1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89884" y="2883731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406" dirty="0"/>
          </a:p>
        </p:txBody>
      </p:sp>
      <p:sp>
        <p:nvSpPr>
          <p:cNvPr id="24" name="Text 21"/>
          <p:cNvSpPr/>
          <p:nvPr/>
        </p:nvSpPr>
        <p:spPr>
          <a:xfrm>
            <a:off x="5107781" y="2858728"/>
            <a:ext cx="3400425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TempData.Keep()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107781" y="3026606"/>
            <a:ext cx="340042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 quieres que TempData sobreviva más redirecciones, llama a TempData.Keep("clave") tras leerlo.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643438" y="4432697"/>
            <a:ext cx="3986213" cy="310753"/>
          </a:xfrm>
          <a:prstGeom prst="roundRect">
            <a:avLst>
              <a:gd name="adj" fmla="val 30651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657725" y="4432697"/>
            <a:ext cx="0" cy="310753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86313" y="45237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9" name="Text 26"/>
          <p:cNvSpPr/>
          <p:nvPr/>
        </p:nvSpPr>
        <p:spPr>
          <a:xfrm>
            <a:off x="4972050" y="4518422"/>
            <a:ext cx="354330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Patrón PRG: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Post → Redirect → Get evita reenvíos duplicados al recargar.</a:t>
            </a:r>
            <a:endParaRPr lang="en-US" sz="731" dirty="0"/>
          </a:p>
        </p:txBody>
      </p:sp>
      <p:sp>
        <p:nvSpPr>
          <p:cNvPr id="30" name="Text 27"/>
          <p:cNvSpPr/>
          <p:nvPr/>
        </p:nvSpPr>
        <p:spPr>
          <a:xfrm>
            <a:off x="7596708" y="4843463"/>
            <a:ext cx="14241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 · Redirecciones y TempData</a:t>
            </a:r>
            <a:endParaRPr lang="en-US" sz="67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0" y="-857250"/>
            <a:ext cx="2571750" cy="2571750"/>
          </a:xfrm>
          <a:prstGeom prst="ellipse">
            <a:avLst/>
          </a:prstGeom>
          <a:solidFill>
            <a:srgbClr val="E1F3FC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-571500" y="3857625"/>
            <a:ext cx="2000250" cy="2000250"/>
          </a:xfrm>
          <a:prstGeom prst="ellipse">
            <a:avLst/>
          </a:prstGeom>
          <a:solidFill>
            <a:srgbClr val="DEECF9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480903" y="2728913"/>
            <a:ext cx="4663097" cy="236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13"/>
              </a:lnSpc>
              <a:buNone/>
            </a:pPr>
            <a:r>
              <a:rPr lang="en-US" sz="20250" b="1" dirty="0">
                <a:solidFill>
                  <a:srgbClr val="F3F6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20250" dirty="0"/>
          </a:p>
        </p:txBody>
      </p:sp>
      <p:sp>
        <p:nvSpPr>
          <p:cNvPr id="6" name="Text 3"/>
          <p:cNvSpPr/>
          <p:nvPr/>
        </p:nvSpPr>
        <p:spPr>
          <a:xfrm>
            <a:off x="8223461" y="4843463"/>
            <a:ext cx="8459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36 · Capítulo 05</a:t>
            </a:r>
            <a:endParaRPr lang="en-US" sz="675" dirty="0"/>
          </a:p>
        </p:txBody>
      </p:sp>
      <p:sp>
        <p:nvSpPr>
          <p:cNvPr id="7" name="Text 4"/>
          <p:cNvSpPr/>
          <p:nvPr/>
        </p:nvSpPr>
        <p:spPr>
          <a:xfrm>
            <a:off x="685800" y="1232967"/>
            <a:ext cx="84582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CAPÍTULO · RAZOR PAGES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85800" y="1475854"/>
            <a:ext cx="1198007" cy="70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5175" b="1" spc="-155" kern="0" dirty="0">
                <a:solidFill>
                  <a:srgbClr val="00BCF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5175" dirty="0"/>
          </a:p>
        </p:txBody>
      </p:sp>
      <p:sp>
        <p:nvSpPr>
          <p:cNvPr id="9" name="Text 6"/>
          <p:cNvSpPr/>
          <p:nvPr/>
        </p:nvSpPr>
        <p:spPr>
          <a:xfrm>
            <a:off x="1548854" y="1761604"/>
            <a:ext cx="6909346" cy="401193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06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685800" y="2333104"/>
            <a:ext cx="628650" cy="28575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85800" y="2561704"/>
            <a:ext cx="8161020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Agenda de teléfonos</a:t>
            </a:r>
            <a:endParaRPr lang="en-US" sz="3150" dirty="0"/>
          </a:p>
        </p:txBody>
      </p:sp>
      <p:sp>
        <p:nvSpPr>
          <p:cNvPr id="12" name="Text 9"/>
          <p:cNvSpPr/>
          <p:nvPr/>
        </p:nvSpPr>
        <p:spPr>
          <a:xfrm>
            <a:off x="685800" y="3124609"/>
            <a:ext cx="5143500" cy="43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 primera aplicación CRUD completa: listar, crear, editar y borrar contactos — en memoria, sin base de datos.</a:t>
            </a:r>
            <a:endParaRPr lang="en-US" sz="1069" dirty="0"/>
          </a:p>
        </p:txBody>
      </p:sp>
      <p:sp>
        <p:nvSpPr>
          <p:cNvPr id="13" name="Text 10"/>
          <p:cNvSpPr/>
          <p:nvPr/>
        </p:nvSpPr>
        <p:spPr>
          <a:xfrm>
            <a:off x="685800" y="376397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6" dirty="0"/>
          </a:p>
        </p:txBody>
      </p:sp>
      <p:sp>
        <p:nvSpPr>
          <p:cNvPr id="14" name="Text 11"/>
          <p:cNvSpPr/>
          <p:nvPr/>
        </p:nvSpPr>
        <p:spPr>
          <a:xfrm>
            <a:off x="834339" y="3760403"/>
            <a:ext cx="4150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Listar</a:t>
            </a:r>
            <a:endParaRPr lang="en-US" sz="788" dirty="0"/>
          </a:p>
        </p:txBody>
      </p:sp>
      <p:sp>
        <p:nvSpPr>
          <p:cNvPr id="15" name="Text 12"/>
          <p:cNvSpPr/>
          <p:nvPr/>
        </p:nvSpPr>
        <p:spPr>
          <a:xfrm>
            <a:off x="1301055" y="376397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406" dirty="0"/>
          </a:p>
        </p:txBody>
      </p:sp>
      <p:sp>
        <p:nvSpPr>
          <p:cNvPr id="16" name="Text 13"/>
          <p:cNvSpPr/>
          <p:nvPr/>
        </p:nvSpPr>
        <p:spPr>
          <a:xfrm>
            <a:off x="1501080" y="3760403"/>
            <a:ext cx="3691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Crear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906153" y="376397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406" dirty="0"/>
          </a:p>
        </p:txBody>
      </p:sp>
      <p:sp>
        <p:nvSpPr>
          <p:cNvPr id="18" name="Text 15"/>
          <p:cNvSpPr/>
          <p:nvPr/>
        </p:nvSpPr>
        <p:spPr>
          <a:xfrm>
            <a:off x="2059693" y="3760403"/>
            <a:ext cx="4150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Editar</a:t>
            </a:r>
            <a:endParaRPr lang="en-US" sz="788" dirty="0"/>
          </a:p>
        </p:txBody>
      </p:sp>
      <p:sp>
        <p:nvSpPr>
          <p:cNvPr id="19" name="Text 16"/>
          <p:cNvSpPr/>
          <p:nvPr/>
        </p:nvSpPr>
        <p:spPr>
          <a:xfrm>
            <a:off x="2529222" y="376397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406" dirty="0"/>
          </a:p>
        </p:txBody>
      </p:sp>
      <p:sp>
        <p:nvSpPr>
          <p:cNvPr id="20" name="Text 17"/>
          <p:cNvSpPr/>
          <p:nvPr/>
        </p:nvSpPr>
        <p:spPr>
          <a:xfrm>
            <a:off x="2691763" y="3760403"/>
            <a:ext cx="4150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Borrar</a:t>
            </a:r>
            <a:endParaRPr lang="en-US" sz="788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504" y="388906"/>
            <a:ext cx="481841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400050"/>
            <a:ext cx="4461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PASO 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2862662" cy="2476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17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Modelo de datos: Contacto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946547"/>
            <a:ext cx="2726345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Una clase C# simple representa un contacto de la agenda</a:t>
            </a:r>
            <a:endParaRPr lang="en-US" sz="844" dirty="0"/>
          </a:p>
        </p:txBody>
      </p:sp>
      <p:sp>
        <p:nvSpPr>
          <p:cNvPr id="7" name="Text 4"/>
          <p:cNvSpPr/>
          <p:nvPr/>
        </p:nvSpPr>
        <p:spPr>
          <a:xfrm>
            <a:off x="8401050" y="4572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514350" y="1221581"/>
            <a:ext cx="3986213" cy="3521869"/>
          </a:xfrm>
          <a:prstGeom prst="roundRect">
            <a:avLst>
              <a:gd name="adj" fmla="val 2705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71513" y="1350169"/>
            <a:ext cx="3671888" cy="137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spc="25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Models/Contacto.cs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1513" y="1529097"/>
            <a:ext cx="3106192" cy="3085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System.ComponentModel.DataAnnotations;</a:t>
            </a:r>
            <a:endParaRPr lang="en-US" sz="800" dirty="0"/>
          </a:p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namespace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MiAgenda.Models</a:t>
            </a:r>
            <a:endParaRPr lang="en-US" sz="800" dirty="0"/>
          </a:p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class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Contacto</a:t>
            </a:r>
            <a:endParaRPr lang="en-US" sz="800" dirty="0"/>
          </a:p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int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Id {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Required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(ErrorMessage =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"El nombre es obligatorio"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)]</a:t>
            </a:r>
            <a:endParaRPr lang="en-US" sz="800" dirty="0"/>
          </a:p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StringLength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ErrorMessage =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"Máximo 50 caracteres"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)]</a:t>
            </a:r>
            <a:endParaRPr lang="en-US" sz="800" dirty="0"/>
          </a:p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Display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(Name =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"Nombre completo"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)]</a:t>
            </a:r>
            <a:endParaRPr lang="en-US" sz="800" dirty="0"/>
          </a:p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string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Nombre {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Required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(ErrorMessage =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"El teléfono es obligatorio"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)]</a:t>
            </a:r>
            <a:endParaRPr lang="en-US" sz="800" dirty="0"/>
          </a:p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Phone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(ErrorMessage =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"Teléfono no válido"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)]</a:t>
            </a:r>
            <a:endParaRPr lang="en-US" sz="800" dirty="0"/>
          </a:p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Display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(Name =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"Teléfono"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)]</a:t>
            </a:r>
            <a:endParaRPr lang="en-US" sz="800" dirty="0"/>
          </a:p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string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Telefono {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EmailAddress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(ErrorMessage =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"Email no válido"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)]</a:t>
            </a:r>
            <a:endParaRPr lang="en-US" sz="800" dirty="0"/>
          </a:p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Display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(Name =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"Correo electrónico"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)]</a:t>
            </a:r>
            <a:endParaRPr lang="en-US" sz="800" dirty="0"/>
          </a:p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string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Email {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647009" y="1225153"/>
            <a:ext cx="3979069" cy="1689497"/>
          </a:xfrm>
          <a:prstGeom prst="roundRect">
            <a:avLst>
              <a:gd name="adj" fmla="val 5638"/>
            </a:avLst>
          </a:prstGeom>
          <a:solidFill>
            <a:srgbClr val="FFFFFF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50581" y="1228725"/>
          <a:ext cx="3971925" cy="914400"/>
        </p:xfrm>
        <a:graphic>
          <a:graphicData uri="http://schemas.openxmlformats.org/drawingml/2006/table">
            <a:tbl>
              <a:tblPr/>
              <a:tblGrid>
                <a:gridCol w="1553654"/>
                <a:gridCol w="241827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5A9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Atributo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5A9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Qué valida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C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5A9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[Required]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2474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Campo obligatorio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5A9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[StringLength(n)]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2474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Longitud máxima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5A9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[Phone]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2474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Formato de teléfono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5A9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[EmailAddress]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2474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Formato de email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5A9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[Display(Name=)]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2474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Etiqueta visible en formularios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5A9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[Range(min,max)]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2474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Número entre dos valores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4643438" y="3003947"/>
            <a:ext cx="3986213" cy="630436"/>
          </a:xfrm>
          <a:prstGeom prst="roundRect">
            <a:avLst>
              <a:gd name="adj" fmla="val 15109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4657725" y="3003947"/>
            <a:ext cx="0" cy="630436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14888" y="31253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6" name="Text 12"/>
          <p:cNvSpPr/>
          <p:nvPr/>
        </p:nvSpPr>
        <p:spPr>
          <a:xfrm>
            <a:off x="5000625" y="3118247"/>
            <a:ext cx="3486150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 anotaciones de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System.ComponentModel.DataAnnotations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validan automáticamente en servidor. Si el cliente tiene JavaScript activo, ASP.NET genera validación en cliente también.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602066" y="4843463"/>
            <a:ext cx="141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37 · Modelo de datos Contacto</a:t>
            </a:r>
            <a:endParaRPr lang="en-US" sz="67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504" y="388906"/>
            <a:ext cx="481841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400050"/>
            <a:ext cx="4461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PASO 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3862882" cy="247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17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Almacenamiento en memoria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946547"/>
            <a:ext cx="3511711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 servicio singleton guarda los contactos mientras la app está en marcha</a:t>
            </a:r>
            <a:endParaRPr lang="en-US" sz="844" dirty="0"/>
          </a:p>
        </p:txBody>
      </p:sp>
      <p:sp>
        <p:nvSpPr>
          <p:cNvPr id="7" name="Text 4"/>
          <p:cNvSpPr/>
          <p:nvPr/>
        </p:nvSpPr>
        <p:spPr>
          <a:xfrm>
            <a:off x="8401050" y="4572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514350" y="1221581"/>
            <a:ext cx="3986213" cy="3521869"/>
          </a:xfrm>
          <a:prstGeom prst="roundRect">
            <a:avLst>
              <a:gd name="adj" fmla="val 2705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71513" y="1350169"/>
            <a:ext cx="3781616" cy="13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spc="25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Services/AgendaService.cs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1513" y="1521954"/>
            <a:ext cx="2782714" cy="3092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MiAgenda.Models;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namespace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MiAgenda.Services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class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AgendaService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private readonly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List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Contacto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 _contactos =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private int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_nextId =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List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Contacto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ObtenerTodos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_contactos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OrderBy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(c =&gt; c.Nombre)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ToList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Contacto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?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ObtenerPorId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id)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_contactos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FirstOrDefault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(c =&gt; c.Id == id);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void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Añadir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Contacto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c)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c.Id = _nextId++;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_contactos.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Add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(c);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void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Actualizar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Contacto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c)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var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idx = _contactos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FindIndex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(x =&gt; x.Id == c.Id);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(idx &gt;=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 _contactos[idx] = c;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void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Eliminar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id)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_contactos.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RemoveAll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(c =&gt; c.Id == id);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647009" y="1225153"/>
            <a:ext cx="3979069" cy="964853"/>
          </a:xfrm>
          <a:prstGeom prst="roundRect">
            <a:avLst>
              <a:gd name="adj" fmla="val 11846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822031" y="137160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406" dirty="0"/>
          </a:p>
        </p:txBody>
      </p:sp>
      <p:sp>
        <p:nvSpPr>
          <p:cNvPr id="13" name="Text 10"/>
          <p:cNvSpPr/>
          <p:nvPr/>
        </p:nvSpPr>
        <p:spPr>
          <a:xfrm>
            <a:off x="5022056" y="1371600"/>
            <a:ext cx="3429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Por qué en memoria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22031" y="1578769"/>
            <a:ext cx="3629025" cy="46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 esta demo usamos una lista en memoria. Al reiniciar la app, los datos se pierden. En el capítulo 6 veremos cómo persistirlos en SQLite con Entity Framework Core.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43438" y="2279303"/>
            <a:ext cx="3986213" cy="536451"/>
          </a:xfrm>
          <a:prstGeom prst="roundRect">
            <a:avLst>
              <a:gd name="adj" fmla="val 17756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57725" y="2279303"/>
            <a:ext cx="0" cy="536451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14888" y="2393603"/>
            <a:ext cx="36718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Program.cs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814888" y="2582912"/>
            <a:ext cx="2418159" cy="118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builder</a:t>
            </a:r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1B1B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.Services.</a:t>
            </a:r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AddSingleton</a:t>
            </a:r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1B1B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AgendaService</a:t>
            </a:r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1B1B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&gt;();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4647009" y="2905051"/>
            <a:ext cx="3979069" cy="1834828"/>
          </a:xfrm>
          <a:prstGeom prst="roundRect">
            <a:avLst>
              <a:gd name="adj" fmla="val 6229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22031" y="305149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1" name="Text 18"/>
          <p:cNvSpPr/>
          <p:nvPr/>
        </p:nvSpPr>
        <p:spPr>
          <a:xfrm>
            <a:off x="5022056" y="3051497"/>
            <a:ext cx="3429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AddSingleton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822031" y="3258666"/>
            <a:ext cx="3629025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 </a:t>
            </a:r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UNA instancia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compartida por toda la app. Todos los usuarios ven los mismos datos — perfecto para una demo de aula.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825603" y="3657823"/>
            <a:ext cx="1164431" cy="382191"/>
          </a:xfrm>
          <a:prstGeom prst="roundRect">
            <a:avLst>
              <a:gd name="adj" fmla="val 19938"/>
            </a:avLst>
          </a:prstGeom>
          <a:solidFill>
            <a:srgbClr val="FFFFFF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900613" y="3718545"/>
            <a:ext cx="101441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CICLO DE VIDA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900613" y="3839989"/>
            <a:ext cx="10144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 entera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054328" y="3657823"/>
            <a:ext cx="1164431" cy="382191"/>
          </a:xfrm>
          <a:prstGeom prst="roundRect">
            <a:avLst>
              <a:gd name="adj" fmla="val 19938"/>
            </a:avLst>
          </a:prstGeom>
          <a:solidFill>
            <a:srgbClr val="FFFFFF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129338" y="3718545"/>
            <a:ext cx="1014412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ESTADO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129338" y="3839989"/>
            <a:ext cx="10144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Compartido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283053" y="3657823"/>
            <a:ext cx="1164431" cy="382191"/>
          </a:xfrm>
          <a:prstGeom prst="roundRect">
            <a:avLst>
              <a:gd name="adj" fmla="val 19938"/>
            </a:avLst>
          </a:prstGeom>
          <a:solidFill>
            <a:srgbClr val="FFFFFF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7358063" y="3718545"/>
            <a:ext cx="101441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PERSISTENCIA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358063" y="3839989"/>
            <a:ext cx="101441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134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494129" y="4843463"/>
            <a:ext cx="15349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38 · Almacenamiento en memoria</a:t>
            </a:r>
            <a:endParaRPr lang="en-US" sz="67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504" y="388906"/>
            <a:ext cx="481841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400050"/>
            <a:ext cx="4461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PASO 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2965951" cy="26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17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Página Index: listar contactos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8401050" y="4572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514350" y="1032272"/>
            <a:ext cx="4000500" cy="3711178"/>
          </a:xfrm>
          <a:prstGeom prst="roundRect">
            <a:avLst>
              <a:gd name="adj" fmla="val 256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1513" y="1160859"/>
            <a:ext cx="3795903" cy="131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spc="24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Pages/Contactos/Index.cshtml.cs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71513" y="1327063"/>
            <a:ext cx="2386347" cy="3287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Microsoft.AspNetCore.Mvc.RazorPages;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MiAgenda.Models;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MiAgenda.Services;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namespace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MiAgenda.Pages.Contactos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class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IndexModel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: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PageModel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private readonly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AgendaService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_svc;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IndexModel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AgendaService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svc)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_svc = svc;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List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Contacto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 Contactos {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string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? Mensaje {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void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OnGet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Contactos = _svc.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ObtenerTodos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Mensaje = TempData[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"Mensaje"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]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string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629150" y="1032272"/>
            <a:ext cx="4000500" cy="3711178"/>
          </a:xfrm>
          <a:prstGeom prst="roundRect">
            <a:avLst>
              <a:gd name="adj" fmla="val 256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786313" y="1160859"/>
            <a:ext cx="3795903" cy="131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spc="24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Pages/Contactos/Index.cshtml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786313" y="1327063"/>
            <a:ext cx="2431219" cy="3287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@page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@model IndexModel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h1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&gt;Mis contactos&lt;/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h1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@if (!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string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IsNullOrEmpty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(Model.Mensaje))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div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"alert alert-success"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@Model.Mensaje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div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asp-page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"Crear"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"btn btn-primary"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+ Nuevo contacto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@if (Model.Contactos.Count ==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&gt;No tienes contactos todavía.&lt;/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else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table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"table"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@foreach (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var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c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Model.Contactos)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tr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td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&gt;@c.Nombre&lt;/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td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td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&gt;@c.Telefono&lt;/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td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td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&gt;@c.Email&lt;/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td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td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asp-page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"Editar"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asp-route-id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"@c.Id"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&gt;Editar&lt;/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asp-page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"Eliminar"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asp-route-id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"@c.Id"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&gt;Borrar&lt;/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td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tr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table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178924" y="4843463"/>
            <a:ext cx="9004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39 · Página Index</a:t>
            </a:r>
            <a:endParaRPr lang="en-US" sz="67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504" y="388906"/>
            <a:ext cx="481841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400050"/>
            <a:ext cx="4461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PASO 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2891053" cy="248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b="1" spc="-16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Página Crear: formulario nuevo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8401050" y="4572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514350" y="987177"/>
            <a:ext cx="4000500" cy="3391942"/>
          </a:xfrm>
          <a:prstGeom prst="roundRect">
            <a:avLst>
              <a:gd name="adj" fmla="val 2808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1513" y="1115764"/>
            <a:ext cx="3795903" cy="131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spc="24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Pages/Contactos/Crear.cshtml.cs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71513" y="1289112"/>
            <a:ext cx="2829706" cy="2961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Microsoft.AspNetCore.Mvc;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Microsoft.AspNetCore.Mvc.RazorPages;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MiAgenda.Models;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MiAgenda.Services;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namespace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MiAgenda.Pages.Contactos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class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CrearModel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: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PageModel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private readonly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AgendaService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_svc;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CrearModel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AgendaService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svc)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_svc = svc;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BindProperty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]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Contacto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Contacto {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void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OnGet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 { }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IActionResult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OnPost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(!ModelState.IsValid)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Page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_svc.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Añadir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(Contacto);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TempData[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"Mensaje"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] =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 creado correctamente"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RedirectToPage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"Index"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629150" y="987177"/>
            <a:ext cx="4000500" cy="3391942"/>
          </a:xfrm>
          <a:prstGeom prst="roundRect">
            <a:avLst>
              <a:gd name="adj" fmla="val 2808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786313" y="1115764"/>
            <a:ext cx="3795903" cy="131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spc="24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Pages/Contactos/Crear.cshtml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786313" y="1289112"/>
            <a:ext cx="2272717" cy="2961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@page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@model CrearModel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h1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&gt;Nuevo contacto&lt;/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h1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form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method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"post"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div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label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asp-for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"Contacto.Nombre"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&gt;&lt;/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label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input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asp-for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"Contacto.Nombre"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span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asp-validation-for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"Contacto.Nombre"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span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div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div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label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asp-for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"Contacto.Telefono"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&gt;&lt;/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label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input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asp-for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"Contacto.Telefono"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span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asp-validation-for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"Contacto.Telefono"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span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div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div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label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asp-for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"Contacto.Email"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&gt;&lt;/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label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input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asp-for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"Contacto.Email"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span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asp-validation-for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"Contacto.Email"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span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div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button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type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"submit"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&gt;Guardar&lt;/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button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asp-page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"Index"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&gt;Cancelar&lt;/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form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14350" y="4464844"/>
            <a:ext cx="8115300" cy="278606"/>
          </a:xfrm>
          <a:prstGeom prst="roundRect">
            <a:avLst>
              <a:gd name="adj" fmla="val 34188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28638" y="4464844"/>
            <a:ext cx="0" cy="278606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2938" y="45434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6" name="Text 13"/>
          <p:cNvSpPr/>
          <p:nvPr/>
        </p:nvSpPr>
        <p:spPr>
          <a:xfrm>
            <a:off x="828675" y="4536281"/>
            <a:ext cx="770096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Los Tag Helpers </a:t>
            </a:r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asp-for</a:t>
            </a:r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generan labels, inputs y validación automáticamente. Si el POST falla, </a:t>
            </a:r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Page()</a:t>
            </a:r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vuelve a mostrar el form con los valores introducidos y los mensajes de error.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8177250" y="4843463"/>
            <a:ext cx="902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 · Página Crear</a:t>
            </a:r>
            <a:endParaRPr lang="en-US" sz="67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504" y="388906"/>
            <a:ext cx="481841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400050"/>
            <a:ext cx="4461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PASO 5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2867356" cy="248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b="1" spc="-16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Página Editar: cargar y guardar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8401050" y="4572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514350" y="987177"/>
            <a:ext cx="4000500" cy="3391942"/>
          </a:xfrm>
          <a:prstGeom prst="roundRect">
            <a:avLst>
              <a:gd name="adj" fmla="val 2808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1513" y="1115764"/>
            <a:ext cx="3795903" cy="131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spc="24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Pages/Contactos/Editar.cshtml.cs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71513" y="1281968"/>
            <a:ext cx="2321607" cy="2968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Microsoft.AspNetCore.Mvc;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Microsoft.AspNetCore.Mvc.RazorPages;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MiAgenda.Models;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MiAgenda.Services;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namespace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MiAgenda.Pages.Contactos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class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EditarModel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: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PageModel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private readonly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AgendaService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_svc;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EditarModel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AgendaService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svc)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_svc = svc;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BindProperty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]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Contacto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Contacto {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// GET /Contactos/Editar/5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IActionResult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OnGet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id)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Contacto = _svc.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ObtenerPorId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(id);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(Contacto ==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null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NotFound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Page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IActionResult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OnPost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(!ModelState.IsValid)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Page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_svc.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Actualizar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(Contacto);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TempData[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"Mensaje"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] =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 actualizado"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RedirectToPage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"Index"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629150" y="987177"/>
            <a:ext cx="4000500" cy="3391942"/>
          </a:xfrm>
          <a:prstGeom prst="roundRect">
            <a:avLst>
              <a:gd name="adj" fmla="val 2808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786313" y="1115764"/>
            <a:ext cx="3795903" cy="131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spc="24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Pages/Contactos/Editar.cshtml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786313" y="1281968"/>
            <a:ext cx="2158752" cy="2968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@page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"{id:int}"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@model EditarModel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h1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&gt;Editar contacto&lt;/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h1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form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method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"post"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@* Campo oculto para preservar el Id *@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input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type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"hidden"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asp-for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"Contacto.Id"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div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label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asp-for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"Contacto.Nombre"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&gt;&lt;/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label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input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asp-for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"Contacto.Nombre"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span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asp-validation-for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"Contacto.Nombre"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span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div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div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label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asp-for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"Contacto.Telefono"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&gt;&lt;/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label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input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asp-for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"Contacto.Telefono"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span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asp-validation-for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"Contacto.Telefono"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span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div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div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label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asp-for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"Contacto.Email"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&gt;&lt;/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label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input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asp-for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"Contacto.Email"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span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asp-validation-for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"Contacto.Email"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span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div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button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type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"submit"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&gt;Guardar cambios&lt;/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button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asp-page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"Index"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&gt;Cancelar&lt;/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form</a:t>
            </a:r>
            <a:pPr algn="l" indent="0" marL="0">
              <a:lnSpc>
                <a:spcPts val="775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14350" y="4464844"/>
            <a:ext cx="8115300" cy="278606"/>
          </a:xfrm>
          <a:prstGeom prst="roundRect">
            <a:avLst>
              <a:gd name="adj" fmla="val 34188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28638" y="4464844"/>
            <a:ext cx="0" cy="278606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2938" y="45434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266" dirty="0"/>
          </a:p>
        </p:txBody>
      </p:sp>
      <p:sp>
        <p:nvSpPr>
          <p:cNvPr id="16" name="Text 13"/>
          <p:cNvSpPr/>
          <p:nvPr/>
        </p:nvSpPr>
        <p:spPr>
          <a:xfrm>
            <a:off x="828675" y="4536281"/>
            <a:ext cx="770096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@page "{id:int}"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declara que la URL recibe un parámetro id entero.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/Contactos/Editar/5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lo asigna al parámetro id de OnGet.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156711" y="4843463"/>
            <a:ext cx="9275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41 · Página Editar</a:t>
            </a:r>
            <a:endParaRPr lang="en-US" sz="67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504" y="388906"/>
            <a:ext cx="481841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400050"/>
            <a:ext cx="4461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PASO 6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3548435" cy="231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b="1" spc="-16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Página Eliminar: confirmar y borrar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930027"/>
            <a:ext cx="3225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Patrón recomendado: GET muestra confirmación, POST ejecuta el borrado</a:t>
            </a:r>
            <a:endParaRPr lang="en-US" sz="788" dirty="0"/>
          </a:p>
        </p:txBody>
      </p:sp>
      <p:sp>
        <p:nvSpPr>
          <p:cNvPr id="7" name="Text 4"/>
          <p:cNvSpPr/>
          <p:nvPr/>
        </p:nvSpPr>
        <p:spPr>
          <a:xfrm>
            <a:off x="8401050" y="4572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D134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514350" y="1165771"/>
            <a:ext cx="4000500" cy="3213348"/>
          </a:xfrm>
          <a:prstGeom prst="roundRect">
            <a:avLst>
              <a:gd name="adj" fmla="val 2964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71513" y="1294358"/>
            <a:ext cx="3795903" cy="131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spc="24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Pages/Contactos/Eliminar.cshtml.cs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1513" y="1467706"/>
            <a:ext cx="2358219" cy="2782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Microsoft.AspNetCore.Mvc;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Microsoft.AspNetCore.Mvc.RazorPages;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MiAgenda.Models;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MiAgenda.Services;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namespace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MiAgenda.Pages.Contactos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class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EliminarModel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: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PageModel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private readonly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AgendaService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_svc;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EliminarModel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AgendaService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svc)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_svc = svc;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BindProperty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]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Contacto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Contacto {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GET muestra la confirmación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IActionResult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OnGet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id)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Contacto = _svc.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ObtenerPorId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(id);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(Contacto ==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null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NotFound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Page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POST ejecuta el borrado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IActionResult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OnPost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id)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_svc.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Eliminar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(id);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TempData[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"Mensaje"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] =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 eliminado"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RedirectToPage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"Index"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629150" y="1165771"/>
            <a:ext cx="4000500" cy="3213348"/>
          </a:xfrm>
          <a:prstGeom prst="roundRect">
            <a:avLst>
              <a:gd name="adj" fmla="val 2964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786313" y="1294358"/>
            <a:ext cx="3795903" cy="131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spc="24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Pages/Contactos/Eliminar.cshtml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786313" y="1467706"/>
            <a:ext cx="2186880" cy="2782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@page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"{id:int}"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@model EliminarModel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h1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&gt;Eliminar contacto&lt;/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h1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div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"alert alert-danger"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&gt;¿Seguro que quieres eliminar a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strong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&gt;@Model.Contacto.Nombre&lt;/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strong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&gt;?&lt;/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&gt;Teléfono: @Model.Contacto.Telefono&lt;/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div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form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method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"post"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input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type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"hidden"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asp-for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"Contacto.Id"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button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type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"submit"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"btn-danger"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Sí, eliminar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button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asp-page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"Index"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"btn"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Cancelar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form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14350" y="4464844"/>
            <a:ext cx="8115300" cy="278606"/>
          </a:xfrm>
          <a:prstGeom prst="roundRect">
            <a:avLst>
              <a:gd name="adj" fmla="val 34188"/>
            </a:avLst>
          </a:prstGeom>
          <a:solidFill>
            <a:srgbClr val="FD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528638" y="4464844"/>
            <a:ext cx="0" cy="278606"/>
          </a:xfrm>
          <a:prstGeom prst="line">
            <a:avLst/>
          </a:prstGeom>
          <a:noFill/>
          <a:ln w="28575">
            <a:solidFill>
              <a:srgbClr val="D134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938" y="45434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134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828675" y="4536281"/>
            <a:ext cx="770096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Separar </a:t>
            </a:r>
            <a:pPr algn="l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D134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(confirmar)</a:t>
            </a:r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 </a:t>
            </a:r>
            <a:pPr algn="l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D134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 (borrar)</a:t>
            </a:r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evita que un crawler o un enlace accidental borre datos. El borrado real solo ocurre al enviar el formulario.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8062503" y="4843463"/>
            <a:ext cx="10427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42 · Página Eliminar</a:t>
            </a:r>
            <a:endParaRPr lang="en-US" sz="67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504" y="388906"/>
            <a:ext cx="481841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400050"/>
            <a:ext cx="4461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PASO 7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4178067" cy="247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17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Validación de formularios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946547"/>
            <a:ext cx="3798243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Anotaciones de datos + ModelState = validación automática en servidor y cliente</a:t>
            </a:r>
            <a:endParaRPr lang="en-US" sz="844" dirty="0"/>
          </a:p>
        </p:txBody>
      </p:sp>
      <p:sp>
        <p:nvSpPr>
          <p:cNvPr id="7" name="Text 4"/>
          <p:cNvSpPr/>
          <p:nvPr/>
        </p:nvSpPr>
        <p:spPr>
          <a:xfrm>
            <a:off x="8401050" y="4572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514350" y="1221581"/>
            <a:ext cx="3986213" cy="3521869"/>
          </a:xfrm>
          <a:prstGeom prst="roundRect">
            <a:avLst>
              <a:gd name="adj" fmla="val 2705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71513" y="1350169"/>
            <a:ext cx="3671888" cy="1316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spc="24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Modelo + PageModel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1513" y="1516373"/>
            <a:ext cx="2836069" cy="30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En el modelo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class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Contacto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Required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(ErrorMessage =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"El nombre es obligatorio"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)]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StringLength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 MinimumLength =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ErrorMessage =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"Entre 2 y 50 caracteres"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)]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Display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(Name =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"Nombre completo"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)]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string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Nombre {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Required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(ErrorMessage =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"El teléfono es obligatorio"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)]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Phone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(ErrorMessage =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"Teléfono no válido"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)]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RegularExpression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@"^[0-9+\s\-]{9,15}$"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ErrorMessage =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"Formato: 600123456 o +34 600 123 456"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)]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string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Telefono {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En el PageModel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IActionResult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OnPost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(!ModelState.IsValid)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ModelState contiene todos los errores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detectados por las anotaciones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Page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... guardar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647009" y="1225153"/>
            <a:ext cx="3979069" cy="600298"/>
          </a:xfrm>
          <a:prstGeom prst="roundRect">
            <a:avLst>
              <a:gd name="adj" fmla="val 15867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750594" y="13144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1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71668" y="133552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4" name="Text 11"/>
          <p:cNvSpPr/>
          <p:nvPr/>
        </p:nvSpPr>
        <p:spPr>
          <a:xfrm>
            <a:off x="5064919" y="1314450"/>
            <a:ext cx="3457575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Doble validación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064919" y="1487686"/>
            <a:ext cx="3457575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ASP.NET valida en servidor (siempre) y genera scripts jQuery para validar en cliente (si el navegador tiene JS activo).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647009" y="1918320"/>
            <a:ext cx="3979069" cy="600298"/>
          </a:xfrm>
          <a:prstGeom prst="roundRect">
            <a:avLst>
              <a:gd name="adj" fmla="val 15867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750594" y="2007617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1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771668" y="202869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266" dirty="0"/>
          </a:p>
        </p:txBody>
      </p:sp>
      <p:sp>
        <p:nvSpPr>
          <p:cNvPr id="19" name="Text 16"/>
          <p:cNvSpPr/>
          <p:nvPr/>
        </p:nvSpPr>
        <p:spPr>
          <a:xfrm>
            <a:off x="5064919" y="2007617"/>
            <a:ext cx="3457575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ModelState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064919" y="2180853"/>
            <a:ext cx="3457575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Objeto que recolecta todos los errores de validación.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ModelState.IsValid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es true solo si no hay ninguno.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ModelState["Nombre"].Errors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devuelve la lista de mensajes.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647009" y="2611487"/>
            <a:ext cx="3979069" cy="724533"/>
          </a:xfrm>
          <a:prstGeom prst="roundRect">
            <a:avLst>
              <a:gd name="adj" fmla="val 13146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750594" y="2700784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1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71668" y="272185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266" dirty="0"/>
          </a:p>
        </p:txBody>
      </p:sp>
      <p:sp>
        <p:nvSpPr>
          <p:cNvPr id="24" name="Text 21"/>
          <p:cNvSpPr/>
          <p:nvPr/>
        </p:nvSpPr>
        <p:spPr>
          <a:xfrm>
            <a:off x="5064919" y="2700784"/>
            <a:ext cx="3457575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Repopula el form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64919" y="2874020"/>
            <a:ext cx="3457575" cy="3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 devolver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Page()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los Tag Helpers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asp-for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vuelven a renderizar el form CON los valores introducidos y los mensajes de error debajo de cada campo. El usuario no tiene que reescribir todo.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643438" y="4443413"/>
            <a:ext cx="3986213" cy="300038"/>
          </a:xfrm>
          <a:prstGeom prst="roundRect">
            <a:avLst>
              <a:gd name="adj" fmla="val 31746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657725" y="4443413"/>
            <a:ext cx="0" cy="300038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86313" y="45291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07C1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9" name="Text 26"/>
          <p:cNvSpPr/>
          <p:nvPr/>
        </p:nvSpPr>
        <p:spPr>
          <a:xfrm>
            <a:off x="4936611" y="4529138"/>
            <a:ext cx="460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107C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Servidor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5618448" y="453628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B71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6074420" y="45291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07C1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6260157" y="4529138"/>
            <a:ext cx="66613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107C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Cliente (jQuery)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7170093" y="453628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B71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34" name="Text 31"/>
          <p:cNvSpPr/>
          <p:nvPr/>
        </p:nvSpPr>
        <p:spPr>
          <a:xfrm>
            <a:off x="7626065" y="45291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07C1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5" name="Text 32"/>
          <p:cNvSpPr/>
          <p:nvPr/>
        </p:nvSpPr>
        <p:spPr>
          <a:xfrm>
            <a:off x="7811802" y="4529138"/>
            <a:ext cx="70354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107C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ModelState.IsValid</a:t>
            </a:r>
            <a:endParaRPr lang="en-US" sz="675" dirty="0"/>
          </a:p>
        </p:txBody>
      </p:sp>
      <p:sp>
        <p:nvSpPr>
          <p:cNvPr id="36" name="Text 33"/>
          <p:cNvSpPr/>
          <p:nvPr/>
        </p:nvSpPr>
        <p:spPr>
          <a:xfrm>
            <a:off x="7639794" y="4843463"/>
            <a:ext cx="13776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43 · Validación de formularios</a:t>
            </a:r>
            <a:endParaRPr lang="en-US" sz="67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0" y="-857250"/>
            <a:ext cx="2571750" cy="2571750"/>
          </a:xfrm>
          <a:prstGeom prst="ellipse">
            <a:avLst/>
          </a:prstGeom>
          <a:solidFill>
            <a:srgbClr val="E1F3FC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-571500" y="3857625"/>
            <a:ext cx="2000250" cy="2000250"/>
          </a:xfrm>
          <a:prstGeom prst="ellipse">
            <a:avLst/>
          </a:prstGeom>
          <a:solidFill>
            <a:srgbClr val="DEECF9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480903" y="2728913"/>
            <a:ext cx="4663097" cy="236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13"/>
              </a:lnSpc>
              <a:buNone/>
            </a:pPr>
            <a:r>
              <a:rPr lang="en-US" sz="20250" b="1" dirty="0">
                <a:solidFill>
                  <a:srgbClr val="F3F6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20250" dirty="0"/>
          </a:p>
        </p:txBody>
      </p:sp>
      <p:sp>
        <p:nvSpPr>
          <p:cNvPr id="6" name="Text 3"/>
          <p:cNvSpPr/>
          <p:nvPr/>
        </p:nvSpPr>
        <p:spPr>
          <a:xfrm>
            <a:off x="8223461" y="4843463"/>
            <a:ext cx="8459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44 · Capítulo 06</a:t>
            </a:r>
            <a:endParaRPr lang="en-US" sz="675" dirty="0"/>
          </a:p>
        </p:txBody>
      </p:sp>
      <p:sp>
        <p:nvSpPr>
          <p:cNvPr id="7" name="Text 4"/>
          <p:cNvSpPr/>
          <p:nvPr/>
        </p:nvSpPr>
        <p:spPr>
          <a:xfrm>
            <a:off x="685800" y="1232967"/>
            <a:ext cx="84582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CAPÍTULO · RAZOR PAGES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85800" y="1475854"/>
            <a:ext cx="1198007" cy="70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5175" b="1" spc="-155" kern="0" dirty="0">
                <a:solidFill>
                  <a:srgbClr val="00BCF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5175" dirty="0"/>
          </a:p>
        </p:txBody>
      </p:sp>
      <p:sp>
        <p:nvSpPr>
          <p:cNvPr id="9" name="Text 6"/>
          <p:cNvSpPr/>
          <p:nvPr/>
        </p:nvSpPr>
        <p:spPr>
          <a:xfrm>
            <a:off x="1548854" y="1761604"/>
            <a:ext cx="6909346" cy="401193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06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685800" y="2333104"/>
            <a:ext cx="628650" cy="28575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85800" y="2561704"/>
            <a:ext cx="8458200" cy="45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Lista de tareas con base de datos</a:t>
            </a:r>
            <a:endParaRPr lang="en-US" sz="3150" dirty="0"/>
          </a:p>
        </p:txBody>
      </p:sp>
      <p:sp>
        <p:nvSpPr>
          <p:cNvPr id="12" name="Text 9"/>
          <p:cNvSpPr/>
          <p:nvPr/>
        </p:nvSpPr>
        <p:spPr>
          <a:xfrm>
            <a:off x="685800" y="3124609"/>
            <a:ext cx="5143500" cy="43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 el salto a persistencia real: Entity Framework Core con SQLite para que las tareas no se borren al reiniciar.</a:t>
            </a:r>
            <a:endParaRPr lang="en-US" sz="1069" dirty="0"/>
          </a:p>
        </p:txBody>
      </p:sp>
      <p:sp>
        <p:nvSpPr>
          <p:cNvPr id="13" name="Text 10"/>
          <p:cNvSpPr/>
          <p:nvPr/>
        </p:nvSpPr>
        <p:spPr>
          <a:xfrm>
            <a:off x="685800" y="376397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4" name="Text 11"/>
          <p:cNvSpPr/>
          <p:nvPr/>
        </p:nvSpPr>
        <p:spPr>
          <a:xfrm>
            <a:off x="861065" y="3760403"/>
            <a:ext cx="4791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EF Core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392920" y="376397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6" name="Text 13"/>
          <p:cNvSpPr/>
          <p:nvPr/>
        </p:nvSpPr>
        <p:spPr>
          <a:xfrm>
            <a:off x="1557732" y="3760403"/>
            <a:ext cx="4386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SQLite</a:t>
            </a:r>
            <a:endParaRPr lang="en-US" sz="788" dirty="0"/>
          </a:p>
        </p:txBody>
      </p:sp>
      <p:sp>
        <p:nvSpPr>
          <p:cNvPr id="17" name="Text 14"/>
          <p:cNvSpPr/>
          <p:nvPr/>
        </p:nvSpPr>
        <p:spPr>
          <a:xfrm>
            <a:off x="2052042" y="376397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8" name="Text 15"/>
          <p:cNvSpPr/>
          <p:nvPr/>
        </p:nvSpPr>
        <p:spPr>
          <a:xfrm>
            <a:off x="2200204" y="3760403"/>
            <a:ext cx="7218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Migraciones</a:t>
            </a:r>
            <a:endParaRPr lang="en-US" sz="788" dirty="0"/>
          </a:p>
        </p:txBody>
      </p:sp>
      <p:sp>
        <p:nvSpPr>
          <p:cNvPr id="19" name="Text 16"/>
          <p:cNvSpPr/>
          <p:nvPr/>
        </p:nvSpPr>
        <p:spPr>
          <a:xfrm>
            <a:off x="2950927" y="376397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20" name="Text 17"/>
          <p:cNvSpPr/>
          <p:nvPr/>
        </p:nvSpPr>
        <p:spPr>
          <a:xfrm>
            <a:off x="3150952" y="3760403"/>
            <a:ext cx="9106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CRUD persistente</a:t>
            </a:r>
            <a:endParaRPr lang="en-US" sz="788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490" y="388906"/>
            <a:ext cx="630615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91695" y="400050"/>
            <a:ext cx="63020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CONCEPTO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3495392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¿Qué es Entity Framework Core?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401050" y="4572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514350" y="1048680"/>
            <a:ext cx="8115300" cy="582885"/>
          </a:xfrm>
          <a:prstGeom prst="roundRect">
            <a:avLst>
              <a:gd name="adj" fmla="val 16341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28638" y="1048680"/>
            <a:ext cx="0" cy="582885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7012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688" dirty="0"/>
          </a:p>
        </p:txBody>
      </p:sp>
      <p:sp>
        <p:nvSpPr>
          <p:cNvPr id="10" name="Text 7"/>
          <p:cNvSpPr/>
          <p:nvPr/>
        </p:nvSpPr>
        <p:spPr>
          <a:xfrm>
            <a:off x="942975" y="1162980"/>
            <a:ext cx="7543800" cy="35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EF Core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es el ORM (Object-Relational Mapper) oficial de .NET. Te permite leer y escribir en la base de datos usando objetos C# — sin escribir SQL manualmente. Define tus clases, configura la conexión, y EF Core se encarga de traducir tus operaciones a consultas SQL optimizadas.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17922" y="1778012"/>
            <a:ext cx="2621756" cy="2961866"/>
          </a:xfrm>
          <a:prstGeom prst="roundRect">
            <a:avLst>
              <a:gd name="adj" fmla="val 4360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64369" y="1910172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97230" y="1943033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4" name="Text 11"/>
          <p:cNvSpPr/>
          <p:nvPr/>
        </p:nvSpPr>
        <p:spPr>
          <a:xfrm>
            <a:off x="664369" y="2310222"/>
            <a:ext cx="232886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Modelos = tablas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64369" y="2524534"/>
            <a:ext cx="232886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Cada clase C# (Contacto, Tarea) se convierte en una tabla. Cada propiedad se convierte en una columna. Las relaciones entre clases se traducen en claves foráneas.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261122" y="1778012"/>
            <a:ext cx="2621756" cy="2961866"/>
          </a:xfrm>
          <a:prstGeom prst="roundRect">
            <a:avLst>
              <a:gd name="adj" fmla="val 4360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407569" y="1910172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440430" y="1943033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9" name="Text 16"/>
          <p:cNvSpPr/>
          <p:nvPr/>
        </p:nvSpPr>
        <p:spPr>
          <a:xfrm>
            <a:off x="3407569" y="2310222"/>
            <a:ext cx="232886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LINQ to SQL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407569" y="2538822"/>
            <a:ext cx="2236663" cy="253603"/>
          </a:xfrm>
          <a:prstGeom prst="roundRect">
            <a:avLst>
              <a:gd name="adj" fmla="val 15023"/>
            </a:avLst>
          </a:prstGeom>
          <a:solidFill>
            <a:srgbClr val="0078D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706378" y="2817428"/>
            <a:ext cx="2002036" cy="114300"/>
          </a:xfrm>
          <a:prstGeom prst="roundRect">
            <a:avLst>
              <a:gd name="adj" fmla="val 33333"/>
            </a:avLst>
          </a:prstGeom>
          <a:solidFill>
            <a:srgbClr val="0078D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407569" y="2524534"/>
            <a:ext cx="232886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Escribes consultas con LINQ: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0078D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_db.Contactos.Where(c =&gt; c.Nombre.Contains("Ana")).ToList()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EF Core las traduce a SQL: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0078D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Contactos WHERE Nombre LIKE %Ana%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004322" y="1778012"/>
            <a:ext cx="2621756" cy="2961866"/>
          </a:xfrm>
          <a:prstGeom prst="roundRect">
            <a:avLst>
              <a:gd name="adj" fmla="val 4360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150769" y="1910172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183630" y="1943033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688" dirty="0"/>
          </a:p>
        </p:txBody>
      </p:sp>
      <p:sp>
        <p:nvSpPr>
          <p:cNvPr id="26" name="Text 23"/>
          <p:cNvSpPr/>
          <p:nvPr/>
        </p:nvSpPr>
        <p:spPr>
          <a:xfrm>
            <a:off x="6150769" y="2310222"/>
            <a:ext cx="232886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Migraciones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150769" y="2524534"/>
            <a:ext cx="232886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Cuando cambias un modelo, generas una migración que actualiza el esquema de la BD. Igual que Git, pero para bases de datos. Sin perder datos existentes.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343329" y="4843463"/>
            <a:ext cx="16978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45 · ¿Qué es Entity Framework Core?</a:t>
            </a:r>
            <a:endParaRPr lang="en-US" sz="67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504" y="388906"/>
            <a:ext cx="481841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400050"/>
            <a:ext cx="4461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PASO 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3116874" cy="2476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17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Instalar EF Core + SQLite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946547"/>
            <a:ext cx="2968451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Tres paquetes NuGet y una cadena de conexión — eso es todo</a:t>
            </a:r>
            <a:endParaRPr lang="en-US" sz="844" dirty="0"/>
          </a:p>
        </p:txBody>
      </p:sp>
      <p:sp>
        <p:nvSpPr>
          <p:cNvPr id="7" name="Text 4"/>
          <p:cNvSpPr/>
          <p:nvPr/>
        </p:nvSpPr>
        <p:spPr>
          <a:xfrm>
            <a:off x="8401050" y="4572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514350" y="1221581"/>
            <a:ext cx="3986213" cy="1306971"/>
          </a:xfrm>
          <a:prstGeom prst="roundRect">
            <a:avLst>
              <a:gd name="adj" fmla="val 7288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71513" y="1350169"/>
            <a:ext cx="3781616" cy="131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spc="24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CLI — desde la carpeta del proyecto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1513" y="1523516"/>
            <a:ext cx="2711611" cy="876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Desde la carpeta del proyecto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dotnet add package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Microsoft.EntityFrameworkCore.Sqlite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dotnet add package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Microsoft.EntityFrameworkCore.Tools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dotnet add package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Microsoft.EntityFrameworkCore.Design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Verificar instalación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dotnet ef --version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14350" y="2614278"/>
            <a:ext cx="3986213" cy="2129172"/>
          </a:xfrm>
          <a:prstGeom prst="roundRect">
            <a:avLst>
              <a:gd name="adj" fmla="val 3579"/>
            </a:avLst>
          </a:prstGeom>
          <a:solidFill>
            <a:srgbClr val="0F0F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14363" y="2700003"/>
            <a:ext cx="3786188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appsettings.json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14363" y="2869667"/>
            <a:ext cx="1955043" cy="82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"ConnectionStrings"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: {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"Default"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: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"Data Source=agenda.db"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647009" y="1225153"/>
            <a:ext cx="3979069" cy="600298"/>
          </a:xfrm>
          <a:prstGeom prst="roundRect">
            <a:avLst>
              <a:gd name="adj" fmla="val 15867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750594" y="13144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1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771668" y="133552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064919" y="1314450"/>
            <a:ext cx="3457575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Paquete Sqlite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064919" y="1487686"/>
            <a:ext cx="3457575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Incluye el proveedor de SQLite para EF Core. No necesitas instalar SQLite por separado: el paquete NuGet trae todo lo necesario.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647009" y="1918320"/>
            <a:ext cx="3979069" cy="600298"/>
          </a:xfrm>
          <a:prstGeom prst="roundRect">
            <a:avLst>
              <a:gd name="adj" fmla="val 15867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750594" y="2007617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1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771668" y="202869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064919" y="2007617"/>
            <a:ext cx="3457575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Paquete Tools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064919" y="2180853"/>
            <a:ext cx="3457575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Habilita los comandos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ef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(migraciones, scaffolding). Necesario solo en desarrollo, no en producción.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647009" y="2611487"/>
            <a:ext cx="3979069" cy="600298"/>
          </a:xfrm>
          <a:prstGeom prst="roundRect">
            <a:avLst>
              <a:gd name="adj" fmla="val 15867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750594" y="2700784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1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71668" y="272185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064919" y="2700784"/>
            <a:ext cx="3457575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Cadena de conexión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064919" y="2874020"/>
            <a:ext cx="3457575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Source=agenda.db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crea un archivo SQLite en la raíz del proyecto. SQLite guarda todo en un solo archivo — perfecto para demos y apps pequeñas.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643438" y="4443413"/>
            <a:ext cx="3986213" cy="300038"/>
          </a:xfrm>
          <a:prstGeom prst="roundRect">
            <a:avLst>
              <a:gd name="adj" fmla="val 31746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657725" y="4443413"/>
            <a:ext cx="0" cy="300038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86313" y="4534495"/>
            <a:ext cx="39205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TOTAL:</a:t>
            </a:r>
            <a:endParaRPr lang="en-US" sz="619" dirty="0"/>
          </a:p>
        </p:txBody>
      </p:sp>
      <p:sp>
        <p:nvSpPr>
          <p:cNvPr id="32" name="Text 29"/>
          <p:cNvSpPr/>
          <p:nvPr/>
        </p:nvSpPr>
        <p:spPr>
          <a:xfrm>
            <a:off x="5137584" y="4529138"/>
            <a:ext cx="80258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247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paquetes NuGet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5908104" y="4529138"/>
            <a:ext cx="9432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045287" y="4529138"/>
            <a:ext cx="120189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247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cadena en appsettings.json</a:t>
            </a:r>
            <a:endParaRPr lang="en-US" sz="675" dirty="0"/>
          </a:p>
        </p:txBody>
      </p:sp>
      <p:sp>
        <p:nvSpPr>
          <p:cNvPr id="35" name="Text 32"/>
          <p:cNvSpPr/>
          <p:nvPr/>
        </p:nvSpPr>
        <p:spPr>
          <a:xfrm>
            <a:off x="7243874" y="4529138"/>
            <a:ext cx="9432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381056" y="4529138"/>
            <a:ext cx="11342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07C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Listo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642920" y="4843463"/>
            <a:ext cx="13742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46 · Instalar EF Core + SQLite</a:t>
            </a:r>
            <a:endParaRPr lang="en-US" sz="67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504" y="388906"/>
            <a:ext cx="481841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400050"/>
            <a:ext cx="4461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PASO 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2361506" cy="248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b="1" spc="-16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Modelo Tarea y DbContext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8415338" y="457200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2109" dirty="0"/>
          </a:p>
        </p:txBody>
      </p:sp>
      <p:sp>
        <p:nvSpPr>
          <p:cNvPr id="7" name="Text 4"/>
          <p:cNvSpPr/>
          <p:nvPr/>
        </p:nvSpPr>
        <p:spPr>
          <a:xfrm>
            <a:off x="514350" y="987177"/>
            <a:ext cx="4000500" cy="2957066"/>
          </a:xfrm>
          <a:prstGeom prst="roundRect">
            <a:avLst>
              <a:gd name="adj" fmla="val 3221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1513" y="1115764"/>
            <a:ext cx="368617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spc="23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Models/Tarea.cs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71513" y="1262211"/>
            <a:ext cx="2296158" cy="255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System.ComponentModel.DataAnnotations;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namespace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MiAgenda.Models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class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Tarea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int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Id {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Required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]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StringLength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)]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string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Titulo {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string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? Descripcion {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bool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Completada {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DateTime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FechaCreacion {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DateTime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.Now;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DateTime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? FechaLimite {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629150" y="987177"/>
            <a:ext cx="4000500" cy="2957066"/>
          </a:xfrm>
          <a:prstGeom prst="roundRect">
            <a:avLst>
              <a:gd name="adj" fmla="val 3221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786313" y="1115764"/>
            <a:ext cx="3795903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spc="23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Data/AgendaDbContext.cs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786313" y="1262211"/>
            <a:ext cx="2431331" cy="255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Microsoft.EntityFrameworkCore;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MiAgenda.Models;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namespace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MiAgenda.Data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class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AgendaDbContext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: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DbContext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AgendaDbContext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DbContextOptions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AgendaDbContext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 options)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: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base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(options) { 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DbSet por cada tabla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DbSet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Tarea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 Tareas {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DbSet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Contacto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 Contactos {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protected override void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OnModelCreating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ModelBuilder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modelBuilder)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Configuración adicional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modelBuilder.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Entity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Tarea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&gt;()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Property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(t =&gt; t.Titulo)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IsRequired</a:t>
            </a:r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14350" y="4029968"/>
            <a:ext cx="4000500" cy="713482"/>
          </a:xfrm>
          <a:prstGeom prst="roundRect">
            <a:avLst>
              <a:gd name="adj" fmla="val 13350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28638" y="4029968"/>
            <a:ext cx="0" cy="713482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2938" y="4101405"/>
            <a:ext cx="3771900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Program.cs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42938" y="4244280"/>
            <a:ext cx="2115889" cy="427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builder</a:t>
            </a:r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.Services.</a:t>
            </a:r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AddDbContext</a:t>
            </a:r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AgendaDbContext</a:t>
            </a:r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&gt;(</a:t>
            </a:r>
            <a:endParaRPr lang="en-US" sz="800" dirty="0"/>
          </a:p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options =&gt; options.</a:t>
            </a:r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UseSqlite</a:t>
            </a:r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endParaRPr lang="en-US" sz="800" dirty="0"/>
          </a:p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builder</a:t>
            </a:r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.Configuration</a:t>
            </a:r>
            <a:endParaRPr lang="en-US" sz="800" dirty="0"/>
          </a:p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GetConnectionString</a:t>
            </a:r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"Default"</a:t>
            </a:r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)));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632722" y="4033540"/>
            <a:ext cx="3993356" cy="706338"/>
          </a:xfrm>
          <a:prstGeom prst="roundRect">
            <a:avLst>
              <a:gd name="adj" fmla="val 16182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736306" y="411569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19" name="Text 16"/>
          <p:cNvSpPr/>
          <p:nvPr/>
        </p:nvSpPr>
        <p:spPr>
          <a:xfrm>
            <a:off x="4922044" y="4108549"/>
            <a:ext cx="36004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Cada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DbSet&lt;T&gt;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expone una tabla. Para usarla: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_context.Tareas.Add(tarea); await _context.SaveChangesAsync();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607089" y="4843463"/>
            <a:ext cx="1412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 · Modelo Tarea y DbContext</a:t>
            </a:r>
            <a:endParaRPr lang="en-US" sz="67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504" y="388906"/>
            <a:ext cx="481841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400050"/>
            <a:ext cx="4461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PASO 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3622718" cy="247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17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Migraciones: crear la base de datos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946547"/>
            <a:ext cx="329338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Convierte tus clases C# en tablas reales con dos comandos</a:t>
            </a:r>
            <a:endParaRPr lang="en-US" sz="844" dirty="0"/>
          </a:p>
        </p:txBody>
      </p:sp>
      <p:sp>
        <p:nvSpPr>
          <p:cNvPr id="7" name="Text 4"/>
          <p:cNvSpPr/>
          <p:nvPr/>
        </p:nvSpPr>
        <p:spPr>
          <a:xfrm>
            <a:off x="8401050" y="4572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514350" y="1221581"/>
            <a:ext cx="3986213" cy="3521869"/>
          </a:xfrm>
          <a:prstGeom prst="roundRect">
            <a:avLst>
              <a:gd name="adj" fmla="val 2705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71513" y="1350169"/>
            <a:ext cx="3671888" cy="1316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spc="24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CLI de EF Core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1513" y="1523516"/>
            <a:ext cx="2212107" cy="223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 1. Crear la migración inicial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   (genera código C# que crea las tablas)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dotnet ef migrations add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Inicial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 2. Aplicar la migración a la BD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   (ejecuta el código y crea agenda.db)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dotnet ef database update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 3. Ver migraciones aplicadas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dotnet ef migrations list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4. Borrar la BD completa (¡cuidado!)</a:t>
            </a:r>
            <a:endParaRPr lang="en-US" sz="8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dotnet ef database drop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647009" y="1225153"/>
            <a:ext cx="3979069" cy="463786"/>
          </a:xfrm>
          <a:prstGeom prst="roundRect">
            <a:avLst>
              <a:gd name="adj" fmla="val 20537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750594" y="13144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50594" y="1314450"/>
            <a:ext cx="2714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064919" y="1314450"/>
            <a:ext cx="3228333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Definir los modelos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064919" y="1480542"/>
            <a:ext cx="3074603" cy="1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 tus clases C# (Tarea, Contacto) con las propiedades y anotaciones que quieras.</a:t>
            </a:r>
            <a:endParaRPr lang="en-US" sz="647" dirty="0"/>
          </a:p>
        </p:txBody>
      </p:sp>
      <p:sp>
        <p:nvSpPr>
          <p:cNvPr id="16" name="Text 13"/>
          <p:cNvSpPr/>
          <p:nvPr/>
        </p:nvSpPr>
        <p:spPr>
          <a:xfrm>
            <a:off x="4647009" y="1767520"/>
            <a:ext cx="3979069" cy="701985"/>
          </a:xfrm>
          <a:prstGeom prst="roundRect">
            <a:avLst>
              <a:gd name="adj" fmla="val 13569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750594" y="1856817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750594" y="1856817"/>
            <a:ext cx="2714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064919" y="1856817"/>
            <a:ext cx="3457575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Crear migración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064919" y="2030053"/>
            <a:ext cx="1257300" cy="107156"/>
          </a:xfrm>
          <a:prstGeom prst="roundRect">
            <a:avLst>
              <a:gd name="adj" fmla="val 26667"/>
            </a:avLst>
          </a:prstGeom>
          <a:solidFill>
            <a:srgbClr val="0078D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206593" y="2030053"/>
            <a:ext cx="469702" cy="107156"/>
          </a:xfrm>
          <a:prstGeom prst="roundRect">
            <a:avLst>
              <a:gd name="adj" fmla="val 26667"/>
            </a:avLst>
          </a:prstGeom>
          <a:solidFill>
            <a:srgbClr val="0078D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064919" y="2022909"/>
            <a:ext cx="3457575" cy="35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0078D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ef migrations add Inicial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genera dos archivos en 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0078D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Migrations/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uno con el código C# de la migración y otro con el modelo snapshot. EF compara el snapshot actual con el anterior para detectar cambios.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647009" y="2548086"/>
            <a:ext cx="3979069" cy="582885"/>
          </a:xfrm>
          <a:prstGeom prst="roundRect">
            <a:avLst>
              <a:gd name="adj" fmla="val 16341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750594" y="2637383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750594" y="2637383"/>
            <a:ext cx="2714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064919" y="2637383"/>
            <a:ext cx="3457575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Aplicar a la BD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064919" y="2810619"/>
            <a:ext cx="994767" cy="107156"/>
          </a:xfrm>
          <a:prstGeom prst="roundRect">
            <a:avLst>
              <a:gd name="adj" fmla="val 26667"/>
            </a:avLst>
          </a:prstGeom>
          <a:solidFill>
            <a:srgbClr val="0078D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964388" y="2810619"/>
            <a:ext cx="394692" cy="107156"/>
          </a:xfrm>
          <a:prstGeom prst="roundRect">
            <a:avLst>
              <a:gd name="adj" fmla="val 26667"/>
            </a:avLst>
          </a:prstGeom>
          <a:solidFill>
            <a:srgbClr val="0078D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064919" y="2803475"/>
            <a:ext cx="3457575" cy="238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0078D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ef database update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ejecuta las migraciones pendientes. Crea el archivo 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0078D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agenda.db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(SQLite) con todas las tablas y columnas.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647009" y="3209553"/>
            <a:ext cx="3979069" cy="582885"/>
          </a:xfrm>
          <a:prstGeom prst="roundRect">
            <a:avLst>
              <a:gd name="adj" fmla="val 16341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750594" y="32988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750594" y="3298850"/>
            <a:ext cx="2714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064919" y="3298850"/>
            <a:ext cx="3457575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Iterar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064919" y="3472086"/>
            <a:ext cx="2974479" cy="226256"/>
          </a:xfrm>
          <a:prstGeom prst="roundRect">
            <a:avLst>
              <a:gd name="adj" fmla="val 12629"/>
            </a:avLst>
          </a:prstGeom>
          <a:solidFill>
            <a:srgbClr val="0078D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555382" y="3591185"/>
            <a:ext cx="994767" cy="107156"/>
          </a:xfrm>
          <a:prstGeom prst="roundRect">
            <a:avLst>
              <a:gd name="adj" fmla="val 26667"/>
            </a:avLst>
          </a:prstGeom>
          <a:solidFill>
            <a:srgbClr val="0078D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064919" y="3464942"/>
            <a:ext cx="3457575" cy="238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 añades una propiedad a un modelo, repite los pasos: 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0078D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ef migrations add AnadirCampo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0078D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ef database update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EF hace un ALTER TABLE sin perder datos.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8206383" y="4843463"/>
            <a:ext cx="8668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48 · Migraciones</a:t>
            </a:r>
            <a:endParaRPr lang="en-US" sz="67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504" y="388906"/>
            <a:ext cx="481841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400050"/>
            <a:ext cx="4461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PASO 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71513"/>
            <a:ext cx="2387759" cy="2075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2"/>
              </a:lnSpc>
              <a:buNone/>
            </a:pPr>
            <a:r>
              <a:rPr lang="en-US" sz="1463" b="1" spc="-15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CRUD de tareas con EF Core</a:t>
            </a:r>
            <a:endParaRPr lang="en-US" sz="1463" dirty="0"/>
          </a:p>
        </p:txBody>
      </p:sp>
      <p:sp>
        <p:nvSpPr>
          <p:cNvPr id="6" name="Text 3"/>
          <p:cNvSpPr/>
          <p:nvPr/>
        </p:nvSpPr>
        <p:spPr>
          <a:xfrm>
            <a:off x="514350" y="906475"/>
            <a:ext cx="24559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Operaciones async para no bloquear el servidor</a:t>
            </a:r>
            <a:endParaRPr lang="en-US" sz="731" dirty="0"/>
          </a:p>
        </p:txBody>
      </p:sp>
      <p:sp>
        <p:nvSpPr>
          <p:cNvPr id="7" name="Text 4"/>
          <p:cNvSpPr/>
          <p:nvPr/>
        </p:nvSpPr>
        <p:spPr>
          <a:xfrm>
            <a:off x="8415338" y="457200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109" dirty="0"/>
          </a:p>
        </p:txBody>
      </p:sp>
      <p:sp>
        <p:nvSpPr>
          <p:cNvPr id="8" name="Text 5"/>
          <p:cNvSpPr/>
          <p:nvPr/>
        </p:nvSpPr>
        <p:spPr>
          <a:xfrm>
            <a:off x="514350" y="1131503"/>
            <a:ext cx="4000500" cy="3247616"/>
          </a:xfrm>
          <a:prstGeom prst="roundRect">
            <a:avLst>
              <a:gd name="adj" fmla="val 2933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71513" y="1260091"/>
            <a:ext cx="3795903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spc="23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Pages/Tareas/Index.cshtml.cs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1513" y="1406537"/>
            <a:ext cx="2431107" cy="284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Microsoft.AspNetCore.Mvc;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Microsoft.AspNetCore.Mvc.RazorPages;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Microsoft.EntityFrameworkCore;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MiAgenda.Data;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using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MiAgenda.Models;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namespace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MiAgenda.Pages.Tareas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class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IndexModel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: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PageModel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private readonly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AgendaDbContext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_db;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IndexModel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AgendaDbContext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db) =&gt; _db = db;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List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Tarea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 Tareas {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 }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async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Task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OnGetAsync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Tareas =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await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_db.Tareas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OrderByDescending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(t =&gt; t.FechaCreacion)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ToListAsync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POST: marcar como completada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async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IActionResult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OnPostCompletarAsync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id)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var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tarea =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await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_db.Tareas.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FindAsync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(id);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(tarea !=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null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tarea.Completada = !tarea.Completada;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await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_db.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SaveChangesAsync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RedirectToPage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i="1" dirty="0">
                <a:solidFill>
                  <a:srgbClr val="6A99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POST: borrar tarea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async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IActionResult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OnPostBorrarAsync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id)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var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tarea =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await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_db.Tareas.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FindAsync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(id);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(tarea !=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null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_db.Tareas.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Remove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(tarea);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await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_db.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SaveChangesAsync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RedirectToPage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629150" y="1131503"/>
            <a:ext cx="4000500" cy="3247616"/>
          </a:xfrm>
          <a:prstGeom prst="roundRect">
            <a:avLst>
              <a:gd name="adj" fmla="val 2933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786313" y="1260091"/>
            <a:ext cx="3795903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spc="23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Pages/Tareas/Index.cshtml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786313" y="1406537"/>
            <a:ext cx="2199605" cy="284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@page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@model IndexModel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h1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&gt;Mis tareas&lt;/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h1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form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method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"post"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asp-page-handler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"Completar"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input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type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"number"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"id"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hidden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/&gt;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form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@foreach (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var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t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Model.Tareas)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div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"@(t.Completada ? "done" : "")"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strong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&gt;@t.Titulo&lt;/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strong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small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&gt;@t.FechaCreacion.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ToString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"dd/MM"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)&lt;/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small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form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method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"post"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asp-page-handler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"Completar"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asp-route-id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"@t.Id"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button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&gt;✓&lt;/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button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form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form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method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"post"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asp-page-handler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"Borrar"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asp-route-id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"@t.Id"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button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&gt;×&lt;/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button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form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&lt;/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div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endParaRPr lang="en-US" sz="800" dirty="0"/>
          </a:p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14350" y="4464844"/>
            <a:ext cx="8115300" cy="278606"/>
          </a:xfrm>
          <a:prstGeom prst="roundRect">
            <a:avLst>
              <a:gd name="adj" fmla="val 34188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528638" y="4464844"/>
            <a:ext cx="0" cy="278606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938" y="45434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828675" y="4536281"/>
            <a:ext cx="770096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OnPostCompletarAsync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y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OnPostBorrarAsync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son handlers.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asp-page-handler="Completar"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ejecuta OnPostCompletarAsync.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asp-route-id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pasa el parámetro.</a:t>
            </a:r>
            <a:endParaRPr lang="en-US" sz="647" dirty="0"/>
          </a:p>
        </p:txBody>
      </p:sp>
      <p:sp>
        <p:nvSpPr>
          <p:cNvPr id="18" name="Text 15"/>
          <p:cNvSpPr/>
          <p:nvPr/>
        </p:nvSpPr>
        <p:spPr>
          <a:xfrm>
            <a:off x="7509421" y="4843463"/>
            <a:ext cx="15184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49 · CRUD de tareas con EF Core</a:t>
            </a:r>
            <a:endParaRPr lang="en-US" sz="67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0" y="-714375"/>
            <a:ext cx="2000250" cy="2000250"/>
          </a:xfrm>
          <a:prstGeom prst="ellipse">
            <a:avLst/>
          </a:prstGeom>
          <a:solidFill>
            <a:srgbClr val="E1F3FC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-428625" y="4143375"/>
            <a:ext cx="1428750" cy="1428750"/>
          </a:xfrm>
          <a:prstGeom prst="ellipse">
            <a:avLst/>
          </a:prstGeom>
          <a:solidFill>
            <a:srgbClr val="DEECF9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71488" y="3302980"/>
            <a:ext cx="0" cy="410766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48026" y="4843463"/>
            <a:ext cx="5833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6B71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 · Cierre</a:t>
            </a:r>
            <a:endParaRPr lang="en-US" sz="675" dirty="0"/>
          </a:p>
        </p:txBody>
      </p:sp>
      <p:sp>
        <p:nvSpPr>
          <p:cNvPr id="7" name="Text 4"/>
          <p:cNvSpPr/>
          <p:nvPr/>
        </p:nvSpPr>
        <p:spPr>
          <a:xfrm>
            <a:off x="434340" y="274606"/>
            <a:ext cx="990258" cy="208026"/>
          </a:xfrm>
          <a:prstGeom prst="roundRect">
            <a:avLst>
              <a:gd name="adj" fmla="val 18315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" y="285750"/>
            <a:ext cx="9445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CIERRE DEL CURSO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528638"/>
            <a:ext cx="4764592" cy="429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¡Enhorabuena!</a:t>
            </a:r>
            <a:endParaRPr lang="en-US" sz="3150" dirty="0"/>
          </a:p>
        </p:txBody>
      </p:sp>
      <p:sp>
        <p:nvSpPr>
          <p:cNvPr id="10" name="Text 7"/>
          <p:cNvSpPr/>
          <p:nvPr/>
        </p:nvSpPr>
        <p:spPr>
          <a:xfrm>
            <a:off x="457200" y="985838"/>
            <a:ext cx="406535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Has llegado hasta aquí. Estos son los siguientes pasos para seguir aprendiendo.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372475" y="342900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94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3094" dirty="0"/>
          </a:p>
        </p:txBody>
      </p:sp>
      <p:sp>
        <p:nvSpPr>
          <p:cNvPr id="12" name="Text 9"/>
          <p:cNvSpPr/>
          <p:nvPr/>
        </p:nvSpPr>
        <p:spPr>
          <a:xfrm>
            <a:off x="460772" y="1275159"/>
            <a:ext cx="3198949" cy="1938524"/>
          </a:xfrm>
          <a:prstGeom prst="roundRect">
            <a:avLst>
              <a:gd name="adj" fmla="val 5896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92931" y="138410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07C1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266" dirty="0"/>
          </a:p>
        </p:txBody>
      </p:sp>
      <p:sp>
        <p:nvSpPr>
          <p:cNvPr id="14" name="Text 11"/>
          <p:cNvSpPr/>
          <p:nvPr/>
        </p:nvSpPr>
        <p:spPr>
          <a:xfrm>
            <a:off x="778669" y="1378744"/>
            <a:ext cx="27488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37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 QUE HAS APRENDIDO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92931" y="1575197"/>
            <a:ext cx="2934630" cy="1537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63"/>
              </a:lnSpc>
              <a:buSzPct val="100000"/>
              <a:buChar char="•"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✓Qué es ASP.NET Core y Razor Pages</a:t>
            </a:r>
            <a:endParaRPr lang="en-US" sz="800" dirty="0"/>
          </a:p>
          <a:p>
            <a:pPr algn="l" marL="342900" indent="-342900">
              <a:lnSpc>
                <a:spcPts val="1063"/>
              </a:lnSpc>
              <a:buSzPct val="100000"/>
              <a:buChar char="•"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✓Sintaxis Razor: @, bloques, directivas, Tag Helpers</a:t>
            </a:r>
            <a:endParaRPr lang="en-US" sz="800" dirty="0"/>
          </a:p>
          <a:p>
            <a:pPr algn="l" marL="342900" indent="-342900">
              <a:lnSpc>
                <a:spcPts val="1063"/>
              </a:lnSpc>
              <a:buSzPct val="100000"/>
              <a:buChar char="•"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✓PageModel: OnGet, OnPost, [BindProperty], async</a:t>
            </a:r>
            <a:endParaRPr lang="en-US" sz="800" dirty="0"/>
          </a:p>
          <a:p>
            <a:pPr algn="l" marL="342900" indent="-342900">
              <a:lnSpc>
                <a:spcPts val="1063"/>
              </a:lnSpc>
              <a:buSzPct val="100000"/>
              <a:buChar char="•"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✓CRUD completo de contactos en memoria</a:t>
            </a:r>
            <a:endParaRPr lang="en-US" sz="800" dirty="0"/>
          </a:p>
          <a:p>
            <a:pPr algn="l" marL="342900" indent="-342900">
              <a:lnSpc>
                <a:spcPts val="1063"/>
              </a:lnSpc>
              <a:buSzPct val="100000"/>
              <a:buChar char="•"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✓Entity Framework Core con SQLite y migraciones</a:t>
            </a:r>
            <a:endParaRPr lang="en-US" sz="800" dirty="0"/>
          </a:p>
          <a:p>
            <a:pPr algn="l" marL="342900" indent="-342900">
              <a:lnSpc>
                <a:spcPts val="1063"/>
              </a:lnSpc>
              <a:buSzPct val="100000"/>
              <a:buChar char="•"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✓CRUD completo de tareas persistente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806168" y="127694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3991905" y="1271588"/>
            <a:ext cx="46947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37" kern="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SIGUIENTES PASOS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809740" y="1471613"/>
            <a:ext cx="4873377" cy="458428"/>
          </a:xfrm>
          <a:prstGeom prst="roundRect">
            <a:avLst>
              <a:gd name="adj" fmla="val 20778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913324" y="1560909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970474" y="161805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406" dirty="0"/>
          </a:p>
        </p:txBody>
      </p:sp>
      <p:sp>
        <p:nvSpPr>
          <p:cNvPr id="21" name="Text 18"/>
          <p:cNvSpPr/>
          <p:nvPr/>
        </p:nvSpPr>
        <p:spPr>
          <a:xfrm>
            <a:off x="4099061" y="1532334"/>
            <a:ext cx="100013" cy="100013"/>
          </a:xfrm>
          <a:prstGeom prst="ellipse">
            <a:avLst/>
          </a:prstGeom>
          <a:solidFill>
            <a:srgbClr val="00B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099061" y="153233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241936" y="1560909"/>
            <a:ext cx="4210357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Autenticación de usuarios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241936" y="1721644"/>
            <a:ext cx="3898478" cy="1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ASP.NET Core Identity: registro, login, roles. Permite que cada usuario tenga sus propias tareas y contactos.</a:t>
            </a:r>
            <a:endParaRPr lang="en-US" sz="647" dirty="0"/>
          </a:p>
        </p:txBody>
      </p:sp>
      <p:sp>
        <p:nvSpPr>
          <p:cNvPr id="25" name="Text 22"/>
          <p:cNvSpPr/>
          <p:nvPr/>
        </p:nvSpPr>
        <p:spPr>
          <a:xfrm>
            <a:off x="3809740" y="1994334"/>
            <a:ext cx="4873377" cy="577528"/>
          </a:xfrm>
          <a:prstGeom prst="roundRect">
            <a:avLst>
              <a:gd name="adj" fmla="val 16493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913324" y="2083631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3970474" y="214078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406" dirty="0"/>
          </a:p>
        </p:txBody>
      </p:sp>
      <p:sp>
        <p:nvSpPr>
          <p:cNvPr id="28" name="Text 25"/>
          <p:cNvSpPr/>
          <p:nvPr/>
        </p:nvSpPr>
        <p:spPr>
          <a:xfrm>
            <a:off x="4099061" y="2055056"/>
            <a:ext cx="100013" cy="100013"/>
          </a:xfrm>
          <a:prstGeom prst="ellipse">
            <a:avLst/>
          </a:prstGeom>
          <a:solidFill>
            <a:srgbClr val="00B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099061" y="205505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241936" y="2083631"/>
            <a:ext cx="4337596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Despliegue en producción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765354" y="2251509"/>
            <a:ext cx="994767" cy="107156"/>
          </a:xfrm>
          <a:prstGeom prst="roundRect">
            <a:avLst>
              <a:gd name="adj" fmla="val 26667"/>
            </a:avLst>
          </a:prstGeom>
          <a:solidFill>
            <a:srgbClr val="0078D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241936" y="2244365"/>
            <a:ext cx="4337596" cy="238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Publica tu app en Azure App Service, Render o un contenedor Docker. 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005A9E"/>
                </a:solidFill>
                <a:highlight>
                  <a:srgbClr val="0078D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publish -c Release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genera los archivos listos.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809740" y="2636155"/>
            <a:ext cx="4873377" cy="577528"/>
          </a:xfrm>
          <a:prstGeom prst="roundRect">
            <a:avLst>
              <a:gd name="adj" fmla="val 16493"/>
            </a:avLst>
          </a:prstGeom>
          <a:solidFill>
            <a:srgbClr val="F3F6FA"/>
          </a:solidFill>
          <a:ln w="7144">
            <a:solidFill>
              <a:srgbClr val="EFF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913324" y="2725452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3970474" y="278260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406" dirty="0"/>
          </a:p>
        </p:txBody>
      </p:sp>
      <p:sp>
        <p:nvSpPr>
          <p:cNvPr id="36" name="Text 33"/>
          <p:cNvSpPr/>
          <p:nvPr/>
        </p:nvSpPr>
        <p:spPr>
          <a:xfrm>
            <a:off x="4099061" y="2696877"/>
            <a:ext cx="100013" cy="100013"/>
          </a:xfrm>
          <a:prstGeom prst="ellipse">
            <a:avLst/>
          </a:prstGeom>
          <a:solidFill>
            <a:srgbClr val="00B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099061" y="269687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241936" y="2725452"/>
            <a:ext cx="4337596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B1B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Razor Components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241936" y="2886187"/>
            <a:ext cx="4337596" cy="238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 el salto a Blazor Server para añadir interactividad rica sin escribir JavaScript. Combina con Razor Pages en la misma app.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57200" y="3302980"/>
            <a:ext cx="8229600" cy="410766"/>
          </a:xfrm>
          <a:prstGeom prst="roundRect">
            <a:avLst>
              <a:gd name="adj" fmla="val 23188"/>
            </a:avLst>
          </a:prstGeom>
          <a:solidFill>
            <a:srgbClr val="DEEC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00075" y="343692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78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6" dirty="0"/>
          </a:p>
        </p:txBody>
      </p:sp>
      <p:sp>
        <p:nvSpPr>
          <p:cNvPr id="42" name="Text 39"/>
          <p:cNvSpPr/>
          <p:nvPr/>
        </p:nvSpPr>
        <p:spPr>
          <a:xfrm>
            <a:off x="828675" y="3374417"/>
            <a:ext cx="1050042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Recursos recomendados: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897559" y="3385133"/>
            <a:ext cx="219201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learn.microsoft.com/aspnet/core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Documentación oficial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161011" y="3446748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323643" y="3385133"/>
            <a:ext cx="218900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github.com/dotnet/AspNetCore.Docs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Ejemplos en GitHub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584082" y="3446748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6B71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6746714" y="3385133"/>
            <a:ext cx="182578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005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dotnet.microsoft.com/learn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4247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Tutoriales gratuitos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28016" y="3799470"/>
            <a:ext cx="8636000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spc="-5" kern="0" dirty="0">
                <a:solidFill>
                  <a:srgbClr val="005A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¡Feliz programación con C# y Razor Pages! </a:t>
            </a:r>
            <a:pPr algn="ctr" indent="0" marL="0">
              <a:lnSpc>
                <a:spcPts val="1434"/>
              </a:lnSpc>
              <a:buNone/>
            </a:pPr>
            <a:r>
              <a:rPr lang="en-US" sz="956" spc="-5" kern="0" dirty="0">
                <a:solidFill>
                  <a:srgbClr val="00BC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95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2026-07-16T05:25:46Z</dcterms:created>
  <dcterms:modified xsi:type="dcterms:W3CDTF">2026-07-16T05:25:46Z</dcterms:modified>
</cp:coreProperties>
</file>